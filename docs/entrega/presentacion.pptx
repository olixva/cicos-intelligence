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>
              <a:lnSpc>
                <a:spcPct val="90000"/>
              </a:lnSpc>
            </a:pPr>
            <a:r>
              <a:rPr lang="es-E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move the slide</a:t>
            </a:r>
            <a:endParaRPr lang="es-E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F1D652C-1FFE-4C96-89FA-1D6D9CB774BB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docs/enunciado/GenAI_Interview_Instructions.docx.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Logo: https://upload.wikimedia.org/wikipedia/commons/1/1c/Allianz.png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docs/enunciado/GenAI_Interview_Instructions.docx; docs/ESTADO.md, “Fuente documental”.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Logo: https://upload.wikimedia.org/wikipedia/commons/1/1c/Allianz.png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docs/ESTADO.md, “Qué es este proyecto”, “Reglas de aplicabilidad” y “Tabla de culpabilidad CIDE”.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Logo: https://upload.wikimedia.org/wikipedia/commons/1/1c/Allianz.png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docs/evaluation/2026-08-31-golden-set-y-metricas-rag.md, secciones 3.1–3.4; docs/ESTADO.md, defectos end-to-end.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Logo: https://upload.wikimedia.org/wikipedia/commons/1/1c/Allianz.png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docs/ESTADO.md, “Recuperación”, “Workflows” y “Reglas”; docs/evaluation/2026-08-31-golden-set-y-metricas-rag.md.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Logo: https://upload.wikimedia.org/wikipedia/commons/1/1c/Allianz.png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docs/architecture/2026-08-31-stack-tecnologico-propuesto.md; backend/src/domain; backend/src/application/ports; backend/src/infrastructure/adapters.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Logo: https://upload.wikimedia.org/wikipedia/commons/1/1c/Allianz.png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docs/ESTADO.md, “Ingestión”, “Índices Qdrant”; docs/ingestion/parser-comparison.md.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Logo: https://upload.wikimedia.org/wikipedia/commons/1/1c/Allianz.png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docs/ESTADO.md, “Ingestión” e “Índices Qdrant”; docs/ingestion/parser-comparison.md.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Logo: https://upload.wikimedia.org/wikipedia/commons/1/1c/Allianz.png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docs/ESTADO.md, “API”, “Workflows” y “Enrutamiento del modo Automático”.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Logo: https://upload.wikimedia.org/wikipedia/commons/1/1c/Allianz.png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backend/src/infrastructure/adapters/outbound/retriever/qdrant_retriever.py; docs/ESTADO.md, “Recuperación”.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Logo: https://upload.wikimedia.org/wikipedia/commons/1/1c/Allianz.png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backend/src/infrastructure/adapters/outbound/question_workflow/langgraph_workflow.py.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Logo: https://upload.wikimedia.org/wikipedia/commons/1/1c/Allianz.png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backend/src/infrastructure/adapters/outbound/claim_workflow/langgraph_workflow.py, _extract_facts y _retrieve_criteria; docs/ESTADO.md.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Logo: https://upload.wikimedia.org/wikipedia/commons/1/1c/Allianz.png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backend/src/infrastructure/adapters/outbound/claim_workflow/langgraph_workflow.py, construcción de StateGraph y _route_after_information.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Logo: https://upload.wikimedia.org/wikipedia/commons/1/1c/Allianz.png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backend/src/domain/rules/applicability.py; backend/src/domain/rules/ruleset.py; backend/src/domain/rules/cide_matrix.py; docs/ESTADO.md.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Logo: https://upload.wikimedia.org/wikipedia/commons/1/1c/Allianz.png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docs/ESTADO.md, “Credenciales y servicios locales”; backend/src/infrastructure/adapters/outbound/evaluation/langfuse_experiments.py.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Logo: https://upload.wikimedia.org/wikipedia/commons/1/1c/Allianz.png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docs/ESTADO.md, “Golden set — desarrollo”; docs/evaluation/2026-08-31-golden-set-y-metricas-rag.md; data/evaluation/golden/releases/synthetic-expansion-110-2026-09-03/manifest.json.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Logo: https://upload.wikimedia.org/wikipedia/commons/1/1c/Allianz.png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lnSpc>
                <a:spcPct val="90000"/>
              </a:lnSpc>
              <a:buNone/>
            </a:pPr>
            <a:endParaRPr lang="es-E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90000"/>
              </a:lnSpc>
              <a:buNone/>
              <a:defRPr lang="es-E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>
              <a:lnSpc>
                <a:spcPct val="90000"/>
              </a:lnSpc>
              <a:buNone/>
            </a:pPr>
            <a:r>
              <a:rPr lang="es-E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title text format</a:t>
            </a:r>
            <a:endParaRPr lang="es-E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s-E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37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9010800" y="0"/>
            <a:ext cx="2800080" cy="6857640"/>
          </a:xfrm>
          <a:prstGeom prst="rect">
            <a:avLst/>
          </a:prstGeom>
          <a:solidFill>
            <a:srgbClr val="0757A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685800" y="514440"/>
            <a:ext cx="2095200" cy="5140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" name=""/>
          <p:cNvPicPr/>
          <p:nvPr/>
        </p:nvPicPr>
        <p:blipFill>
          <a:blip r:embed="rId1"/>
          <a:stretch/>
        </p:blipFill>
        <p:spPr>
          <a:xfrm>
            <a:off x="1179000" y="647640"/>
            <a:ext cx="994680" cy="25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"/>
          <p:cNvSpPr/>
          <p:nvPr/>
        </p:nvSpPr>
        <p:spPr>
          <a:xfrm>
            <a:off x="1440000" y="1809720"/>
            <a:ext cx="6667200" cy="12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37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CICOS CLAIMS</a:t>
            </a:r>
            <a:endParaRPr lang="es-ES" sz="3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37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INTELLIGENCE</a:t>
            </a:r>
            <a:endParaRPr lang="es-ES" sz="3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1440000" y="3314880"/>
            <a:ext cx="6667200" cy="62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800" b="0" u="none" strike="noStrike">
                <a:solidFill>
                  <a:srgbClr val="D7EAF7"/>
                </a:solidFill>
                <a:effectLst/>
                <a:uFillTx/>
                <a:latin typeface="Arial"/>
              </a:rPr>
              <a:t>RAG trazable para consulta documental y análisis responsable de siniestros.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1440000" y="4457520"/>
            <a:ext cx="2457360" cy="360"/>
          </a:xfrm>
          <a:prstGeom prst="line">
            <a:avLst/>
          </a:prstGeom>
          <a:ln w="19050">
            <a:solidFill>
              <a:srgbClr val="45A5D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1440000" y="4667400"/>
            <a:ext cx="4952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350" b="0" u="none" strike="noStrike">
                <a:solidFill>
                  <a:srgbClr val="BDD9EC"/>
                </a:solidFill>
                <a:effectLst/>
                <a:uFillTx/>
                <a:latin typeface="Arial"/>
              </a:rPr>
              <a:t>Prueba técnica · presentación de entrega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"/>
          <p:cNvSpPr/>
          <p:nvPr/>
        </p:nvSpPr>
        <p:spPr>
          <a:xfrm>
            <a:off x="685800" y="324000"/>
            <a:ext cx="4476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90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EL PROBLEMA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685800" y="666720"/>
            <a:ext cx="10820160" cy="360"/>
          </a:xfrm>
          <a:prstGeom prst="line">
            <a:avLst/>
          </a:prstGeom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9563040" y="237960"/>
            <a:ext cx="1142640" cy="26640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" name=""/>
          <p:cNvPicPr/>
          <p:nvPr/>
        </p:nvPicPr>
        <p:blipFill>
          <a:blip r:embed="rId1"/>
          <a:srcRect l="0" t="10054" r="0" b="10054"/>
          <a:stretch/>
        </p:blipFill>
        <p:spPr>
          <a:xfrm>
            <a:off x="9696600" y="285840"/>
            <a:ext cx="875880" cy="18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"/>
          <p:cNvSpPr/>
          <p:nvPr/>
        </p:nvSpPr>
        <p:spPr>
          <a:xfrm>
            <a:off x="11049120" y="324000"/>
            <a:ext cx="4568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</a:pPr>
            <a:r>
              <a:rPr lang="es-ES" sz="900" b="1" u="none" strike="noStrike">
                <a:solidFill>
                  <a:srgbClr val="71859B"/>
                </a:solidFill>
                <a:effectLst/>
                <a:uFillTx/>
                <a:latin typeface="Arial"/>
              </a:rPr>
              <a:t>02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685800" y="1000080"/>
            <a:ext cx="10820160" cy="99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300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Convertir un manual especializado en respuestas fiables exige algo más que buscar texto.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685800" y="2190600"/>
            <a:ext cx="1082016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50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El sistema debe responder preguntas del manual y aplicar sus criterios a relatos de accidentes reales, incompletos o contradictorios.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685800" y="3352680"/>
            <a:ext cx="228564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13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DOS TAREAS DISTINTAS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685800" y="3733920"/>
            <a:ext cx="257148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80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CONSULTAR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685800" y="4172040"/>
            <a:ext cx="361908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35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Localizar y explicar el criterio correcto,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35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con una referencia que pueda revisarse.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4476600" y="3429000"/>
            <a:ext cx="360" cy="1666800"/>
          </a:xfrm>
          <a:prstGeom prst="line">
            <a:avLst/>
          </a:prstGeom>
          <a:ln w="19050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5048280" y="3733920"/>
            <a:ext cx="257148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800" b="1" u="none" strike="noStrike">
                <a:solidFill>
                  <a:srgbClr val="00A6A6"/>
                </a:solidFill>
                <a:effectLst/>
                <a:uFillTx/>
                <a:latin typeface="Arial"/>
              </a:rPr>
              <a:t>ANALIZAR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5048280" y="4172040"/>
            <a:ext cx="361908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35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Entender qué ocurrió, qué datos faltan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35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y qué reglas pueden aplicarse.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9258480" y="3476520"/>
            <a:ext cx="1809360" cy="1599840"/>
          </a:xfrm>
          <a:prstGeom prst="roundRect">
            <a:avLst>
              <a:gd name="adj" fmla="val 7143"/>
            </a:avLst>
          </a:prstGeom>
          <a:solidFill>
            <a:srgbClr val="F2F7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9515520" y="3666960"/>
            <a:ext cx="12380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3450" b="1" u="none" strike="noStrike">
                <a:solidFill>
                  <a:srgbClr val="003781"/>
                </a:solidFill>
                <a:effectLst/>
                <a:uFillTx/>
                <a:latin typeface="Arial"/>
              </a:rPr>
              <a:t>111</a:t>
            </a:r>
            <a:endParaRPr lang="es-ES" sz="3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9448920" y="4295880"/>
            <a:ext cx="142848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80" b="1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páginas de</a:t>
            </a:r>
            <a:endParaRPr lang="es-E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s-ES" sz="1280" b="1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conocimiento operativo</a:t>
            </a:r>
            <a:endParaRPr lang="es-E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685800" y="5638680"/>
            <a:ext cx="1082016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43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El valor no está en contestar siempre, sino en saber cuándo existe evidencia suficiente para hacerlo.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"/>
          <p:cNvSpPr/>
          <p:nvPr/>
        </p:nvSpPr>
        <p:spPr>
          <a:xfrm>
            <a:off x="685800" y="324000"/>
            <a:ext cx="4476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90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EL MANUAL CIDE / ASCIDE / CICOS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685800" y="666720"/>
            <a:ext cx="10820160" cy="360"/>
          </a:xfrm>
          <a:prstGeom prst="line">
            <a:avLst/>
          </a:prstGeom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9563040" y="237960"/>
            <a:ext cx="1142640" cy="26640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" name=""/>
          <p:cNvPicPr/>
          <p:nvPr/>
        </p:nvPicPr>
        <p:blipFill>
          <a:blip r:embed="rId1"/>
          <a:srcRect l="0" t="10054" r="0" b="10054"/>
          <a:stretch/>
        </p:blipFill>
        <p:spPr>
          <a:xfrm>
            <a:off x="9696600" y="285840"/>
            <a:ext cx="875880" cy="18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"/>
          <p:cNvSpPr/>
          <p:nvPr/>
        </p:nvSpPr>
        <p:spPr>
          <a:xfrm>
            <a:off x="11049120" y="324000"/>
            <a:ext cx="4568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</a:pPr>
            <a:r>
              <a:rPr lang="es-ES" sz="900" b="1" u="none" strike="noStrike">
                <a:solidFill>
                  <a:srgbClr val="71859B"/>
                </a:solidFill>
                <a:effectLst/>
                <a:uFillTx/>
                <a:latin typeface="Arial"/>
              </a:rPr>
              <a:t>03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685800" y="1000080"/>
            <a:ext cx="10820160" cy="99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300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El manual organiza la gestión entre aseguradoras mediante condiciones, circunstancias y reglas.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685800" y="2190600"/>
            <a:ext cx="1082016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50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No es una colección lineal de respuestas: combina alcance del convenio, declaraciones, maniobras, excepciones y tablas de responsabilidad.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1761840" y="4047840"/>
            <a:ext cx="8667720" cy="360"/>
          </a:xfrm>
          <a:prstGeom prst="line">
            <a:avLst/>
          </a:prstGeom>
          <a:ln w="2857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905040" y="3543480"/>
            <a:ext cx="685440" cy="685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905040" y="3695760"/>
            <a:ext cx="6854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95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1</a:t>
            </a:r>
            <a:endParaRPr lang="es-E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352440" y="4476600"/>
            <a:ext cx="17902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05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APLICABILIDAD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476280" y="4857840"/>
            <a:ext cx="1542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0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¿Entra el caso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s-ES" sz="120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en el convenio?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3666960" y="3543480"/>
            <a:ext cx="685440" cy="685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3666960" y="3695760"/>
            <a:ext cx="6854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95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2</a:t>
            </a:r>
            <a:endParaRPr lang="es-E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3114720" y="4476600"/>
            <a:ext cx="17902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05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CIRCUNSTANCIAS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3238560" y="4857840"/>
            <a:ext cx="1542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0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¿Qué declaran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s-ES" sz="120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y qué se contradice?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6429240" y="3543480"/>
            <a:ext cx="685440" cy="685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6429240" y="3695760"/>
            <a:ext cx="6854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95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3</a:t>
            </a:r>
            <a:endParaRPr lang="es-E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5877000" y="4476600"/>
            <a:ext cx="17902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05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REGLAS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6000840" y="4857840"/>
            <a:ext cx="1542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0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¿Qué maniobra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s-ES" sz="120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o criterio aplica?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9191520" y="3543480"/>
            <a:ext cx="685440" cy="685440"/>
          </a:xfrm>
          <a:prstGeom prst="roundRect">
            <a:avLst>
              <a:gd name="adj" fmla="val 16667"/>
            </a:avLst>
          </a:prstGeom>
          <a:solidFill>
            <a:srgbClr val="0037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9191520" y="3695760"/>
            <a:ext cx="6854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4</a:t>
            </a:r>
            <a:endParaRPr lang="es-E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8639280" y="4476600"/>
            <a:ext cx="17902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050" b="1" u="none" strike="noStrike">
                <a:solidFill>
                  <a:srgbClr val="003781"/>
                </a:solidFill>
                <a:effectLst/>
                <a:uFillTx/>
                <a:latin typeface="Arial"/>
              </a:rPr>
              <a:t>ATRIBUCIÓN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8763120" y="4857840"/>
            <a:ext cx="1542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0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¿Resuelve la matriz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s-ES" sz="120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o falta un dato?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685800" y="5857920"/>
            <a:ext cx="108201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430" b="1" u="none" strike="noStrike">
                <a:solidFill>
                  <a:srgbClr val="003781"/>
                </a:solidFill>
                <a:effectLst/>
                <a:uFillTx/>
                <a:latin typeface="Arial"/>
              </a:rPr>
              <a:t>La respuesta correcta depende del recorrido completo, no de un párrafo aislado.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37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"/>
          <p:cNvSpPr/>
          <p:nvPr/>
        </p:nvSpPr>
        <p:spPr>
          <a:xfrm>
            <a:off x="685800" y="324000"/>
            <a:ext cx="4476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900" b="1" u="none" strike="noStrike">
                <a:solidFill>
                  <a:srgbClr val="A9D4EA"/>
                </a:solidFill>
                <a:effectLst/>
                <a:uFillTx/>
                <a:latin typeface="Arial"/>
              </a:rPr>
              <a:t>RIESGOS DE UN RAG INGENUO</a:t>
            </a:r>
            <a:endParaRPr lang="es-E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685800" y="666720"/>
            <a:ext cx="10820160" cy="360"/>
          </a:xfrm>
          <a:prstGeom prst="line">
            <a:avLst/>
          </a:prstGeom>
          <a:ln w="9525">
            <a:solidFill>
              <a:srgbClr val="3D699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9563040" y="237960"/>
            <a:ext cx="1142640" cy="26640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" name=""/>
          <p:cNvPicPr/>
          <p:nvPr/>
        </p:nvPicPr>
        <p:blipFill>
          <a:blip r:embed="rId1"/>
          <a:srcRect l="0" t="10054" r="0" b="10054"/>
          <a:stretch/>
        </p:blipFill>
        <p:spPr>
          <a:xfrm>
            <a:off x="9696600" y="285840"/>
            <a:ext cx="875880" cy="18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"/>
          <p:cNvSpPr/>
          <p:nvPr/>
        </p:nvSpPr>
        <p:spPr>
          <a:xfrm>
            <a:off x="11049120" y="324000"/>
            <a:ext cx="4568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</a:pPr>
            <a:r>
              <a:rPr lang="es-ES" sz="900" b="1" u="none" strike="noStrike">
                <a:solidFill>
                  <a:srgbClr val="A9D4EA"/>
                </a:solidFill>
                <a:effectLst/>
                <a:uFillTx/>
                <a:latin typeface="Arial"/>
              </a:rPr>
              <a:t>04</a:t>
            </a:r>
            <a:endParaRPr lang="es-E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685800" y="1000080"/>
            <a:ext cx="10820160" cy="99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3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Una respuesta puede sonar correcta y seguir siendo peligrosa.</a:t>
            </a:r>
            <a:endParaRPr lang="es-E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685800" y="2190600"/>
            <a:ext cx="1082016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500" b="0" u="none" strike="noStrike">
                <a:solidFill>
                  <a:srgbClr val="D7EAF7"/>
                </a:solidFill>
                <a:effectLst/>
                <a:uFillTx/>
                <a:latin typeface="Arial"/>
              </a:rPr>
              <a:t>Los fallos más relevantes aparecen cuando el sistema confunde similitud textual con evidencia suficiente.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685800" y="3476520"/>
            <a:ext cx="3180960" cy="1523520"/>
          </a:xfrm>
          <a:prstGeom prst="roundRect">
            <a:avLst>
              <a:gd name="adj" fmla="val 7500"/>
            </a:avLst>
          </a:prstGeom>
          <a:solidFill>
            <a:srgbClr val="0A4B93"/>
          </a:solidFill>
          <a:ln w="9525">
            <a:solidFill>
              <a:srgbClr val="447DB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685800" y="3476520"/>
            <a:ext cx="75960" cy="1523520"/>
          </a:xfrm>
          <a:prstGeom prst="rect">
            <a:avLst/>
          </a:prstGeom>
          <a:solidFill>
            <a:srgbClr val="007A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942840" y="3705120"/>
            <a:ext cx="2666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280" b="1" u="none" strike="noStrike">
                <a:solidFill>
                  <a:srgbClr val="A9D4EA"/>
                </a:solidFill>
                <a:effectLst/>
                <a:uFillTx/>
                <a:latin typeface="Arial"/>
              </a:rPr>
              <a:t>CONTEXTO INCOMPLETO</a:t>
            </a:r>
            <a:endParaRPr lang="es-E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942840" y="4133880"/>
            <a:ext cx="26665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35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Recupera la regla general,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35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pero no su excepción.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4286160" y="3476520"/>
            <a:ext cx="3180960" cy="1523520"/>
          </a:xfrm>
          <a:prstGeom prst="roundRect">
            <a:avLst>
              <a:gd name="adj" fmla="val 7500"/>
            </a:avLst>
          </a:prstGeom>
          <a:solidFill>
            <a:srgbClr val="0A4B93"/>
          </a:solidFill>
          <a:ln w="9525">
            <a:solidFill>
              <a:srgbClr val="447DB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4286160" y="3476520"/>
            <a:ext cx="75960" cy="1523520"/>
          </a:xfrm>
          <a:prstGeom prst="rect">
            <a:avLst/>
          </a:prstGeom>
          <a:solidFill>
            <a:srgbClr val="F5A62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4543560" y="3705120"/>
            <a:ext cx="2666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280" b="1" u="none" strike="noStrike">
                <a:solidFill>
                  <a:srgbClr val="A9D4EA"/>
                </a:solidFill>
                <a:effectLst/>
                <a:uFillTx/>
                <a:latin typeface="Arial"/>
              </a:rPr>
              <a:t>VERSIONES EN CONFLICTO</a:t>
            </a:r>
            <a:endParaRPr lang="es-E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4543560" y="4133880"/>
            <a:ext cx="26665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35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Convierte una versión del conductor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35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en un hecho confirmado.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7886880" y="3476520"/>
            <a:ext cx="3180960" cy="1523520"/>
          </a:xfrm>
          <a:prstGeom prst="roundRect">
            <a:avLst>
              <a:gd name="adj" fmla="val 7500"/>
            </a:avLst>
          </a:prstGeom>
          <a:solidFill>
            <a:srgbClr val="0A4B93"/>
          </a:solidFill>
          <a:ln w="9525">
            <a:solidFill>
              <a:srgbClr val="447DB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7886880" y="3476520"/>
            <a:ext cx="75960" cy="1523520"/>
          </a:xfrm>
          <a:prstGeom prst="rect">
            <a:avLst/>
          </a:prstGeom>
          <a:solidFill>
            <a:srgbClr val="C650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8143920" y="3705120"/>
            <a:ext cx="2666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280" b="1" u="none" strike="noStrike">
                <a:solidFill>
                  <a:srgbClr val="A9D4EA"/>
                </a:solidFill>
                <a:effectLst/>
                <a:uFillTx/>
                <a:latin typeface="Arial"/>
              </a:rPr>
              <a:t>DECISIÓN GENERADA</a:t>
            </a:r>
            <a:endParaRPr lang="es-E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8143920" y="4133880"/>
            <a:ext cx="26665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35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El LLM atribuye responsabilidad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35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aunque falte un dato decisivo.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685800" y="5619600"/>
            <a:ext cx="10820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430" b="1" u="none" strike="noStrike">
                <a:solidFill>
                  <a:srgbClr val="D8EBF7"/>
                </a:solidFill>
                <a:effectLst/>
                <a:uFillTx/>
                <a:latin typeface="Arial"/>
              </a:rPr>
              <a:t>El riesgo de negocio es una conclusión sin trazabilidad: no se puede saber qué evidencia la sostiene ni qué condición se asumió.</a:t>
            </a:r>
            <a:endParaRPr lang="es-ES" sz="14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/>
          <p:nvPr/>
        </p:nvSpPr>
        <p:spPr>
          <a:xfrm>
            <a:off x="685800" y="324000"/>
            <a:ext cx="4476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90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RESPUESTA A LOS RIESGOS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685800" y="666720"/>
            <a:ext cx="10820160" cy="360"/>
          </a:xfrm>
          <a:prstGeom prst="line">
            <a:avLst/>
          </a:prstGeom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9563040" y="237960"/>
            <a:ext cx="1142640" cy="26640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4" name=""/>
          <p:cNvPicPr/>
          <p:nvPr/>
        </p:nvPicPr>
        <p:blipFill>
          <a:blip r:embed="rId1"/>
          <a:srcRect l="0" t="10054" r="0" b="10054"/>
          <a:stretch/>
        </p:blipFill>
        <p:spPr>
          <a:xfrm>
            <a:off x="9696600" y="285840"/>
            <a:ext cx="875880" cy="18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"/>
          <p:cNvSpPr/>
          <p:nvPr/>
        </p:nvSpPr>
        <p:spPr>
          <a:xfrm>
            <a:off x="11049120" y="324000"/>
            <a:ext cx="4568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</a:pPr>
            <a:r>
              <a:rPr lang="es-ES" sz="900" b="1" u="none" strike="noStrike">
                <a:solidFill>
                  <a:srgbClr val="71859B"/>
                </a:solidFill>
                <a:effectLst/>
                <a:uFillTx/>
                <a:latin typeface="Arial"/>
              </a:rPr>
              <a:t>05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685800" y="1000080"/>
            <a:ext cx="10820160" cy="99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300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Tres controles separan una respuesta útil de una respuesta meramente plausible.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685800" y="2190600"/>
            <a:ext cx="1082016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50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Cada riesgo tiene una salida explícita y verificable.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762120" y="3333600"/>
            <a:ext cx="47592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225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1</a:t>
            </a:r>
            <a:endParaRPr lang="es-E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1380960" y="3543120"/>
            <a:ext cx="380880" cy="360"/>
          </a:xfrm>
          <a:prstGeom prst="line">
            <a:avLst/>
          </a:prstGeom>
          <a:ln w="28575">
            <a:solidFill>
              <a:srgbClr val="007A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2048040" y="3333600"/>
            <a:ext cx="214272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50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EVIDENCIA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4619520" y="3333600"/>
            <a:ext cx="628632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35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Documento, página y fragmento acompañan la respuesta.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762120" y="4076640"/>
            <a:ext cx="47592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2250" b="1" u="none" strike="noStrike">
                <a:solidFill>
                  <a:srgbClr val="F5A623"/>
                </a:solidFill>
                <a:effectLst/>
                <a:uFillTx/>
                <a:latin typeface="Arial"/>
              </a:rPr>
              <a:t>2</a:t>
            </a:r>
            <a:endParaRPr lang="es-E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1380960" y="4286160"/>
            <a:ext cx="380880" cy="360"/>
          </a:xfrm>
          <a:prstGeom prst="line">
            <a:avLst/>
          </a:prstGeom>
          <a:ln w="28575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2048040" y="4076640"/>
            <a:ext cx="214272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50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INCERTIDUMBRE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4619520" y="4076640"/>
            <a:ext cx="628632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35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Si falta información, el sistema pregunta o se abstiene.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762120" y="4819680"/>
            <a:ext cx="47592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2250" b="1" u="none" strike="noStrike">
                <a:solidFill>
                  <a:srgbClr val="00A6A6"/>
                </a:solidFill>
                <a:effectLst/>
                <a:uFillTx/>
                <a:latin typeface="Arial"/>
              </a:rPr>
              <a:t>3</a:t>
            </a:r>
            <a:endParaRPr lang="es-E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1380960" y="5029200"/>
            <a:ext cx="380880" cy="360"/>
          </a:xfrm>
          <a:prstGeom prst="line">
            <a:avLst/>
          </a:prstGeom>
          <a:ln w="28575">
            <a:solidFill>
              <a:srgbClr val="00A6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2048040" y="4819680"/>
            <a:ext cx="214272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50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DECISIÓN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4619520" y="4819680"/>
            <a:ext cx="628632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35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La lógica determinística evalúa reglas y matriz; el LLM explica.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685800" y="5734080"/>
            <a:ext cx="10820160" cy="37800"/>
          </a:xfrm>
          <a:prstGeom prst="rect">
            <a:avLst/>
          </a:prstGeom>
          <a:solidFill>
            <a:srgbClr val="0037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/>
          <p:nvPr/>
        </p:nvSpPr>
        <p:spPr>
          <a:xfrm>
            <a:off x="685800" y="5905440"/>
            <a:ext cx="108201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430" b="1" u="none" strike="noStrike">
                <a:solidFill>
                  <a:srgbClr val="003781"/>
                </a:solidFill>
                <a:effectLst/>
                <a:uFillTx/>
                <a:latin typeface="Arial"/>
              </a:rPr>
              <a:t>Diseño conservador: cuando no se puede justificar una conclusión, no se inventa una.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37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>
            <a:off x="685800" y="324000"/>
            <a:ext cx="4476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900" b="1" u="none" strike="noStrike">
                <a:solidFill>
                  <a:srgbClr val="A9D4EA"/>
                </a:solidFill>
                <a:effectLst/>
                <a:uFillTx/>
                <a:latin typeface="Arial"/>
              </a:rPr>
              <a:t>LA ARQUITECTURA PRIMERO</a:t>
            </a:r>
            <a:endParaRPr lang="es-E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685800" y="666720"/>
            <a:ext cx="10820160" cy="360"/>
          </a:xfrm>
          <a:prstGeom prst="line">
            <a:avLst/>
          </a:prstGeom>
          <a:ln w="9525">
            <a:solidFill>
              <a:srgbClr val="3D699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/>
          <p:nvPr/>
        </p:nvSpPr>
        <p:spPr>
          <a:xfrm>
            <a:off x="9563040" y="237960"/>
            <a:ext cx="1142640" cy="26640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5" name=""/>
          <p:cNvPicPr/>
          <p:nvPr/>
        </p:nvPicPr>
        <p:blipFill>
          <a:blip r:embed="rId1"/>
          <a:srcRect l="0" t="10054" r="0" b="10054"/>
          <a:stretch/>
        </p:blipFill>
        <p:spPr>
          <a:xfrm>
            <a:off x="9696600" y="285840"/>
            <a:ext cx="875880" cy="18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"/>
          <p:cNvSpPr/>
          <p:nvPr/>
        </p:nvSpPr>
        <p:spPr>
          <a:xfrm>
            <a:off x="11049120" y="324000"/>
            <a:ext cx="4568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</a:pPr>
            <a:r>
              <a:rPr lang="es-ES" sz="900" b="1" u="none" strike="noStrike">
                <a:solidFill>
                  <a:srgbClr val="A9D4EA"/>
                </a:solidFill>
                <a:effectLst/>
                <a:uFillTx/>
                <a:latin typeface="Arial"/>
              </a:rPr>
              <a:t>06</a:t>
            </a:r>
            <a:endParaRPr lang="es-E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685800" y="1000080"/>
            <a:ext cx="10820160" cy="99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3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La arquitectura hexagonal permite cambiar la tecnología sin cambiar la decisión.</a:t>
            </a:r>
            <a:endParaRPr lang="es-E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685800" y="2190600"/>
            <a:ext cx="1082016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500" b="0" u="none" strike="noStrike">
                <a:solidFill>
                  <a:srgbClr val="D7EAF7"/>
                </a:solidFill>
                <a:effectLst/>
                <a:uFillTx/>
                <a:latin typeface="Arial"/>
              </a:rPr>
              <a:t>El dominio se prueba de forma aislada; los adaptadores evolucionan según lo que demuestren las evaluaciones.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2333520" y="4314600"/>
            <a:ext cx="7477200" cy="360"/>
          </a:xfrm>
          <a:prstGeom prst="line">
            <a:avLst/>
          </a:prstGeom>
          <a:ln w="19050">
            <a:solidFill>
              <a:srgbClr val="5CA4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685800" y="3429000"/>
            <a:ext cx="171432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130" b="1" u="none" strike="noStrike">
                <a:solidFill>
                  <a:srgbClr val="A9D4EA"/>
                </a:solidFill>
                <a:effectLst/>
                <a:uFillTx/>
                <a:latin typeface="Arial"/>
              </a:rPr>
              <a:t>ENTRADA</a:t>
            </a:r>
            <a:endParaRPr lang="es-ES" sz="11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685800" y="3714840"/>
            <a:ext cx="20952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3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FastAPI · SSE · CLI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2781000" y="3857400"/>
            <a:ext cx="1314720" cy="360"/>
          </a:xfrm>
          <a:prstGeom prst="line">
            <a:avLst/>
          </a:prstGeom>
          <a:ln w="9525">
            <a:solidFill>
              <a:srgbClr val="5CA4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85800" y="4552920"/>
            <a:ext cx="171432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130" b="1" u="none" strike="noStrike">
                <a:solidFill>
                  <a:srgbClr val="A9D4EA"/>
                </a:solidFill>
                <a:effectLst/>
                <a:uFillTx/>
                <a:latin typeface="Arial"/>
              </a:rPr>
              <a:t>ORQUESTACIÓN</a:t>
            </a:r>
            <a:endParaRPr lang="es-ES" sz="11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685800" y="4838760"/>
            <a:ext cx="20952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3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LangGraph u otro motor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2781000" y="4981320"/>
            <a:ext cx="1314720" cy="360"/>
          </a:xfrm>
          <a:prstGeom prst="line">
            <a:avLst/>
          </a:prstGeom>
          <a:ln w="9525">
            <a:solidFill>
              <a:srgbClr val="5CA4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4095720" y="3333600"/>
            <a:ext cx="4000320" cy="1809360"/>
          </a:xfrm>
          <a:prstGeom prst="roundRect">
            <a:avLst>
              <a:gd name="adj" fmla="val 6316"/>
            </a:avLst>
          </a:prstGeom>
          <a:solidFill>
            <a:srgbClr val="0B4D94"/>
          </a:solidFill>
          <a:ln w="9525">
            <a:solidFill>
              <a:srgbClr val="5CA4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4095720" y="3610080"/>
            <a:ext cx="400032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NÚCLEO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>
            <a:off x="4476600" y="4114800"/>
            <a:ext cx="32382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430" b="1" u="none" strike="noStrike">
                <a:solidFill>
                  <a:srgbClr val="D8EBF7"/>
                </a:solidFill>
                <a:effectLst/>
                <a:uFillTx/>
                <a:latin typeface="Arial"/>
              </a:rPr>
              <a:t>casos de uso · hechos · reglas · decisiones</a:t>
            </a:r>
            <a:endParaRPr lang="es-ES" sz="14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4476600" y="4524480"/>
            <a:ext cx="323820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80" b="0" u="none" strike="noStrike">
                <a:solidFill>
                  <a:srgbClr val="A9D4EA"/>
                </a:solidFill>
                <a:effectLst/>
                <a:uFillTx/>
                <a:latin typeface="Arial"/>
              </a:rPr>
              <a:t>sin dependencias de frameworks</a:t>
            </a:r>
            <a:endParaRPr lang="es-E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"/>
          <p:cNvSpPr/>
          <p:nvPr/>
        </p:nvSpPr>
        <p:spPr>
          <a:xfrm>
            <a:off x="8096040" y="3562200"/>
            <a:ext cx="905040" cy="360"/>
          </a:xfrm>
          <a:prstGeom prst="line">
            <a:avLst/>
          </a:prstGeom>
          <a:ln w="9525">
            <a:solidFill>
              <a:srgbClr val="5CA4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>
            <a:off x="9191520" y="3143160"/>
            <a:ext cx="19998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130" b="1" u="none" strike="noStrike">
                <a:solidFill>
                  <a:srgbClr val="A9D4EA"/>
                </a:solidFill>
                <a:effectLst/>
                <a:uFillTx/>
                <a:latin typeface="Arial"/>
              </a:rPr>
              <a:t>MODELOS</a:t>
            </a:r>
            <a:endParaRPr lang="es-ES" sz="11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/>
          <p:nvPr/>
        </p:nvSpPr>
        <p:spPr>
          <a:xfrm>
            <a:off x="9191520" y="3409920"/>
            <a:ext cx="21902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28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OpenAI u otro proveedor</a:t>
            </a:r>
            <a:endParaRPr lang="es-E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8096040" y="4438440"/>
            <a:ext cx="905040" cy="360"/>
          </a:xfrm>
          <a:prstGeom prst="line">
            <a:avLst/>
          </a:prstGeom>
          <a:ln w="9525">
            <a:solidFill>
              <a:srgbClr val="5CA4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>
            <a:off x="9191520" y="4019400"/>
            <a:ext cx="19998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130" b="1" u="none" strike="noStrike">
                <a:solidFill>
                  <a:srgbClr val="A9D4EA"/>
                </a:solidFill>
                <a:effectLst/>
                <a:uFillTx/>
                <a:latin typeface="Arial"/>
              </a:rPr>
              <a:t>DATOS</a:t>
            </a:r>
            <a:endParaRPr lang="es-ES" sz="11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9191520" y="4286160"/>
            <a:ext cx="21902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28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Qdrant · otro índice</a:t>
            </a:r>
            <a:endParaRPr lang="es-E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8096040" y="5314680"/>
            <a:ext cx="905040" cy="360"/>
          </a:xfrm>
          <a:prstGeom prst="line">
            <a:avLst/>
          </a:prstGeom>
          <a:ln w="9525">
            <a:solidFill>
              <a:srgbClr val="5CA4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9191520" y="4896000"/>
            <a:ext cx="19998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130" b="1" u="none" strike="noStrike">
                <a:solidFill>
                  <a:srgbClr val="A9D4EA"/>
                </a:solidFill>
                <a:effectLst/>
                <a:uFillTx/>
                <a:latin typeface="Arial"/>
              </a:rPr>
              <a:t>INGESTA</a:t>
            </a:r>
            <a:endParaRPr lang="es-ES" sz="11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9191520" y="5162400"/>
            <a:ext cx="21902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28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pypdf · Docling · otro parser</a:t>
            </a:r>
            <a:endParaRPr lang="es-E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>
            <a:off x="685800" y="324000"/>
            <a:ext cx="4476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90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INGESTA TRAZABLE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685800" y="666720"/>
            <a:ext cx="10820160" cy="360"/>
          </a:xfrm>
          <a:prstGeom prst="line">
            <a:avLst/>
          </a:prstGeom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9563040" y="237960"/>
            <a:ext cx="1142640" cy="26640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2" name=""/>
          <p:cNvPicPr/>
          <p:nvPr/>
        </p:nvPicPr>
        <p:blipFill>
          <a:blip r:embed="rId1"/>
          <a:srcRect l="0" t="10054" r="0" b="10054"/>
          <a:stretch/>
        </p:blipFill>
        <p:spPr>
          <a:xfrm>
            <a:off x="9696600" y="285840"/>
            <a:ext cx="875880" cy="18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"/>
          <p:cNvSpPr/>
          <p:nvPr/>
        </p:nvSpPr>
        <p:spPr>
          <a:xfrm>
            <a:off x="11049120" y="324000"/>
            <a:ext cx="4568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</a:pPr>
            <a:r>
              <a:rPr lang="es-ES" sz="900" b="1" u="none" strike="noStrike">
                <a:solidFill>
                  <a:srgbClr val="71859B"/>
                </a:solidFill>
                <a:effectLst/>
                <a:uFillTx/>
                <a:latin typeface="Arial"/>
              </a:rPr>
              <a:t>07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685800" y="1000080"/>
            <a:ext cx="10820160" cy="99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300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La ingesta transforma el PDF en evidencia versionada antes de indexarlo.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685800" y="2190600"/>
            <a:ext cx="1082016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50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La identidad del documento y de cada página se conserva durante todo el recorrido.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2333520" y="4095720"/>
            <a:ext cx="333360" cy="360"/>
          </a:xfrm>
          <a:prstGeom prst="line">
            <a:avLst/>
          </a:prstGeom>
          <a:ln w="19050">
            <a:solidFill>
              <a:srgbClr val="007A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2629080" y="4048200"/>
            <a:ext cx="95040" cy="95040"/>
          </a:xfrm>
          <a:prstGeom prst="triangle">
            <a:avLst>
              <a:gd name="adj" fmla="val 50000"/>
            </a:avLst>
          </a:prstGeom>
          <a:solidFill>
            <a:srgbClr val="007AB8"/>
          </a:solidFill>
          <a:ln w="0">
            <a:solidFill>
              <a:srgbClr val="007AB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399960" y="3476520"/>
            <a:ext cx="1885680" cy="1199880"/>
          </a:xfrm>
          <a:prstGeom prst="roundRect">
            <a:avLst>
              <a:gd name="adj" fmla="val 9524"/>
            </a:avLst>
          </a:prstGeom>
          <a:solidFill>
            <a:srgbClr val="F2F7FB"/>
          </a:solidFill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514440" y="3629160"/>
            <a:ext cx="1657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8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VALIDAR</a:t>
            </a:r>
            <a:endParaRPr lang="es-E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>
            <a:off x="533520" y="3943440"/>
            <a:ext cx="161892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PDF, páginas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y SHA-256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/>
          <p:nvPr/>
        </p:nvSpPr>
        <p:spPr>
          <a:xfrm>
            <a:off x="4686120" y="4095720"/>
            <a:ext cx="333360" cy="360"/>
          </a:xfrm>
          <a:prstGeom prst="line">
            <a:avLst/>
          </a:prstGeom>
          <a:ln w="19050">
            <a:solidFill>
              <a:srgbClr val="007A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/>
          <p:nvPr/>
        </p:nvSpPr>
        <p:spPr>
          <a:xfrm>
            <a:off x="4981680" y="4048200"/>
            <a:ext cx="95040" cy="95040"/>
          </a:xfrm>
          <a:prstGeom prst="triangle">
            <a:avLst>
              <a:gd name="adj" fmla="val 50000"/>
            </a:avLst>
          </a:prstGeom>
          <a:solidFill>
            <a:srgbClr val="007AB8"/>
          </a:solidFill>
          <a:ln w="0">
            <a:solidFill>
              <a:srgbClr val="007AB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/>
          <p:nvPr/>
        </p:nvSpPr>
        <p:spPr>
          <a:xfrm>
            <a:off x="2752560" y="3476520"/>
            <a:ext cx="1885680" cy="1199880"/>
          </a:xfrm>
          <a:prstGeom prst="roundRect">
            <a:avLst>
              <a:gd name="adj" fmla="val 9524"/>
            </a:avLst>
          </a:prstGeom>
          <a:solidFill>
            <a:srgbClr val="F2F7FB"/>
          </a:solidFill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"/>
          <p:cNvSpPr/>
          <p:nvPr/>
        </p:nvSpPr>
        <p:spPr>
          <a:xfrm>
            <a:off x="2867040" y="3629160"/>
            <a:ext cx="1657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8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EXTRAER</a:t>
            </a:r>
            <a:endParaRPr lang="es-E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2886120" y="3943440"/>
            <a:ext cx="161892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texto, estructura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y diagnósticos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>
            <a:off x="7038720" y="4095720"/>
            <a:ext cx="333360" cy="360"/>
          </a:xfrm>
          <a:prstGeom prst="line">
            <a:avLst/>
          </a:prstGeom>
          <a:ln w="19050">
            <a:solidFill>
              <a:srgbClr val="007A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7334280" y="4048200"/>
            <a:ext cx="95040" cy="95040"/>
          </a:xfrm>
          <a:prstGeom prst="triangle">
            <a:avLst>
              <a:gd name="adj" fmla="val 50000"/>
            </a:avLst>
          </a:prstGeom>
          <a:solidFill>
            <a:srgbClr val="007AB8"/>
          </a:solidFill>
          <a:ln w="0">
            <a:solidFill>
              <a:srgbClr val="007AB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5105520" y="3476520"/>
            <a:ext cx="1885680" cy="1199880"/>
          </a:xfrm>
          <a:prstGeom prst="roundRect">
            <a:avLst>
              <a:gd name="adj" fmla="val 9524"/>
            </a:avLst>
          </a:prstGeom>
          <a:solidFill>
            <a:srgbClr val="F2F7FB"/>
          </a:solidFill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5219640" y="3629160"/>
            <a:ext cx="1657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8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SEGMENTAR</a:t>
            </a:r>
            <a:endParaRPr lang="es-E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5238720" y="3943440"/>
            <a:ext cx="161892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chunks ligados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a evidencias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>
            <a:off x="9391320" y="4095720"/>
            <a:ext cx="333360" cy="360"/>
          </a:xfrm>
          <a:prstGeom prst="line">
            <a:avLst/>
          </a:prstGeom>
          <a:ln w="19050">
            <a:solidFill>
              <a:srgbClr val="007A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9686880" y="4048200"/>
            <a:ext cx="95040" cy="95040"/>
          </a:xfrm>
          <a:prstGeom prst="triangle">
            <a:avLst>
              <a:gd name="adj" fmla="val 50000"/>
            </a:avLst>
          </a:prstGeom>
          <a:solidFill>
            <a:srgbClr val="007AB8"/>
          </a:solidFill>
          <a:ln w="0">
            <a:solidFill>
              <a:srgbClr val="007AB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7458120" y="3476520"/>
            <a:ext cx="1885680" cy="1199880"/>
          </a:xfrm>
          <a:prstGeom prst="roundRect">
            <a:avLst>
              <a:gd name="adj" fmla="val 9524"/>
            </a:avLst>
          </a:prstGeom>
          <a:solidFill>
            <a:srgbClr val="F2F7FB"/>
          </a:solidFill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7572240" y="3629160"/>
            <a:ext cx="1657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8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PUBLICAR</a:t>
            </a:r>
            <a:endParaRPr lang="es-E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7591320" y="3943440"/>
            <a:ext cx="161892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manifest y artefactos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inmutables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/>
          <p:nvPr/>
        </p:nvSpPr>
        <p:spPr>
          <a:xfrm>
            <a:off x="9810720" y="3476520"/>
            <a:ext cx="1885680" cy="1199880"/>
          </a:xfrm>
          <a:prstGeom prst="roundRect">
            <a:avLst>
              <a:gd name="adj" fmla="val 9524"/>
            </a:avLst>
          </a:prstGeom>
          <a:solidFill>
            <a:srgbClr val="0037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9925200" y="3629160"/>
            <a:ext cx="1657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8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INDEXAR</a:t>
            </a:r>
            <a:endParaRPr lang="es-E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"/>
          <p:cNvSpPr/>
          <p:nvPr/>
        </p:nvSpPr>
        <p:spPr>
          <a:xfrm>
            <a:off x="9944280" y="3943440"/>
            <a:ext cx="161892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D8EBF7"/>
                </a:solidFill>
                <a:effectLst/>
                <a:uFillTx/>
                <a:latin typeface="Arial"/>
              </a:rPr>
              <a:t>colección firmada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D8EBF7"/>
                </a:solidFill>
                <a:effectLst/>
                <a:uFillTx/>
                <a:latin typeface="Arial"/>
              </a:rPr>
              <a:t>y alias activo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685800" y="5619600"/>
            <a:ext cx="1082016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430" b="1" u="none" strike="noStrike">
                <a:solidFill>
                  <a:srgbClr val="003781"/>
                </a:solidFill>
                <a:effectLst/>
                <a:uFillTx/>
                <a:latin typeface="Arial"/>
              </a:rPr>
              <a:t>La publicación es atómica: el índice activo solo apunta a una extracción completa y compatible.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"/>
          <p:cNvSpPr/>
          <p:nvPr/>
        </p:nvSpPr>
        <p:spPr>
          <a:xfrm>
            <a:off x="685800" y="324000"/>
            <a:ext cx="4476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90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DOS ESTRATEGIAS DE INGESTA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685800" y="666720"/>
            <a:ext cx="10820160" cy="360"/>
          </a:xfrm>
          <a:prstGeom prst="line">
            <a:avLst/>
          </a:prstGeom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9563040" y="237960"/>
            <a:ext cx="1142640" cy="26640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3" name=""/>
          <p:cNvPicPr/>
          <p:nvPr/>
        </p:nvPicPr>
        <p:blipFill>
          <a:blip r:embed="rId1"/>
          <a:srcRect l="0" t="10054" r="0" b="10054"/>
          <a:stretch/>
        </p:blipFill>
        <p:spPr>
          <a:xfrm>
            <a:off x="9696600" y="285840"/>
            <a:ext cx="875880" cy="18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"/>
          <p:cNvSpPr/>
          <p:nvPr/>
        </p:nvSpPr>
        <p:spPr>
          <a:xfrm>
            <a:off x="11049120" y="324000"/>
            <a:ext cx="4568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</a:pPr>
            <a:r>
              <a:rPr lang="es-ES" sz="900" b="1" u="none" strike="noStrike">
                <a:solidFill>
                  <a:srgbClr val="71859B"/>
                </a:solidFill>
                <a:effectLst/>
                <a:uFillTx/>
                <a:latin typeface="Arial"/>
              </a:rPr>
              <a:t>08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685800" y="1000080"/>
            <a:ext cx="10820160" cy="99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300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Probamos una referencia simple y una extracción estructurada sobre el mismo manual.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685800" y="2190600"/>
            <a:ext cx="1082016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50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La alternativa más sofisticada solo se promociona cuando demuestra una mejora medible.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809640" y="3429000"/>
            <a:ext cx="247608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13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BASELINE ACTIVO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>
            <a:off x="809640" y="3809880"/>
            <a:ext cx="314280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217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pypdf</a:t>
            </a:r>
            <a:endParaRPr lang="es-E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"/>
          <p:cNvSpPr/>
          <p:nvPr/>
        </p:nvSpPr>
        <p:spPr>
          <a:xfrm>
            <a:off x="809640" y="4334040"/>
            <a:ext cx="3809520" cy="8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35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Texto por página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35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Chunking fijo con solapamiento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35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118 fragmentos indexados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/>
          <p:nvPr/>
        </p:nvSpPr>
        <p:spPr>
          <a:xfrm>
            <a:off x="5952960" y="3381120"/>
            <a:ext cx="360" cy="1952640"/>
          </a:xfrm>
          <a:prstGeom prst="line">
            <a:avLst/>
          </a:prstGeom>
          <a:ln w="19050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6667560" y="3429000"/>
            <a:ext cx="342864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130" b="1" u="none" strike="noStrike">
                <a:solidFill>
                  <a:srgbClr val="00A6A6"/>
                </a:solidFill>
                <a:effectLst/>
                <a:uFillTx/>
                <a:latin typeface="Arial"/>
              </a:rPr>
              <a:t>ESTRUCTURADO PUBLICADO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6667560" y="3809880"/>
            <a:ext cx="314280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217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Docling</a:t>
            </a:r>
            <a:endParaRPr lang="es-E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/>
          <p:nvPr/>
        </p:nvSpPr>
        <p:spPr>
          <a:xfrm>
            <a:off x="6667560" y="4334040"/>
            <a:ext cx="4190760" cy="8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35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Layout, Markdown, JSON y regiones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35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Diagnósticos y evidencias visuales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35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109 fragmentos preparados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"/>
          <p:cNvSpPr/>
          <p:nvPr/>
        </p:nvSpPr>
        <p:spPr>
          <a:xfrm>
            <a:off x="685800" y="5772240"/>
            <a:ext cx="108201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430" b="1" u="none" strike="noStrike">
                <a:solidFill>
                  <a:srgbClr val="003781"/>
                </a:solidFill>
                <a:effectLst/>
                <a:uFillTx/>
                <a:latin typeface="Arial"/>
              </a:rPr>
              <a:t>Mismo documento, mismo contrato de evidencia, configuraciones comparables.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"/>
          <p:cNvSpPr/>
          <p:nvPr/>
        </p:nvSpPr>
        <p:spPr>
          <a:xfrm>
            <a:off x="685800" y="324000"/>
            <a:ext cx="4476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90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EXPERIENCIA DE USO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/>
          <p:nvPr/>
        </p:nvSpPr>
        <p:spPr>
          <a:xfrm>
            <a:off x="685800" y="666720"/>
            <a:ext cx="10820160" cy="360"/>
          </a:xfrm>
          <a:prstGeom prst="line">
            <a:avLst/>
          </a:prstGeom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/>
          <p:nvPr/>
        </p:nvSpPr>
        <p:spPr>
          <a:xfrm>
            <a:off x="9563040" y="237960"/>
            <a:ext cx="1142640" cy="26640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8" name=""/>
          <p:cNvPicPr/>
          <p:nvPr/>
        </p:nvPicPr>
        <p:blipFill>
          <a:blip r:embed="rId1"/>
          <a:srcRect l="0" t="10054" r="0" b="10054"/>
          <a:stretch/>
        </p:blipFill>
        <p:spPr>
          <a:xfrm>
            <a:off x="9696600" y="285840"/>
            <a:ext cx="875880" cy="18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"/>
          <p:cNvSpPr/>
          <p:nvPr/>
        </p:nvSpPr>
        <p:spPr>
          <a:xfrm>
            <a:off x="11049120" y="324000"/>
            <a:ext cx="4568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</a:pPr>
            <a:r>
              <a:rPr lang="es-ES" sz="900" b="1" u="none" strike="noStrike">
                <a:solidFill>
                  <a:srgbClr val="71859B"/>
                </a:solidFill>
                <a:effectLst/>
                <a:uFillTx/>
                <a:latin typeface="Arial"/>
              </a:rPr>
              <a:t>09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"/>
          <p:cNvSpPr/>
          <p:nvPr/>
        </p:nvSpPr>
        <p:spPr>
          <a:xfrm>
            <a:off x="685800" y="1000080"/>
            <a:ext cx="10820160" cy="99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300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La aplicación ofrece dos capacidades; el modo automático solo decide a cuál dirigir la entrada.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/>
          <p:nvPr/>
        </p:nvSpPr>
        <p:spPr>
          <a:xfrm>
            <a:off x="685800" y="2190600"/>
            <a:ext cx="1082016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50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Consulta y siniestros comparten infraestructura, pero mantienen objetivos y contratos distintos.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"/>
          <p:cNvSpPr/>
          <p:nvPr/>
        </p:nvSpPr>
        <p:spPr>
          <a:xfrm>
            <a:off x="762120" y="3476520"/>
            <a:ext cx="4095360" cy="1714320"/>
          </a:xfrm>
          <a:prstGeom prst="roundRect">
            <a:avLst>
              <a:gd name="adj" fmla="val 6667"/>
            </a:avLst>
          </a:prstGeom>
          <a:solidFill>
            <a:srgbClr val="F2F7FB"/>
          </a:solidFill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"/>
          <p:cNvSpPr/>
          <p:nvPr/>
        </p:nvSpPr>
        <p:spPr>
          <a:xfrm>
            <a:off x="1047600" y="3724200"/>
            <a:ext cx="114264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13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MODO 1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"/>
          <p:cNvSpPr/>
          <p:nvPr/>
        </p:nvSpPr>
        <p:spPr>
          <a:xfrm>
            <a:off x="1047600" y="4095720"/>
            <a:ext cx="285732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210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CONSULTA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"/>
          <p:cNvSpPr/>
          <p:nvPr/>
        </p:nvSpPr>
        <p:spPr>
          <a:xfrm>
            <a:off x="1047600" y="4610160"/>
            <a:ext cx="31428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35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Pregunta → evidencia → respuesta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"/>
          <p:cNvSpPr/>
          <p:nvPr/>
        </p:nvSpPr>
        <p:spPr>
          <a:xfrm>
            <a:off x="7334280" y="3476520"/>
            <a:ext cx="4095360" cy="1714320"/>
          </a:xfrm>
          <a:prstGeom prst="roundRect">
            <a:avLst>
              <a:gd name="adj" fmla="val 6667"/>
            </a:avLst>
          </a:prstGeom>
          <a:solidFill>
            <a:srgbClr val="F2F7FB"/>
          </a:solidFill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/>
          <p:nvPr/>
        </p:nvSpPr>
        <p:spPr>
          <a:xfrm>
            <a:off x="7620120" y="3724200"/>
            <a:ext cx="114264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130" b="1" u="none" strike="noStrike">
                <a:solidFill>
                  <a:srgbClr val="00A6A6"/>
                </a:solidFill>
                <a:effectLst/>
                <a:uFillTx/>
                <a:latin typeface="Arial"/>
              </a:rPr>
              <a:t>MODO 2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"/>
          <p:cNvSpPr/>
          <p:nvPr/>
        </p:nvSpPr>
        <p:spPr>
          <a:xfrm>
            <a:off x="7620120" y="4095720"/>
            <a:ext cx="285732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210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SINIESTRO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"/>
          <p:cNvSpPr/>
          <p:nvPr/>
        </p:nvSpPr>
        <p:spPr>
          <a:xfrm>
            <a:off x="7620120" y="4610160"/>
            <a:ext cx="333324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35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Relato → hechos → reglas → decisión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/>
          <p:nvPr/>
        </p:nvSpPr>
        <p:spPr>
          <a:xfrm>
            <a:off x="5171760" y="4324320"/>
            <a:ext cx="1295640" cy="360"/>
          </a:xfrm>
          <a:prstGeom prst="line">
            <a:avLst/>
          </a:prstGeom>
          <a:ln w="19050">
            <a:solidFill>
              <a:srgbClr val="0037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"/>
          <p:cNvSpPr/>
          <p:nvPr/>
        </p:nvSpPr>
        <p:spPr>
          <a:xfrm>
            <a:off x="6429240" y="4276800"/>
            <a:ext cx="95040" cy="95040"/>
          </a:xfrm>
          <a:prstGeom prst="triangle">
            <a:avLst>
              <a:gd name="adj" fmla="val 50000"/>
            </a:avLst>
          </a:prstGeom>
          <a:solidFill>
            <a:srgbClr val="003781"/>
          </a:solidFill>
          <a:ln w="0">
            <a:solidFill>
              <a:srgbClr val="003781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"/>
          <p:cNvSpPr/>
          <p:nvPr/>
        </p:nvSpPr>
        <p:spPr>
          <a:xfrm>
            <a:off x="5219640" y="3809880"/>
            <a:ext cx="1333080" cy="418680"/>
          </a:xfrm>
          <a:prstGeom prst="roundRect">
            <a:avLst>
              <a:gd name="adj" fmla="val 27273"/>
            </a:avLst>
          </a:prstGeom>
          <a:solidFill>
            <a:srgbClr val="0037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5219640" y="3905280"/>
            <a:ext cx="1333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13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AUTOMÁTICO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"/>
          <p:cNvSpPr/>
          <p:nvPr/>
        </p:nvSpPr>
        <p:spPr>
          <a:xfrm>
            <a:off x="5143680" y="4476600"/>
            <a:ext cx="1476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13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clasifica la intención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37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"/>
          <p:cNvSpPr/>
          <p:nvPr/>
        </p:nvSpPr>
        <p:spPr>
          <a:xfrm>
            <a:off x="685800" y="324000"/>
            <a:ext cx="4476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900" b="1" u="none" strike="noStrike">
                <a:solidFill>
                  <a:srgbClr val="A9D4EA"/>
                </a:solidFill>
                <a:effectLst/>
                <a:uFillTx/>
                <a:latin typeface="Arial"/>
              </a:rPr>
              <a:t>MODO CONSULTA · RETRIEVAL</a:t>
            </a:r>
            <a:endParaRPr lang="es-E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685800" y="666720"/>
            <a:ext cx="10820160" cy="360"/>
          </a:xfrm>
          <a:prstGeom prst="line">
            <a:avLst/>
          </a:prstGeom>
          <a:ln w="9525">
            <a:solidFill>
              <a:srgbClr val="3D699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9563040" y="237960"/>
            <a:ext cx="1142640" cy="26640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8" name=""/>
          <p:cNvPicPr/>
          <p:nvPr/>
        </p:nvPicPr>
        <p:blipFill>
          <a:blip r:embed="rId1"/>
          <a:srcRect l="0" t="10054" r="0" b="10054"/>
          <a:stretch/>
        </p:blipFill>
        <p:spPr>
          <a:xfrm>
            <a:off x="9696600" y="285840"/>
            <a:ext cx="875880" cy="18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"/>
          <p:cNvSpPr/>
          <p:nvPr/>
        </p:nvSpPr>
        <p:spPr>
          <a:xfrm>
            <a:off x="11049120" y="324000"/>
            <a:ext cx="4568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</a:pPr>
            <a:r>
              <a:rPr lang="es-ES" sz="900" b="1" u="none" strike="noStrike">
                <a:solidFill>
                  <a:srgbClr val="A9D4EA"/>
                </a:solidFill>
                <a:effectLst/>
                <a:uFillTx/>
                <a:latin typeface="Arial"/>
              </a:rPr>
              <a:t>10</a:t>
            </a:r>
            <a:endParaRPr lang="es-E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"/>
          <p:cNvSpPr/>
          <p:nvPr/>
        </p:nvSpPr>
        <p:spPr>
          <a:xfrm>
            <a:off x="685800" y="1000080"/>
            <a:ext cx="10820160" cy="99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3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La consulta combina significado y término exacto antes de construir el contexto.</a:t>
            </a:r>
            <a:endParaRPr lang="es-E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"/>
          <p:cNvSpPr/>
          <p:nvPr/>
        </p:nvSpPr>
        <p:spPr>
          <a:xfrm>
            <a:off x="685800" y="2190600"/>
            <a:ext cx="1082016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500" b="0" u="none" strike="noStrike">
                <a:solidFill>
                  <a:srgbClr val="D7EAF7"/>
                </a:solidFill>
                <a:effectLst/>
                <a:uFillTx/>
                <a:latin typeface="Arial"/>
              </a:rPr>
              <a:t>El retrieval híbrido reduce la dependencia de una única señal y conserva la procedencia de cada resultado.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"/>
          <p:cNvSpPr/>
          <p:nvPr/>
        </p:nvSpPr>
        <p:spPr>
          <a:xfrm>
            <a:off x="2371680" y="4171680"/>
            <a:ext cx="323640" cy="360"/>
          </a:xfrm>
          <a:prstGeom prst="line">
            <a:avLst/>
          </a:prstGeom>
          <a:ln w="19050">
            <a:solidFill>
              <a:srgbClr val="76B7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/>
          <p:nvPr/>
        </p:nvSpPr>
        <p:spPr>
          <a:xfrm>
            <a:off x="2657520" y="4124160"/>
            <a:ext cx="95040" cy="95040"/>
          </a:xfrm>
          <a:prstGeom prst="triangle">
            <a:avLst>
              <a:gd name="adj" fmla="val 50000"/>
            </a:avLst>
          </a:prstGeom>
          <a:solidFill>
            <a:srgbClr val="76B7D9"/>
          </a:solidFill>
          <a:ln w="0">
            <a:solidFill>
              <a:srgbClr val="76B7D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"/>
          <p:cNvSpPr/>
          <p:nvPr/>
        </p:nvSpPr>
        <p:spPr>
          <a:xfrm>
            <a:off x="428760" y="3571920"/>
            <a:ext cx="1904760" cy="1199880"/>
          </a:xfrm>
          <a:prstGeom prst="roundRect">
            <a:avLst>
              <a:gd name="adj" fmla="val 9524"/>
            </a:avLst>
          </a:prstGeom>
          <a:solidFill>
            <a:srgbClr val="0B4D94"/>
          </a:solidFill>
          <a:ln w="9525">
            <a:solidFill>
              <a:srgbClr val="4F84B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>
            <a:off x="542880" y="3724200"/>
            <a:ext cx="1676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80" b="1" u="none" strike="noStrike">
                <a:solidFill>
                  <a:srgbClr val="B6DAEC"/>
                </a:solidFill>
                <a:effectLst/>
                <a:uFillTx/>
                <a:latin typeface="Arial"/>
              </a:rPr>
              <a:t>PREGUNTA</a:t>
            </a:r>
            <a:endParaRPr lang="es-E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/>
          <p:nvPr/>
        </p:nvSpPr>
        <p:spPr>
          <a:xfrm>
            <a:off x="561960" y="4038480"/>
            <a:ext cx="163800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texto del usuario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"/>
          <p:cNvSpPr/>
          <p:nvPr/>
        </p:nvSpPr>
        <p:spPr>
          <a:xfrm>
            <a:off x="4724280" y="4171680"/>
            <a:ext cx="323640" cy="360"/>
          </a:xfrm>
          <a:prstGeom prst="line">
            <a:avLst/>
          </a:prstGeom>
          <a:ln w="19050">
            <a:solidFill>
              <a:srgbClr val="76B7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"/>
          <p:cNvSpPr/>
          <p:nvPr/>
        </p:nvSpPr>
        <p:spPr>
          <a:xfrm>
            <a:off x="5010120" y="4124160"/>
            <a:ext cx="95040" cy="95040"/>
          </a:xfrm>
          <a:prstGeom prst="triangle">
            <a:avLst>
              <a:gd name="adj" fmla="val 50000"/>
            </a:avLst>
          </a:prstGeom>
          <a:solidFill>
            <a:srgbClr val="76B7D9"/>
          </a:solidFill>
          <a:ln w="0">
            <a:solidFill>
              <a:srgbClr val="76B7D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"/>
          <p:cNvSpPr/>
          <p:nvPr/>
        </p:nvSpPr>
        <p:spPr>
          <a:xfrm>
            <a:off x="2781360" y="3571920"/>
            <a:ext cx="1904760" cy="1199880"/>
          </a:xfrm>
          <a:prstGeom prst="roundRect">
            <a:avLst>
              <a:gd name="adj" fmla="val 9524"/>
            </a:avLst>
          </a:prstGeom>
          <a:solidFill>
            <a:srgbClr val="0B4D94"/>
          </a:solidFill>
          <a:ln w="9525">
            <a:solidFill>
              <a:srgbClr val="4F84B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"/>
          <p:cNvSpPr/>
          <p:nvPr/>
        </p:nvSpPr>
        <p:spPr>
          <a:xfrm>
            <a:off x="2895480" y="3724200"/>
            <a:ext cx="1676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80" b="1" u="none" strike="noStrike">
                <a:solidFill>
                  <a:srgbClr val="B6DAEC"/>
                </a:solidFill>
                <a:effectLst/>
                <a:uFillTx/>
                <a:latin typeface="Arial"/>
              </a:rPr>
              <a:t>DENSO</a:t>
            </a:r>
            <a:endParaRPr lang="es-E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"/>
          <p:cNvSpPr/>
          <p:nvPr/>
        </p:nvSpPr>
        <p:spPr>
          <a:xfrm>
            <a:off x="2914560" y="4038480"/>
            <a:ext cx="163800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embeddings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"/>
          <p:cNvSpPr/>
          <p:nvPr/>
        </p:nvSpPr>
        <p:spPr>
          <a:xfrm>
            <a:off x="7076880" y="4171680"/>
            <a:ext cx="324000" cy="360"/>
          </a:xfrm>
          <a:prstGeom prst="line">
            <a:avLst/>
          </a:prstGeom>
          <a:ln w="19050">
            <a:solidFill>
              <a:srgbClr val="76B7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"/>
          <p:cNvSpPr/>
          <p:nvPr/>
        </p:nvSpPr>
        <p:spPr>
          <a:xfrm>
            <a:off x="7362720" y="4124160"/>
            <a:ext cx="95040" cy="95040"/>
          </a:xfrm>
          <a:prstGeom prst="triangle">
            <a:avLst>
              <a:gd name="adj" fmla="val 50000"/>
            </a:avLst>
          </a:prstGeom>
          <a:solidFill>
            <a:srgbClr val="76B7D9"/>
          </a:solidFill>
          <a:ln w="0">
            <a:solidFill>
              <a:srgbClr val="76B7D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"/>
          <p:cNvSpPr/>
          <p:nvPr/>
        </p:nvSpPr>
        <p:spPr>
          <a:xfrm>
            <a:off x="5133960" y="3571920"/>
            <a:ext cx="1904760" cy="1199880"/>
          </a:xfrm>
          <a:prstGeom prst="roundRect">
            <a:avLst>
              <a:gd name="adj" fmla="val 9524"/>
            </a:avLst>
          </a:prstGeom>
          <a:solidFill>
            <a:srgbClr val="0B4D94"/>
          </a:solidFill>
          <a:ln w="9525">
            <a:solidFill>
              <a:srgbClr val="4F84B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"/>
          <p:cNvSpPr/>
          <p:nvPr/>
        </p:nvSpPr>
        <p:spPr>
          <a:xfrm>
            <a:off x="5248440" y="3724200"/>
            <a:ext cx="1676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80" b="1" u="none" strike="noStrike">
                <a:solidFill>
                  <a:srgbClr val="B6DAEC"/>
                </a:solidFill>
                <a:effectLst/>
                <a:uFillTx/>
                <a:latin typeface="Arial"/>
              </a:rPr>
              <a:t>BM25</a:t>
            </a:r>
            <a:endParaRPr lang="es-E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"/>
          <p:cNvSpPr/>
          <p:nvPr/>
        </p:nvSpPr>
        <p:spPr>
          <a:xfrm>
            <a:off x="5267160" y="4038480"/>
            <a:ext cx="163800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léxico español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"/>
          <p:cNvSpPr/>
          <p:nvPr/>
        </p:nvSpPr>
        <p:spPr>
          <a:xfrm>
            <a:off x="9429480" y="4171680"/>
            <a:ext cx="324000" cy="360"/>
          </a:xfrm>
          <a:prstGeom prst="line">
            <a:avLst/>
          </a:prstGeom>
          <a:ln w="19050">
            <a:solidFill>
              <a:srgbClr val="76B7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"/>
          <p:cNvSpPr/>
          <p:nvPr/>
        </p:nvSpPr>
        <p:spPr>
          <a:xfrm>
            <a:off x="9715680" y="4124160"/>
            <a:ext cx="95040" cy="95040"/>
          </a:xfrm>
          <a:prstGeom prst="triangle">
            <a:avLst>
              <a:gd name="adj" fmla="val 50000"/>
            </a:avLst>
          </a:prstGeom>
          <a:solidFill>
            <a:srgbClr val="76B7D9"/>
          </a:solidFill>
          <a:ln w="0">
            <a:solidFill>
              <a:srgbClr val="76B7D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7486560" y="3571920"/>
            <a:ext cx="1904760" cy="1199880"/>
          </a:xfrm>
          <a:prstGeom prst="roundRect">
            <a:avLst>
              <a:gd name="adj" fmla="val 9524"/>
            </a:avLst>
          </a:prstGeom>
          <a:solidFill>
            <a:srgbClr val="007AB8"/>
          </a:solidFill>
          <a:ln w="9525">
            <a:solidFill>
              <a:srgbClr val="4F84B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"/>
          <p:cNvSpPr/>
          <p:nvPr/>
        </p:nvSpPr>
        <p:spPr>
          <a:xfrm>
            <a:off x="7601040" y="3724200"/>
            <a:ext cx="1676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80" b="1" u="none" strike="noStrike">
                <a:solidFill>
                  <a:srgbClr val="B6DAEC"/>
                </a:solidFill>
                <a:effectLst/>
                <a:uFillTx/>
                <a:latin typeface="Arial"/>
              </a:rPr>
              <a:t>RRF</a:t>
            </a:r>
            <a:endParaRPr lang="es-E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"/>
          <p:cNvSpPr/>
          <p:nvPr/>
        </p:nvSpPr>
        <p:spPr>
          <a:xfrm>
            <a:off x="7620120" y="4038480"/>
            <a:ext cx="163800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fusión de ranking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/>
          <p:nvPr/>
        </p:nvSpPr>
        <p:spPr>
          <a:xfrm>
            <a:off x="9839160" y="3571920"/>
            <a:ext cx="1904760" cy="1199880"/>
          </a:xfrm>
          <a:prstGeom prst="roundRect">
            <a:avLst>
              <a:gd name="adj" fmla="val 9524"/>
            </a:avLst>
          </a:prstGeom>
          <a:solidFill>
            <a:srgbClr val="00A6A6"/>
          </a:solidFill>
          <a:ln w="9525">
            <a:solidFill>
              <a:srgbClr val="4F84B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"/>
          <p:cNvSpPr/>
          <p:nvPr/>
        </p:nvSpPr>
        <p:spPr>
          <a:xfrm>
            <a:off x="9953640" y="3724200"/>
            <a:ext cx="1676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80" b="1" u="none" strike="noStrike">
                <a:solidFill>
                  <a:srgbClr val="B6DAEC"/>
                </a:solidFill>
                <a:effectLst/>
                <a:uFillTx/>
                <a:latin typeface="Arial"/>
              </a:rPr>
              <a:t>CONTEXTO</a:t>
            </a:r>
            <a:endParaRPr lang="es-E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"/>
          <p:cNvSpPr/>
          <p:nvPr/>
        </p:nvSpPr>
        <p:spPr>
          <a:xfrm>
            <a:off x="9972720" y="4038480"/>
            <a:ext cx="163800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chunks + páginas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>
            <a:off x="685800" y="5619600"/>
            <a:ext cx="1082016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350" b="1" u="none" strike="noStrike">
                <a:solidFill>
                  <a:srgbClr val="D8EBF7"/>
                </a:solidFill>
                <a:effectLst/>
                <a:uFillTx/>
                <a:latin typeface="Arial"/>
              </a:rPr>
              <a:t>Qdrant valida la firma del índice, elimina duplicados y devuelve evidencias compatibles con la configuración activa.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"/>
          <p:cNvSpPr/>
          <p:nvPr/>
        </p:nvSpPr>
        <p:spPr>
          <a:xfrm>
            <a:off x="685800" y="324000"/>
            <a:ext cx="4476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90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MODO CONSULTA · LANGGRAPH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"/>
          <p:cNvSpPr/>
          <p:nvPr/>
        </p:nvSpPr>
        <p:spPr>
          <a:xfrm>
            <a:off x="685800" y="666720"/>
            <a:ext cx="10820160" cy="360"/>
          </a:xfrm>
          <a:prstGeom prst="line">
            <a:avLst/>
          </a:prstGeom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"/>
          <p:cNvSpPr/>
          <p:nvPr/>
        </p:nvSpPr>
        <p:spPr>
          <a:xfrm>
            <a:off x="9563040" y="237960"/>
            <a:ext cx="1142640" cy="26640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9" name=""/>
          <p:cNvPicPr/>
          <p:nvPr/>
        </p:nvPicPr>
        <p:blipFill>
          <a:blip r:embed="rId1"/>
          <a:srcRect l="0" t="10054" r="0" b="10054"/>
          <a:stretch/>
        </p:blipFill>
        <p:spPr>
          <a:xfrm>
            <a:off x="9696600" y="285840"/>
            <a:ext cx="875880" cy="18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0" name=""/>
          <p:cNvSpPr/>
          <p:nvPr/>
        </p:nvSpPr>
        <p:spPr>
          <a:xfrm>
            <a:off x="11049120" y="324000"/>
            <a:ext cx="4568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</a:pPr>
            <a:r>
              <a:rPr lang="es-ES" sz="900" b="1" u="none" strike="noStrike">
                <a:solidFill>
                  <a:srgbClr val="71859B"/>
                </a:solidFill>
                <a:effectLst/>
                <a:uFillTx/>
                <a:latin typeface="Arial"/>
              </a:rPr>
              <a:t>11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"/>
          <p:cNvSpPr/>
          <p:nvPr/>
        </p:nvSpPr>
        <p:spPr>
          <a:xfrm>
            <a:off x="685800" y="1000080"/>
            <a:ext cx="10820160" cy="99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300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La respuesta documental pasa por tres estados y no sale sin validación.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"/>
          <p:cNvSpPr/>
          <p:nvPr/>
        </p:nvSpPr>
        <p:spPr>
          <a:xfrm>
            <a:off x="685800" y="2190600"/>
            <a:ext cx="1082016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50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Cada nodo tiene una responsabilidad pequeña y se puede probar de forma independiente.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"/>
          <p:cNvSpPr/>
          <p:nvPr/>
        </p:nvSpPr>
        <p:spPr>
          <a:xfrm>
            <a:off x="1904760" y="4171680"/>
            <a:ext cx="8382240" cy="360"/>
          </a:xfrm>
          <a:prstGeom prst="line">
            <a:avLst/>
          </a:prstGeom>
          <a:ln w="2857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"/>
          <p:cNvSpPr/>
          <p:nvPr/>
        </p:nvSpPr>
        <p:spPr>
          <a:xfrm>
            <a:off x="1238400" y="3352680"/>
            <a:ext cx="2190240" cy="1638000"/>
          </a:xfrm>
          <a:prstGeom prst="roundRect">
            <a:avLst>
              <a:gd name="adj" fmla="val 6977"/>
            </a:avLst>
          </a:prstGeom>
          <a:solidFill>
            <a:srgbClr val="F2F7FB"/>
          </a:solidFill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"/>
          <p:cNvSpPr/>
          <p:nvPr/>
        </p:nvSpPr>
        <p:spPr>
          <a:xfrm>
            <a:off x="2048040" y="3524400"/>
            <a:ext cx="5713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225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1</a:t>
            </a:r>
            <a:endParaRPr lang="es-E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"/>
          <p:cNvSpPr/>
          <p:nvPr/>
        </p:nvSpPr>
        <p:spPr>
          <a:xfrm>
            <a:off x="1428840" y="4038480"/>
            <a:ext cx="1809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8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RETRIEVE</a:t>
            </a:r>
            <a:endParaRPr lang="es-E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"/>
          <p:cNvSpPr/>
          <p:nvPr/>
        </p:nvSpPr>
        <p:spPr>
          <a:xfrm>
            <a:off x="1428840" y="4400640"/>
            <a:ext cx="180936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0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recupera y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s-ES" sz="120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deduplica contexto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"/>
          <p:cNvSpPr/>
          <p:nvPr/>
        </p:nvSpPr>
        <p:spPr>
          <a:xfrm>
            <a:off x="4952880" y="3352680"/>
            <a:ext cx="2190240" cy="1638000"/>
          </a:xfrm>
          <a:prstGeom prst="roundRect">
            <a:avLst>
              <a:gd name="adj" fmla="val 6977"/>
            </a:avLst>
          </a:prstGeom>
          <a:solidFill>
            <a:srgbClr val="F2F7FB"/>
          </a:solidFill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"/>
          <p:cNvSpPr/>
          <p:nvPr/>
        </p:nvSpPr>
        <p:spPr>
          <a:xfrm>
            <a:off x="5762520" y="3524400"/>
            <a:ext cx="5713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225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2</a:t>
            </a:r>
            <a:endParaRPr lang="es-E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"/>
          <p:cNvSpPr/>
          <p:nvPr/>
        </p:nvSpPr>
        <p:spPr>
          <a:xfrm>
            <a:off x="5143680" y="4038480"/>
            <a:ext cx="1809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8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GENERATE</a:t>
            </a:r>
            <a:endParaRPr lang="es-E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"/>
          <p:cNvSpPr/>
          <p:nvPr/>
        </p:nvSpPr>
        <p:spPr>
          <a:xfrm>
            <a:off x="5143680" y="4400640"/>
            <a:ext cx="180936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0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el modelo recibe solo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s-ES" sz="120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el contexto recuperado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"/>
          <p:cNvSpPr/>
          <p:nvPr/>
        </p:nvSpPr>
        <p:spPr>
          <a:xfrm>
            <a:off x="8667720" y="3352680"/>
            <a:ext cx="2190240" cy="1638000"/>
          </a:xfrm>
          <a:prstGeom prst="roundRect">
            <a:avLst>
              <a:gd name="adj" fmla="val 6977"/>
            </a:avLst>
          </a:prstGeom>
          <a:solidFill>
            <a:srgbClr val="00A6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"/>
          <p:cNvSpPr/>
          <p:nvPr/>
        </p:nvSpPr>
        <p:spPr>
          <a:xfrm>
            <a:off x="9477360" y="3524400"/>
            <a:ext cx="5713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22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3</a:t>
            </a:r>
            <a:endParaRPr lang="es-E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"/>
          <p:cNvSpPr/>
          <p:nvPr/>
        </p:nvSpPr>
        <p:spPr>
          <a:xfrm>
            <a:off x="8858160" y="4038480"/>
            <a:ext cx="1809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8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VALIDATE</a:t>
            </a:r>
            <a:endParaRPr lang="es-E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"/>
          <p:cNvSpPr/>
          <p:nvPr/>
        </p:nvSpPr>
        <p:spPr>
          <a:xfrm>
            <a:off x="8858160" y="4400640"/>
            <a:ext cx="180936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comprueba estado,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s-E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evidencias y citas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"/>
          <p:cNvSpPr/>
          <p:nvPr/>
        </p:nvSpPr>
        <p:spPr>
          <a:xfrm>
            <a:off x="685800" y="5657760"/>
            <a:ext cx="1082016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430" b="1" u="none" strike="noStrike">
                <a:solidFill>
                  <a:srgbClr val="003781"/>
                </a:solidFill>
                <a:effectLst/>
                <a:uFillTx/>
                <a:latin typeface="Arial"/>
              </a:rPr>
              <a:t>Sin contexto suficiente, el flujo devuelve una salida explícita de evidencia insuficiente.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"/>
          <p:cNvSpPr/>
          <p:nvPr/>
        </p:nvSpPr>
        <p:spPr>
          <a:xfrm>
            <a:off x="685800" y="324000"/>
            <a:ext cx="4476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90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MODO SINIESTRO · COMPRENSIÓN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"/>
          <p:cNvSpPr/>
          <p:nvPr/>
        </p:nvSpPr>
        <p:spPr>
          <a:xfrm>
            <a:off x="685800" y="666720"/>
            <a:ext cx="10820160" cy="360"/>
          </a:xfrm>
          <a:prstGeom prst="line">
            <a:avLst/>
          </a:prstGeom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"/>
          <p:cNvSpPr/>
          <p:nvPr/>
        </p:nvSpPr>
        <p:spPr>
          <a:xfrm>
            <a:off x="9563040" y="237960"/>
            <a:ext cx="1142640" cy="26640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0" name=""/>
          <p:cNvPicPr/>
          <p:nvPr/>
        </p:nvPicPr>
        <p:blipFill>
          <a:blip r:embed="rId1"/>
          <a:srcRect l="0" t="10054" r="0" b="10054"/>
          <a:stretch/>
        </p:blipFill>
        <p:spPr>
          <a:xfrm>
            <a:off x="9696600" y="285840"/>
            <a:ext cx="875880" cy="18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"/>
          <p:cNvSpPr/>
          <p:nvPr/>
        </p:nvSpPr>
        <p:spPr>
          <a:xfrm>
            <a:off x="11049120" y="324000"/>
            <a:ext cx="4568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</a:pPr>
            <a:r>
              <a:rPr lang="es-ES" sz="900" b="1" u="none" strike="noStrike">
                <a:solidFill>
                  <a:srgbClr val="71859B"/>
                </a:solidFill>
                <a:effectLst/>
                <a:uFillTx/>
                <a:latin typeface="Arial"/>
              </a:rPr>
              <a:t>12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"/>
          <p:cNvSpPr/>
          <p:nvPr/>
        </p:nvSpPr>
        <p:spPr>
          <a:xfrm>
            <a:off x="685800" y="1000080"/>
            <a:ext cx="10820160" cy="99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300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El retrieval del siniestro busca criterios; no intenta decidir directamente.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"/>
          <p:cNvSpPr/>
          <p:nvPr/>
        </p:nvSpPr>
        <p:spPr>
          <a:xfrm>
            <a:off x="685800" y="2190600"/>
            <a:ext cx="1082016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50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Primero se estructura lo que afirma cada parte y después se recupera el conocimiento necesario para evaluarlo.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"/>
          <p:cNvSpPr/>
          <p:nvPr/>
        </p:nvSpPr>
        <p:spPr>
          <a:xfrm>
            <a:off x="3733560" y="4248000"/>
            <a:ext cx="542880" cy="360"/>
          </a:xfrm>
          <a:prstGeom prst="line">
            <a:avLst/>
          </a:prstGeom>
          <a:ln w="19050">
            <a:solidFill>
              <a:srgbClr val="007A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"/>
          <p:cNvSpPr/>
          <p:nvPr/>
        </p:nvSpPr>
        <p:spPr>
          <a:xfrm>
            <a:off x="4238640" y="4200480"/>
            <a:ext cx="95040" cy="95040"/>
          </a:xfrm>
          <a:prstGeom prst="triangle">
            <a:avLst>
              <a:gd name="adj" fmla="val 50000"/>
            </a:avLst>
          </a:prstGeom>
          <a:solidFill>
            <a:srgbClr val="007AB8"/>
          </a:solidFill>
          <a:ln w="0">
            <a:solidFill>
              <a:srgbClr val="007AB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"/>
          <p:cNvSpPr/>
          <p:nvPr/>
        </p:nvSpPr>
        <p:spPr>
          <a:xfrm>
            <a:off x="685800" y="3552840"/>
            <a:ext cx="266652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13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RELATO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"/>
          <p:cNvSpPr/>
          <p:nvPr/>
        </p:nvSpPr>
        <p:spPr>
          <a:xfrm>
            <a:off x="685800" y="4000680"/>
            <a:ext cx="28573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43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Texto libre, versiones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43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y posibles contradicciones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"/>
          <p:cNvSpPr/>
          <p:nvPr/>
        </p:nvSpPr>
        <p:spPr>
          <a:xfrm>
            <a:off x="7353000" y="4248000"/>
            <a:ext cx="542880" cy="360"/>
          </a:xfrm>
          <a:prstGeom prst="line">
            <a:avLst/>
          </a:prstGeom>
          <a:ln w="19050">
            <a:solidFill>
              <a:srgbClr val="007A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"/>
          <p:cNvSpPr/>
          <p:nvPr/>
        </p:nvSpPr>
        <p:spPr>
          <a:xfrm>
            <a:off x="7858080" y="4200480"/>
            <a:ext cx="95040" cy="95040"/>
          </a:xfrm>
          <a:prstGeom prst="triangle">
            <a:avLst>
              <a:gd name="adj" fmla="val 50000"/>
            </a:avLst>
          </a:prstGeom>
          <a:solidFill>
            <a:srgbClr val="007AB8"/>
          </a:solidFill>
          <a:ln w="0">
            <a:solidFill>
              <a:srgbClr val="007AB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"/>
          <p:cNvSpPr/>
          <p:nvPr/>
        </p:nvSpPr>
        <p:spPr>
          <a:xfrm>
            <a:off x="4305240" y="3552840"/>
            <a:ext cx="266652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130" b="1" u="none" strike="noStrike">
                <a:solidFill>
                  <a:srgbClr val="00A6A6"/>
                </a:solidFill>
                <a:effectLst/>
                <a:uFillTx/>
                <a:latin typeface="Arial"/>
              </a:rPr>
              <a:t>HECHOS TIPADOS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"/>
          <p:cNvSpPr/>
          <p:nvPr/>
        </p:nvSpPr>
        <p:spPr>
          <a:xfrm>
            <a:off x="4305240" y="4000680"/>
            <a:ext cx="28573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43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Partes, maniobras, D.A.A.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43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y datos desconocidos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"/>
          <p:cNvSpPr/>
          <p:nvPr/>
        </p:nvSpPr>
        <p:spPr>
          <a:xfrm>
            <a:off x="7924680" y="3552840"/>
            <a:ext cx="266652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130" b="1" u="none" strike="noStrike">
                <a:solidFill>
                  <a:srgbClr val="003781"/>
                </a:solidFill>
                <a:effectLst/>
                <a:uFillTx/>
                <a:latin typeface="Arial"/>
              </a:rPr>
              <a:t>CRITERIOS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"/>
          <p:cNvSpPr/>
          <p:nvPr/>
        </p:nvSpPr>
        <p:spPr>
          <a:xfrm>
            <a:off x="7924680" y="4000680"/>
            <a:ext cx="28573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43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Aplicabilidad, convenio,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43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reglas y evidencias del manual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"/>
          <p:cNvSpPr/>
          <p:nvPr/>
        </p:nvSpPr>
        <p:spPr>
          <a:xfrm>
            <a:off x="685800" y="5143320"/>
            <a:ext cx="10820160" cy="360"/>
          </a:xfrm>
          <a:prstGeom prst="line">
            <a:avLst/>
          </a:prstGeom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"/>
          <p:cNvSpPr/>
          <p:nvPr/>
        </p:nvSpPr>
        <p:spPr>
          <a:xfrm>
            <a:off x="685800" y="5467320"/>
            <a:ext cx="108201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430" b="1" u="none" strike="noStrike">
                <a:solidFill>
                  <a:srgbClr val="003781"/>
                </a:solidFill>
                <a:effectLst/>
                <a:uFillTx/>
                <a:latin typeface="Arial"/>
              </a:rPr>
              <a:t>El relato aporta hechos del accidente. El manual aporta reglas. La conclusión necesita ambos.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"/>
          <p:cNvSpPr/>
          <p:nvPr/>
        </p:nvSpPr>
        <p:spPr>
          <a:xfrm>
            <a:off x="685800" y="324000"/>
            <a:ext cx="4476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90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MODO SINIESTRO · LANGGRAPH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"/>
          <p:cNvSpPr/>
          <p:nvPr/>
        </p:nvSpPr>
        <p:spPr>
          <a:xfrm>
            <a:off x="685800" y="666720"/>
            <a:ext cx="10820160" cy="360"/>
          </a:xfrm>
          <a:prstGeom prst="line">
            <a:avLst/>
          </a:prstGeom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"/>
          <p:cNvSpPr/>
          <p:nvPr/>
        </p:nvSpPr>
        <p:spPr>
          <a:xfrm>
            <a:off x="9563040" y="237960"/>
            <a:ext cx="1142640" cy="26640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9" name=""/>
          <p:cNvPicPr/>
          <p:nvPr/>
        </p:nvPicPr>
        <p:blipFill>
          <a:blip r:embed="rId1"/>
          <a:srcRect l="0" t="10054" r="0" b="10054"/>
          <a:stretch/>
        </p:blipFill>
        <p:spPr>
          <a:xfrm>
            <a:off x="9696600" y="285840"/>
            <a:ext cx="875880" cy="18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0" name=""/>
          <p:cNvSpPr/>
          <p:nvPr/>
        </p:nvSpPr>
        <p:spPr>
          <a:xfrm>
            <a:off x="11049120" y="324000"/>
            <a:ext cx="4568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</a:pPr>
            <a:r>
              <a:rPr lang="es-ES" sz="900" b="1" u="none" strike="noStrike">
                <a:solidFill>
                  <a:srgbClr val="71859B"/>
                </a:solidFill>
                <a:effectLst/>
                <a:uFillTx/>
                <a:latin typeface="Arial"/>
              </a:rPr>
              <a:t>13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"/>
          <p:cNvSpPr/>
          <p:nvPr/>
        </p:nvSpPr>
        <p:spPr>
          <a:xfrm>
            <a:off x="685800" y="1000080"/>
            <a:ext cx="10820160" cy="99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300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El grafo puede interrumpirse, preguntar y reanudar antes de explicar el resultado.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"/>
          <p:cNvSpPr/>
          <p:nvPr/>
        </p:nvSpPr>
        <p:spPr>
          <a:xfrm>
            <a:off x="685800" y="2190600"/>
            <a:ext cx="1082016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50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La entrevista forma parte del workflow: no es una respuesta improvisada fuera del proceso.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"/>
          <p:cNvSpPr/>
          <p:nvPr/>
        </p:nvSpPr>
        <p:spPr>
          <a:xfrm>
            <a:off x="1676160" y="3981240"/>
            <a:ext cx="238320" cy="360"/>
          </a:xfrm>
          <a:prstGeom prst="line">
            <a:avLst/>
          </a:prstGeom>
          <a:ln w="19050">
            <a:solidFill>
              <a:srgbClr val="007A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"/>
          <p:cNvSpPr/>
          <p:nvPr/>
        </p:nvSpPr>
        <p:spPr>
          <a:xfrm>
            <a:off x="1876320" y="3933720"/>
            <a:ext cx="95040" cy="95040"/>
          </a:xfrm>
          <a:prstGeom prst="triangle">
            <a:avLst>
              <a:gd name="adj" fmla="val 50000"/>
            </a:avLst>
          </a:prstGeom>
          <a:solidFill>
            <a:srgbClr val="007AB8"/>
          </a:solidFill>
          <a:ln w="0">
            <a:solidFill>
              <a:srgbClr val="007AB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"/>
          <p:cNvSpPr/>
          <p:nvPr/>
        </p:nvSpPr>
        <p:spPr>
          <a:xfrm>
            <a:off x="361800" y="3476520"/>
            <a:ext cx="1294920" cy="1009440"/>
          </a:xfrm>
          <a:prstGeom prst="roundRect">
            <a:avLst>
              <a:gd name="adj" fmla="val 11321"/>
            </a:avLst>
          </a:prstGeom>
          <a:solidFill>
            <a:srgbClr val="F2F7FB"/>
          </a:solidFill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"/>
          <p:cNvSpPr/>
          <p:nvPr/>
        </p:nvSpPr>
        <p:spPr>
          <a:xfrm>
            <a:off x="476280" y="3629160"/>
            <a:ext cx="1066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05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EXTRACT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"/>
          <p:cNvSpPr/>
          <p:nvPr/>
        </p:nvSpPr>
        <p:spPr>
          <a:xfrm>
            <a:off x="495360" y="3943440"/>
            <a:ext cx="102852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05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hechos + plan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"/>
          <p:cNvSpPr/>
          <p:nvPr/>
        </p:nvSpPr>
        <p:spPr>
          <a:xfrm>
            <a:off x="3352680" y="3981240"/>
            <a:ext cx="237960" cy="360"/>
          </a:xfrm>
          <a:prstGeom prst="line">
            <a:avLst/>
          </a:prstGeom>
          <a:ln w="19050">
            <a:solidFill>
              <a:srgbClr val="007A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"/>
          <p:cNvSpPr/>
          <p:nvPr/>
        </p:nvSpPr>
        <p:spPr>
          <a:xfrm>
            <a:off x="3552840" y="3933720"/>
            <a:ext cx="95040" cy="95040"/>
          </a:xfrm>
          <a:prstGeom prst="triangle">
            <a:avLst>
              <a:gd name="adj" fmla="val 50000"/>
            </a:avLst>
          </a:prstGeom>
          <a:solidFill>
            <a:srgbClr val="007AB8"/>
          </a:solidFill>
          <a:ln w="0">
            <a:solidFill>
              <a:srgbClr val="007AB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"/>
          <p:cNvSpPr/>
          <p:nvPr/>
        </p:nvSpPr>
        <p:spPr>
          <a:xfrm>
            <a:off x="2038320" y="3476520"/>
            <a:ext cx="1294920" cy="1009440"/>
          </a:xfrm>
          <a:prstGeom prst="roundRect">
            <a:avLst>
              <a:gd name="adj" fmla="val 11321"/>
            </a:avLst>
          </a:prstGeom>
          <a:solidFill>
            <a:srgbClr val="F2F7FB"/>
          </a:solidFill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"/>
          <p:cNvSpPr/>
          <p:nvPr/>
        </p:nvSpPr>
        <p:spPr>
          <a:xfrm>
            <a:off x="2152800" y="3629160"/>
            <a:ext cx="1066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05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RETRIEVE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"/>
          <p:cNvSpPr/>
          <p:nvPr/>
        </p:nvSpPr>
        <p:spPr>
          <a:xfrm>
            <a:off x="2171880" y="3943440"/>
            <a:ext cx="102852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05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criterios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"/>
          <p:cNvSpPr/>
          <p:nvPr/>
        </p:nvSpPr>
        <p:spPr>
          <a:xfrm>
            <a:off x="5029200" y="3981240"/>
            <a:ext cx="237960" cy="360"/>
          </a:xfrm>
          <a:prstGeom prst="line">
            <a:avLst/>
          </a:prstGeom>
          <a:ln w="19050">
            <a:solidFill>
              <a:srgbClr val="007A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"/>
          <p:cNvSpPr/>
          <p:nvPr/>
        </p:nvSpPr>
        <p:spPr>
          <a:xfrm>
            <a:off x="5229360" y="3933720"/>
            <a:ext cx="95040" cy="95040"/>
          </a:xfrm>
          <a:prstGeom prst="triangle">
            <a:avLst>
              <a:gd name="adj" fmla="val 50000"/>
            </a:avLst>
          </a:prstGeom>
          <a:solidFill>
            <a:srgbClr val="007AB8"/>
          </a:solidFill>
          <a:ln w="0">
            <a:solidFill>
              <a:srgbClr val="007AB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"/>
          <p:cNvSpPr/>
          <p:nvPr/>
        </p:nvSpPr>
        <p:spPr>
          <a:xfrm>
            <a:off x="3714840" y="3476520"/>
            <a:ext cx="1294920" cy="1009440"/>
          </a:xfrm>
          <a:prstGeom prst="roundRect">
            <a:avLst>
              <a:gd name="adj" fmla="val 11321"/>
            </a:avLst>
          </a:prstGeom>
          <a:solidFill>
            <a:srgbClr val="F2F7FB"/>
          </a:solidFill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"/>
          <p:cNvSpPr/>
          <p:nvPr/>
        </p:nvSpPr>
        <p:spPr>
          <a:xfrm>
            <a:off x="3828960" y="3629160"/>
            <a:ext cx="1066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05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APPLY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"/>
          <p:cNvSpPr/>
          <p:nvPr/>
        </p:nvSpPr>
        <p:spPr>
          <a:xfrm>
            <a:off x="3848040" y="3943440"/>
            <a:ext cx="102852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05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reglas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"/>
          <p:cNvSpPr/>
          <p:nvPr/>
        </p:nvSpPr>
        <p:spPr>
          <a:xfrm>
            <a:off x="6705360" y="3981240"/>
            <a:ext cx="238320" cy="360"/>
          </a:xfrm>
          <a:prstGeom prst="line">
            <a:avLst/>
          </a:prstGeom>
          <a:ln w="19050">
            <a:solidFill>
              <a:srgbClr val="007A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"/>
          <p:cNvSpPr/>
          <p:nvPr/>
        </p:nvSpPr>
        <p:spPr>
          <a:xfrm>
            <a:off x="6905520" y="3933720"/>
            <a:ext cx="95040" cy="95040"/>
          </a:xfrm>
          <a:prstGeom prst="triangle">
            <a:avLst>
              <a:gd name="adj" fmla="val 50000"/>
            </a:avLst>
          </a:prstGeom>
          <a:solidFill>
            <a:srgbClr val="007AB8"/>
          </a:solidFill>
          <a:ln w="0">
            <a:solidFill>
              <a:srgbClr val="007AB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"/>
          <p:cNvSpPr/>
          <p:nvPr/>
        </p:nvSpPr>
        <p:spPr>
          <a:xfrm>
            <a:off x="5391000" y="3476520"/>
            <a:ext cx="1294920" cy="1009440"/>
          </a:xfrm>
          <a:prstGeom prst="roundRect">
            <a:avLst>
              <a:gd name="adj" fmla="val 11321"/>
            </a:avLst>
          </a:prstGeom>
          <a:solidFill>
            <a:srgbClr val="F2F7FB"/>
          </a:solidFill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"/>
          <p:cNvSpPr/>
          <p:nvPr/>
        </p:nvSpPr>
        <p:spPr>
          <a:xfrm>
            <a:off x="5505480" y="3629160"/>
            <a:ext cx="1066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05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PLAN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"/>
          <p:cNvSpPr/>
          <p:nvPr/>
        </p:nvSpPr>
        <p:spPr>
          <a:xfrm>
            <a:off x="5524560" y="3943440"/>
            <a:ext cx="102852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05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entrevista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"/>
          <p:cNvSpPr/>
          <p:nvPr/>
        </p:nvSpPr>
        <p:spPr>
          <a:xfrm>
            <a:off x="8381880" y="3981240"/>
            <a:ext cx="237960" cy="360"/>
          </a:xfrm>
          <a:prstGeom prst="line">
            <a:avLst/>
          </a:prstGeom>
          <a:ln w="19050">
            <a:solidFill>
              <a:srgbClr val="007A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"/>
          <p:cNvSpPr/>
          <p:nvPr/>
        </p:nvSpPr>
        <p:spPr>
          <a:xfrm>
            <a:off x="8582040" y="3933720"/>
            <a:ext cx="95040" cy="95040"/>
          </a:xfrm>
          <a:prstGeom prst="triangle">
            <a:avLst>
              <a:gd name="adj" fmla="val 50000"/>
            </a:avLst>
          </a:prstGeom>
          <a:solidFill>
            <a:srgbClr val="007AB8"/>
          </a:solidFill>
          <a:ln w="0">
            <a:solidFill>
              <a:srgbClr val="007AB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"/>
          <p:cNvSpPr/>
          <p:nvPr/>
        </p:nvSpPr>
        <p:spPr>
          <a:xfrm>
            <a:off x="7067520" y="3476520"/>
            <a:ext cx="1294920" cy="1009440"/>
          </a:xfrm>
          <a:prstGeom prst="roundRect">
            <a:avLst>
              <a:gd name="adj" fmla="val 11321"/>
            </a:avLst>
          </a:prstGeom>
          <a:solidFill>
            <a:srgbClr val="F5A62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"/>
          <p:cNvSpPr/>
          <p:nvPr/>
        </p:nvSpPr>
        <p:spPr>
          <a:xfrm>
            <a:off x="7182000" y="3629160"/>
            <a:ext cx="1066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0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GATE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"/>
          <p:cNvSpPr/>
          <p:nvPr/>
        </p:nvSpPr>
        <p:spPr>
          <a:xfrm>
            <a:off x="7201080" y="3943440"/>
            <a:ext cx="102852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0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¿falta información?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"/>
          <p:cNvSpPr/>
          <p:nvPr/>
        </p:nvSpPr>
        <p:spPr>
          <a:xfrm>
            <a:off x="10058400" y="3981240"/>
            <a:ext cx="237960" cy="360"/>
          </a:xfrm>
          <a:prstGeom prst="line">
            <a:avLst/>
          </a:prstGeom>
          <a:ln w="19050">
            <a:solidFill>
              <a:srgbClr val="007A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"/>
          <p:cNvSpPr/>
          <p:nvPr/>
        </p:nvSpPr>
        <p:spPr>
          <a:xfrm>
            <a:off x="10258560" y="3933720"/>
            <a:ext cx="95040" cy="95040"/>
          </a:xfrm>
          <a:prstGeom prst="triangle">
            <a:avLst>
              <a:gd name="adj" fmla="val 50000"/>
            </a:avLst>
          </a:prstGeom>
          <a:solidFill>
            <a:srgbClr val="007AB8"/>
          </a:solidFill>
          <a:ln w="0">
            <a:solidFill>
              <a:srgbClr val="007AB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"/>
          <p:cNvSpPr/>
          <p:nvPr/>
        </p:nvSpPr>
        <p:spPr>
          <a:xfrm>
            <a:off x="8744040" y="3476520"/>
            <a:ext cx="1294920" cy="1009440"/>
          </a:xfrm>
          <a:prstGeom prst="roundRect">
            <a:avLst>
              <a:gd name="adj" fmla="val 11321"/>
            </a:avLst>
          </a:prstGeom>
          <a:solidFill>
            <a:srgbClr val="F2F7FB"/>
          </a:solidFill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"/>
          <p:cNvSpPr/>
          <p:nvPr/>
        </p:nvSpPr>
        <p:spPr>
          <a:xfrm>
            <a:off x="8858160" y="3629160"/>
            <a:ext cx="1066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05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EXPLAIN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"/>
          <p:cNvSpPr/>
          <p:nvPr/>
        </p:nvSpPr>
        <p:spPr>
          <a:xfrm>
            <a:off x="8877240" y="3943440"/>
            <a:ext cx="102852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05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resultado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"/>
          <p:cNvSpPr/>
          <p:nvPr/>
        </p:nvSpPr>
        <p:spPr>
          <a:xfrm>
            <a:off x="10420200" y="3476520"/>
            <a:ext cx="1294920" cy="1009440"/>
          </a:xfrm>
          <a:prstGeom prst="roundRect">
            <a:avLst>
              <a:gd name="adj" fmla="val 11321"/>
            </a:avLst>
          </a:prstGeom>
          <a:solidFill>
            <a:srgbClr val="00A6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"/>
          <p:cNvSpPr/>
          <p:nvPr/>
        </p:nvSpPr>
        <p:spPr>
          <a:xfrm>
            <a:off x="10534680" y="3629160"/>
            <a:ext cx="1066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0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VALIDATE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"/>
          <p:cNvSpPr/>
          <p:nvPr/>
        </p:nvSpPr>
        <p:spPr>
          <a:xfrm>
            <a:off x="10553760" y="3943440"/>
            <a:ext cx="102852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0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salida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"/>
          <p:cNvSpPr/>
          <p:nvPr/>
        </p:nvSpPr>
        <p:spPr>
          <a:xfrm>
            <a:off x="3714480" y="4762440"/>
            <a:ext cx="3429000" cy="360"/>
          </a:xfrm>
          <a:prstGeom prst="line">
            <a:avLst/>
          </a:prstGeom>
          <a:ln w="19050">
            <a:solidFill>
              <a:srgbClr val="00A6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"/>
          <p:cNvSpPr/>
          <p:nvPr/>
        </p:nvSpPr>
        <p:spPr>
          <a:xfrm>
            <a:off x="4114800" y="4905360"/>
            <a:ext cx="2619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00A6A6"/>
                </a:solidFill>
                <a:effectLst/>
                <a:uFillTx/>
                <a:latin typeface="Arial"/>
              </a:rPr>
              <a:t>↶  si responde, reextraer hechos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"/>
          <p:cNvSpPr/>
          <p:nvPr/>
        </p:nvSpPr>
        <p:spPr>
          <a:xfrm>
            <a:off x="685800" y="5657760"/>
            <a:ext cx="1082016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350" b="1" u="none" strike="noStrike">
                <a:solidFill>
                  <a:srgbClr val="003781"/>
                </a:solidFill>
                <a:effectLst/>
                <a:uFillTx/>
                <a:latin typeface="Arial"/>
              </a:rPr>
              <a:t>La ejecución conserva el hilo mediante un checkpointer y limita el número de rondas de aclaración.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37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"/>
          <p:cNvSpPr/>
          <p:nvPr/>
        </p:nvSpPr>
        <p:spPr>
          <a:xfrm>
            <a:off x="685800" y="324000"/>
            <a:ext cx="4476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900" b="1" u="none" strike="noStrike">
                <a:solidFill>
                  <a:srgbClr val="A9D4EA"/>
                </a:solidFill>
                <a:effectLst/>
                <a:uFillTx/>
                <a:latin typeface="Arial"/>
              </a:rPr>
              <a:t>MODO SINIESTRO · DECISIÓN</a:t>
            </a:r>
            <a:endParaRPr lang="es-E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"/>
          <p:cNvSpPr/>
          <p:nvPr/>
        </p:nvSpPr>
        <p:spPr>
          <a:xfrm>
            <a:off x="685800" y="666720"/>
            <a:ext cx="10820160" cy="360"/>
          </a:xfrm>
          <a:prstGeom prst="line">
            <a:avLst/>
          </a:prstGeom>
          <a:ln w="9525">
            <a:solidFill>
              <a:srgbClr val="3D699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"/>
          <p:cNvSpPr/>
          <p:nvPr/>
        </p:nvSpPr>
        <p:spPr>
          <a:xfrm>
            <a:off x="9563040" y="237960"/>
            <a:ext cx="1142640" cy="26640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2" name=""/>
          <p:cNvPicPr/>
          <p:nvPr/>
        </p:nvPicPr>
        <p:blipFill>
          <a:blip r:embed="rId1"/>
          <a:srcRect l="0" t="10054" r="0" b="10054"/>
          <a:stretch/>
        </p:blipFill>
        <p:spPr>
          <a:xfrm>
            <a:off x="9696600" y="285840"/>
            <a:ext cx="875880" cy="18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3" name=""/>
          <p:cNvSpPr/>
          <p:nvPr/>
        </p:nvSpPr>
        <p:spPr>
          <a:xfrm>
            <a:off x="11049120" y="324000"/>
            <a:ext cx="4568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</a:pPr>
            <a:r>
              <a:rPr lang="es-ES" sz="900" b="1" u="none" strike="noStrike">
                <a:solidFill>
                  <a:srgbClr val="A9D4EA"/>
                </a:solidFill>
                <a:effectLst/>
                <a:uFillTx/>
                <a:latin typeface="Arial"/>
              </a:rPr>
              <a:t>14</a:t>
            </a:r>
            <a:endParaRPr lang="es-E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"/>
          <p:cNvSpPr/>
          <p:nvPr/>
        </p:nvSpPr>
        <p:spPr>
          <a:xfrm>
            <a:off x="685800" y="1000080"/>
            <a:ext cx="10820160" cy="99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3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El LLM estructura y explica; el motor determinístico decide con hechos explícitos.</a:t>
            </a:r>
            <a:endParaRPr lang="es-E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"/>
          <p:cNvSpPr/>
          <p:nvPr/>
        </p:nvSpPr>
        <p:spPr>
          <a:xfrm>
            <a:off x="685800" y="2190600"/>
            <a:ext cx="1082016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500" b="0" u="none" strike="noStrike">
                <a:solidFill>
                  <a:srgbClr val="D7EAF7"/>
                </a:solidFill>
                <a:effectLst/>
                <a:uFillTx/>
                <a:latin typeface="Arial"/>
              </a:rPr>
              <a:t>La separación impide que una redacción convincente sobrescriba el resultado de las reglas.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"/>
          <p:cNvSpPr/>
          <p:nvPr/>
        </p:nvSpPr>
        <p:spPr>
          <a:xfrm>
            <a:off x="2295360" y="4171680"/>
            <a:ext cx="352440" cy="360"/>
          </a:xfrm>
          <a:prstGeom prst="line">
            <a:avLst/>
          </a:prstGeom>
          <a:ln w="19050">
            <a:solidFill>
              <a:srgbClr val="74B6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"/>
          <p:cNvSpPr/>
          <p:nvPr/>
        </p:nvSpPr>
        <p:spPr>
          <a:xfrm>
            <a:off x="2610000" y="4124160"/>
            <a:ext cx="95040" cy="95040"/>
          </a:xfrm>
          <a:prstGeom prst="triangle">
            <a:avLst>
              <a:gd name="adj" fmla="val 50000"/>
            </a:avLst>
          </a:prstGeom>
          <a:solidFill>
            <a:srgbClr val="74B6D8"/>
          </a:solidFill>
          <a:ln w="0">
            <a:solidFill>
              <a:srgbClr val="74B6D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"/>
          <p:cNvSpPr/>
          <p:nvPr/>
        </p:nvSpPr>
        <p:spPr>
          <a:xfrm>
            <a:off x="409680" y="3571920"/>
            <a:ext cx="1847520" cy="1199880"/>
          </a:xfrm>
          <a:prstGeom prst="roundRect">
            <a:avLst>
              <a:gd name="adj" fmla="val 9524"/>
            </a:avLst>
          </a:prstGeom>
          <a:solidFill>
            <a:srgbClr val="0B4D94"/>
          </a:solidFill>
          <a:ln w="9525">
            <a:solidFill>
              <a:srgbClr val="4D8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"/>
          <p:cNvSpPr/>
          <p:nvPr/>
        </p:nvSpPr>
        <p:spPr>
          <a:xfrm>
            <a:off x="523800" y="3724200"/>
            <a:ext cx="1618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80" b="1" u="none" strike="noStrike">
                <a:solidFill>
                  <a:srgbClr val="AFD7EA"/>
                </a:solidFill>
                <a:effectLst/>
                <a:uFillTx/>
                <a:latin typeface="Arial"/>
              </a:rPr>
              <a:t>HECHOS</a:t>
            </a:r>
            <a:endParaRPr lang="es-E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"/>
          <p:cNvSpPr/>
          <p:nvPr/>
        </p:nvSpPr>
        <p:spPr>
          <a:xfrm>
            <a:off x="542880" y="4038480"/>
            <a:ext cx="158076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valores expresos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y contradicciones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"/>
          <p:cNvSpPr/>
          <p:nvPr/>
        </p:nvSpPr>
        <p:spPr>
          <a:xfrm>
            <a:off x="4638600" y="4171680"/>
            <a:ext cx="352440" cy="360"/>
          </a:xfrm>
          <a:prstGeom prst="line">
            <a:avLst/>
          </a:prstGeom>
          <a:ln w="19050">
            <a:solidFill>
              <a:srgbClr val="74B6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"/>
          <p:cNvSpPr/>
          <p:nvPr/>
        </p:nvSpPr>
        <p:spPr>
          <a:xfrm>
            <a:off x="4952880" y="4124160"/>
            <a:ext cx="95040" cy="95040"/>
          </a:xfrm>
          <a:prstGeom prst="triangle">
            <a:avLst>
              <a:gd name="adj" fmla="val 50000"/>
            </a:avLst>
          </a:prstGeom>
          <a:solidFill>
            <a:srgbClr val="74B6D8"/>
          </a:solidFill>
          <a:ln w="0">
            <a:solidFill>
              <a:srgbClr val="74B6D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"/>
          <p:cNvSpPr/>
          <p:nvPr/>
        </p:nvSpPr>
        <p:spPr>
          <a:xfrm>
            <a:off x="2752560" y="3571920"/>
            <a:ext cx="1847520" cy="1199880"/>
          </a:xfrm>
          <a:prstGeom prst="roundRect">
            <a:avLst>
              <a:gd name="adj" fmla="val 9524"/>
            </a:avLst>
          </a:prstGeom>
          <a:solidFill>
            <a:srgbClr val="0B4D94"/>
          </a:solidFill>
          <a:ln w="9525">
            <a:solidFill>
              <a:srgbClr val="4D8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"/>
          <p:cNvSpPr/>
          <p:nvPr/>
        </p:nvSpPr>
        <p:spPr>
          <a:xfrm>
            <a:off x="2867040" y="3724200"/>
            <a:ext cx="1618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80" b="1" u="none" strike="noStrike">
                <a:solidFill>
                  <a:srgbClr val="AFD7EA"/>
                </a:solidFill>
                <a:effectLst/>
                <a:uFillTx/>
                <a:latin typeface="Arial"/>
              </a:rPr>
              <a:t>APLICABILIDAD</a:t>
            </a:r>
            <a:endParaRPr lang="es-E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"/>
          <p:cNvSpPr/>
          <p:nvPr/>
        </p:nvSpPr>
        <p:spPr>
          <a:xfrm>
            <a:off x="2886120" y="4038480"/>
            <a:ext cx="158076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puertas CIDE /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ASCIDE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"/>
          <p:cNvSpPr/>
          <p:nvPr/>
        </p:nvSpPr>
        <p:spPr>
          <a:xfrm>
            <a:off x="6981480" y="4171680"/>
            <a:ext cx="352440" cy="360"/>
          </a:xfrm>
          <a:prstGeom prst="line">
            <a:avLst/>
          </a:prstGeom>
          <a:ln w="19050">
            <a:solidFill>
              <a:srgbClr val="74B6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"/>
          <p:cNvSpPr/>
          <p:nvPr/>
        </p:nvSpPr>
        <p:spPr>
          <a:xfrm>
            <a:off x="7296120" y="4124160"/>
            <a:ext cx="95040" cy="95040"/>
          </a:xfrm>
          <a:prstGeom prst="triangle">
            <a:avLst>
              <a:gd name="adj" fmla="val 50000"/>
            </a:avLst>
          </a:prstGeom>
          <a:solidFill>
            <a:srgbClr val="74B6D8"/>
          </a:solidFill>
          <a:ln w="0">
            <a:solidFill>
              <a:srgbClr val="74B6D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"/>
          <p:cNvSpPr/>
          <p:nvPr/>
        </p:nvSpPr>
        <p:spPr>
          <a:xfrm>
            <a:off x="5095800" y="3571920"/>
            <a:ext cx="1847520" cy="1199880"/>
          </a:xfrm>
          <a:prstGeom prst="roundRect">
            <a:avLst>
              <a:gd name="adj" fmla="val 9524"/>
            </a:avLst>
          </a:prstGeom>
          <a:solidFill>
            <a:srgbClr val="0B4D94"/>
          </a:solidFill>
          <a:ln w="9525">
            <a:solidFill>
              <a:srgbClr val="4D8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"/>
          <p:cNvSpPr/>
          <p:nvPr/>
        </p:nvSpPr>
        <p:spPr>
          <a:xfrm>
            <a:off x="5210280" y="3724200"/>
            <a:ext cx="1618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80" b="1" u="none" strike="noStrike">
                <a:solidFill>
                  <a:srgbClr val="AFD7EA"/>
                </a:solidFill>
                <a:effectLst/>
                <a:uFillTx/>
                <a:latin typeface="Arial"/>
              </a:rPr>
              <a:t>RULESET</a:t>
            </a:r>
            <a:endParaRPr lang="es-E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"/>
          <p:cNvSpPr/>
          <p:nvPr/>
        </p:nvSpPr>
        <p:spPr>
          <a:xfrm>
            <a:off x="5229360" y="4038480"/>
            <a:ext cx="158076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predicados cerrados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y versionados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"/>
          <p:cNvSpPr/>
          <p:nvPr/>
        </p:nvSpPr>
        <p:spPr>
          <a:xfrm>
            <a:off x="9324720" y="4171680"/>
            <a:ext cx="352440" cy="360"/>
          </a:xfrm>
          <a:prstGeom prst="line">
            <a:avLst/>
          </a:prstGeom>
          <a:ln w="19050">
            <a:solidFill>
              <a:srgbClr val="74B6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"/>
          <p:cNvSpPr/>
          <p:nvPr/>
        </p:nvSpPr>
        <p:spPr>
          <a:xfrm>
            <a:off x="9639360" y="4124160"/>
            <a:ext cx="95040" cy="95040"/>
          </a:xfrm>
          <a:prstGeom prst="triangle">
            <a:avLst>
              <a:gd name="adj" fmla="val 50000"/>
            </a:avLst>
          </a:prstGeom>
          <a:solidFill>
            <a:srgbClr val="74B6D8"/>
          </a:solidFill>
          <a:ln w="0">
            <a:solidFill>
              <a:srgbClr val="74B6D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"/>
          <p:cNvSpPr/>
          <p:nvPr/>
        </p:nvSpPr>
        <p:spPr>
          <a:xfrm>
            <a:off x="7439040" y="3571920"/>
            <a:ext cx="1847520" cy="1199880"/>
          </a:xfrm>
          <a:prstGeom prst="roundRect">
            <a:avLst>
              <a:gd name="adj" fmla="val 9524"/>
            </a:avLst>
          </a:prstGeom>
          <a:solidFill>
            <a:srgbClr val="0B4D94"/>
          </a:solidFill>
          <a:ln w="9525">
            <a:solidFill>
              <a:srgbClr val="4D8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"/>
          <p:cNvSpPr/>
          <p:nvPr/>
        </p:nvSpPr>
        <p:spPr>
          <a:xfrm>
            <a:off x="7553160" y="3724200"/>
            <a:ext cx="1618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80" b="1" u="none" strike="noStrike">
                <a:solidFill>
                  <a:srgbClr val="AFD7EA"/>
                </a:solidFill>
                <a:effectLst/>
                <a:uFillTx/>
                <a:latin typeface="Arial"/>
              </a:rPr>
              <a:t>MATRIZ CIDE</a:t>
            </a:r>
            <a:endParaRPr lang="es-E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"/>
          <p:cNvSpPr/>
          <p:nvPr/>
        </p:nvSpPr>
        <p:spPr>
          <a:xfrm>
            <a:off x="7572240" y="4038480"/>
            <a:ext cx="158076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18 × 18 +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observaciones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"/>
          <p:cNvSpPr/>
          <p:nvPr/>
        </p:nvSpPr>
        <p:spPr>
          <a:xfrm>
            <a:off x="9782280" y="3571920"/>
            <a:ext cx="1847520" cy="1199880"/>
          </a:xfrm>
          <a:prstGeom prst="roundRect">
            <a:avLst>
              <a:gd name="adj" fmla="val 9524"/>
            </a:avLst>
          </a:prstGeom>
          <a:solidFill>
            <a:srgbClr val="00A6A6"/>
          </a:solidFill>
          <a:ln w="9525">
            <a:solidFill>
              <a:srgbClr val="4D8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"/>
          <p:cNvSpPr/>
          <p:nvPr/>
        </p:nvSpPr>
        <p:spPr>
          <a:xfrm>
            <a:off x="9896400" y="3724200"/>
            <a:ext cx="1618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80" b="1" u="none" strike="noStrike">
                <a:solidFill>
                  <a:srgbClr val="AFD7EA"/>
                </a:solidFill>
                <a:effectLst/>
                <a:uFillTx/>
                <a:latin typeface="Arial"/>
              </a:rPr>
              <a:t>RESULTADO</a:t>
            </a:r>
            <a:endParaRPr lang="es-E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"/>
          <p:cNvSpPr/>
          <p:nvPr/>
        </p:nvSpPr>
        <p:spPr>
          <a:xfrm>
            <a:off x="9915480" y="4038480"/>
            <a:ext cx="158076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resuelto · condicional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s-E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· indeterminado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"/>
          <p:cNvSpPr/>
          <p:nvPr/>
        </p:nvSpPr>
        <p:spPr>
          <a:xfrm>
            <a:off x="685800" y="5619600"/>
            <a:ext cx="1082016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430" b="1" u="none" strike="noStrike">
                <a:solidFill>
                  <a:srgbClr val="D8EBF7"/>
                </a:solidFill>
                <a:effectLst/>
                <a:uFillTx/>
                <a:latin typeface="Arial"/>
              </a:rPr>
              <a:t>Si una regla necesita un hecho ausente, devuelve insufficient_data: no fabrica la condición.</a:t>
            </a:r>
            <a:endParaRPr lang="es-ES" sz="14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"/>
          <p:cNvSpPr/>
          <p:nvPr/>
        </p:nvSpPr>
        <p:spPr>
          <a:xfrm>
            <a:off x="685800" y="324000"/>
            <a:ext cx="4476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90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OBSERVABILIDAD CON LANGFUSE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"/>
          <p:cNvSpPr/>
          <p:nvPr/>
        </p:nvSpPr>
        <p:spPr>
          <a:xfrm>
            <a:off x="685800" y="666720"/>
            <a:ext cx="10820160" cy="360"/>
          </a:xfrm>
          <a:prstGeom prst="line">
            <a:avLst/>
          </a:prstGeom>
          <a:ln w="9525">
            <a:solidFill>
              <a:srgbClr val="C9D9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"/>
          <p:cNvSpPr/>
          <p:nvPr/>
        </p:nvSpPr>
        <p:spPr>
          <a:xfrm>
            <a:off x="9563040" y="237960"/>
            <a:ext cx="1142640" cy="26640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3" name=""/>
          <p:cNvPicPr/>
          <p:nvPr/>
        </p:nvPicPr>
        <p:blipFill>
          <a:blip r:embed="rId1"/>
          <a:srcRect l="0" t="10054" r="0" b="10054"/>
          <a:stretch/>
        </p:blipFill>
        <p:spPr>
          <a:xfrm>
            <a:off x="9696600" y="285840"/>
            <a:ext cx="875880" cy="18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"/>
          <p:cNvSpPr/>
          <p:nvPr/>
        </p:nvSpPr>
        <p:spPr>
          <a:xfrm>
            <a:off x="11049120" y="324000"/>
            <a:ext cx="4568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</a:pPr>
            <a:r>
              <a:rPr lang="es-ES" sz="900" b="1" u="none" strike="noStrike">
                <a:solidFill>
                  <a:srgbClr val="71859B"/>
                </a:solidFill>
                <a:effectLst/>
                <a:uFillTx/>
                <a:latin typeface="Arial"/>
              </a:rPr>
              <a:t>15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"/>
          <p:cNvSpPr/>
          <p:nvPr/>
        </p:nvSpPr>
        <p:spPr>
          <a:xfrm>
            <a:off x="685800" y="1000080"/>
            <a:ext cx="10820160" cy="99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300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Cada respuesta puede recorrerse desde la sesión hasta la llamada concreta al modelo.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"/>
          <p:cNvSpPr/>
          <p:nvPr/>
        </p:nvSpPr>
        <p:spPr>
          <a:xfrm>
            <a:off x="685800" y="2190600"/>
            <a:ext cx="1082016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500" b="0" u="none" strike="noStrike">
                <a:solidFill>
                  <a:srgbClr val="49627F"/>
                </a:solidFill>
                <a:effectLst/>
                <a:uFillTx/>
                <a:latin typeface="Arial"/>
              </a:rPr>
              <a:t>La observabilidad y la evaluación utilizan el mismo caso de uso que sirve la API.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"/>
          <p:cNvSpPr/>
          <p:nvPr/>
        </p:nvSpPr>
        <p:spPr>
          <a:xfrm>
            <a:off x="2333520" y="4095720"/>
            <a:ext cx="342720" cy="360"/>
          </a:xfrm>
          <a:prstGeom prst="line">
            <a:avLst/>
          </a:prstGeom>
          <a:ln w="19050">
            <a:solidFill>
              <a:srgbClr val="007A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"/>
          <p:cNvSpPr/>
          <p:nvPr/>
        </p:nvSpPr>
        <p:spPr>
          <a:xfrm>
            <a:off x="2638440" y="4048200"/>
            <a:ext cx="95040" cy="95040"/>
          </a:xfrm>
          <a:prstGeom prst="triangle">
            <a:avLst>
              <a:gd name="adj" fmla="val 50000"/>
            </a:avLst>
          </a:prstGeom>
          <a:solidFill>
            <a:srgbClr val="007AB8"/>
          </a:solidFill>
          <a:ln w="0">
            <a:solidFill>
              <a:srgbClr val="007AB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"/>
          <p:cNvSpPr/>
          <p:nvPr/>
        </p:nvSpPr>
        <p:spPr>
          <a:xfrm>
            <a:off x="428760" y="3429000"/>
            <a:ext cx="4759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202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1</a:t>
            </a:r>
            <a:endParaRPr lang="es-ES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"/>
          <p:cNvSpPr/>
          <p:nvPr/>
        </p:nvSpPr>
        <p:spPr>
          <a:xfrm>
            <a:off x="428760" y="3857760"/>
            <a:ext cx="190476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13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SESIÓN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"/>
          <p:cNvSpPr/>
          <p:nvPr/>
        </p:nvSpPr>
        <p:spPr>
          <a:xfrm>
            <a:off x="428760" y="4276800"/>
            <a:ext cx="185688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28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session_id</a:t>
            </a:r>
            <a:endParaRPr lang="es-E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"/>
          <p:cNvSpPr/>
          <p:nvPr/>
        </p:nvSpPr>
        <p:spPr>
          <a:xfrm>
            <a:off x="4686120" y="4095720"/>
            <a:ext cx="343080" cy="360"/>
          </a:xfrm>
          <a:prstGeom prst="line">
            <a:avLst/>
          </a:prstGeom>
          <a:ln w="19050">
            <a:solidFill>
              <a:srgbClr val="007A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"/>
          <p:cNvSpPr/>
          <p:nvPr/>
        </p:nvSpPr>
        <p:spPr>
          <a:xfrm>
            <a:off x="4991040" y="4048200"/>
            <a:ext cx="95040" cy="95040"/>
          </a:xfrm>
          <a:prstGeom prst="triangle">
            <a:avLst>
              <a:gd name="adj" fmla="val 50000"/>
            </a:avLst>
          </a:prstGeom>
          <a:solidFill>
            <a:srgbClr val="007AB8"/>
          </a:solidFill>
          <a:ln w="0">
            <a:solidFill>
              <a:srgbClr val="007AB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"/>
          <p:cNvSpPr/>
          <p:nvPr/>
        </p:nvSpPr>
        <p:spPr>
          <a:xfrm>
            <a:off x="2781360" y="3429000"/>
            <a:ext cx="4759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2020" b="1" u="none" strike="noStrike">
                <a:solidFill>
                  <a:srgbClr val="00A6A6"/>
                </a:solidFill>
                <a:effectLst/>
                <a:uFillTx/>
                <a:latin typeface="Arial"/>
              </a:rPr>
              <a:t>2</a:t>
            </a:r>
            <a:endParaRPr lang="es-ES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"/>
          <p:cNvSpPr/>
          <p:nvPr/>
        </p:nvSpPr>
        <p:spPr>
          <a:xfrm>
            <a:off x="2781360" y="3857760"/>
            <a:ext cx="190476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130" b="1" u="none" strike="noStrike">
                <a:solidFill>
                  <a:srgbClr val="00A6A6"/>
                </a:solidFill>
                <a:effectLst/>
                <a:uFillTx/>
                <a:latin typeface="Arial"/>
              </a:rPr>
              <a:t>WORKFLOW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"/>
          <p:cNvSpPr/>
          <p:nvPr/>
        </p:nvSpPr>
        <p:spPr>
          <a:xfrm>
            <a:off x="2781360" y="4276800"/>
            <a:ext cx="185688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28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question · claim · router</a:t>
            </a:r>
            <a:endParaRPr lang="es-E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"/>
          <p:cNvSpPr/>
          <p:nvPr/>
        </p:nvSpPr>
        <p:spPr>
          <a:xfrm>
            <a:off x="7038720" y="4095720"/>
            <a:ext cx="343080" cy="360"/>
          </a:xfrm>
          <a:prstGeom prst="line">
            <a:avLst/>
          </a:prstGeom>
          <a:ln w="19050">
            <a:solidFill>
              <a:srgbClr val="007A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"/>
          <p:cNvSpPr/>
          <p:nvPr/>
        </p:nvSpPr>
        <p:spPr>
          <a:xfrm>
            <a:off x="7343640" y="4048200"/>
            <a:ext cx="95040" cy="95040"/>
          </a:xfrm>
          <a:prstGeom prst="triangle">
            <a:avLst>
              <a:gd name="adj" fmla="val 50000"/>
            </a:avLst>
          </a:prstGeom>
          <a:solidFill>
            <a:srgbClr val="007AB8"/>
          </a:solidFill>
          <a:ln w="0">
            <a:solidFill>
              <a:srgbClr val="007AB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"/>
          <p:cNvSpPr/>
          <p:nvPr/>
        </p:nvSpPr>
        <p:spPr>
          <a:xfrm>
            <a:off x="5133960" y="3429000"/>
            <a:ext cx="4759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2020" b="1" u="none" strike="noStrike">
                <a:solidFill>
                  <a:srgbClr val="003781"/>
                </a:solidFill>
                <a:effectLst/>
                <a:uFillTx/>
                <a:latin typeface="Arial"/>
              </a:rPr>
              <a:t>3</a:t>
            </a:r>
            <a:endParaRPr lang="es-ES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"/>
          <p:cNvSpPr/>
          <p:nvPr/>
        </p:nvSpPr>
        <p:spPr>
          <a:xfrm>
            <a:off x="5133960" y="3857760"/>
            <a:ext cx="190476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130" b="1" u="none" strike="noStrike">
                <a:solidFill>
                  <a:srgbClr val="003781"/>
                </a:solidFill>
                <a:effectLst/>
                <a:uFillTx/>
                <a:latin typeface="Arial"/>
              </a:rPr>
              <a:t>RETRIEVAL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"/>
          <p:cNvSpPr/>
          <p:nvPr/>
        </p:nvSpPr>
        <p:spPr>
          <a:xfrm>
            <a:off x="5133960" y="4276800"/>
            <a:ext cx="185688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28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consulta y evidencias</a:t>
            </a:r>
            <a:endParaRPr lang="es-E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"/>
          <p:cNvSpPr/>
          <p:nvPr/>
        </p:nvSpPr>
        <p:spPr>
          <a:xfrm>
            <a:off x="9391320" y="4095720"/>
            <a:ext cx="343080" cy="360"/>
          </a:xfrm>
          <a:prstGeom prst="line">
            <a:avLst/>
          </a:prstGeom>
          <a:ln w="19050">
            <a:solidFill>
              <a:srgbClr val="007A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"/>
          <p:cNvSpPr/>
          <p:nvPr/>
        </p:nvSpPr>
        <p:spPr>
          <a:xfrm>
            <a:off x="9696600" y="4048200"/>
            <a:ext cx="95040" cy="95040"/>
          </a:xfrm>
          <a:prstGeom prst="triangle">
            <a:avLst>
              <a:gd name="adj" fmla="val 50000"/>
            </a:avLst>
          </a:prstGeom>
          <a:solidFill>
            <a:srgbClr val="007AB8"/>
          </a:solidFill>
          <a:ln w="0">
            <a:solidFill>
              <a:srgbClr val="007AB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2880" rIns="90000" bIns="288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"/>
          <p:cNvSpPr/>
          <p:nvPr/>
        </p:nvSpPr>
        <p:spPr>
          <a:xfrm>
            <a:off x="7486560" y="3429000"/>
            <a:ext cx="4759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202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4</a:t>
            </a:r>
            <a:endParaRPr lang="es-ES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"/>
          <p:cNvSpPr/>
          <p:nvPr/>
        </p:nvSpPr>
        <p:spPr>
          <a:xfrm>
            <a:off x="7486560" y="3857760"/>
            <a:ext cx="190476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130" b="1" u="none" strike="noStrike">
                <a:solidFill>
                  <a:srgbClr val="007AB8"/>
                </a:solidFill>
                <a:effectLst/>
                <a:uFillTx/>
                <a:latin typeface="Arial"/>
              </a:rPr>
              <a:t>GENERACIONES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"/>
          <p:cNvSpPr/>
          <p:nvPr/>
        </p:nvSpPr>
        <p:spPr>
          <a:xfrm>
            <a:off x="7486560" y="4276800"/>
            <a:ext cx="185688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28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modelo · tokens · coste</a:t>
            </a:r>
            <a:endParaRPr lang="es-E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"/>
          <p:cNvSpPr/>
          <p:nvPr/>
        </p:nvSpPr>
        <p:spPr>
          <a:xfrm>
            <a:off x="9839160" y="3429000"/>
            <a:ext cx="4759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2020" b="1" u="none" strike="noStrike">
                <a:solidFill>
                  <a:srgbClr val="00A6A6"/>
                </a:solidFill>
                <a:effectLst/>
                <a:uFillTx/>
                <a:latin typeface="Arial"/>
              </a:rPr>
              <a:t>5</a:t>
            </a:r>
            <a:endParaRPr lang="es-ES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"/>
          <p:cNvSpPr/>
          <p:nvPr/>
        </p:nvSpPr>
        <p:spPr>
          <a:xfrm>
            <a:off x="9839160" y="3857760"/>
            <a:ext cx="190476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130" b="1" u="none" strike="noStrike">
                <a:solidFill>
                  <a:srgbClr val="00A6A6"/>
                </a:solidFill>
                <a:effectLst/>
                <a:uFillTx/>
                <a:latin typeface="Arial"/>
              </a:rPr>
              <a:t>RESULTADO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"/>
          <p:cNvSpPr/>
          <p:nvPr/>
        </p:nvSpPr>
        <p:spPr>
          <a:xfrm>
            <a:off x="9839160" y="4276800"/>
            <a:ext cx="185688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280" b="1" u="none" strike="noStrike">
                <a:solidFill>
                  <a:srgbClr val="071E41"/>
                </a:solidFill>
                <a:effectLst/>
                <a:uFillTx/>
                <a:latin typeface="Arial"/>
              </a:rPr>
              <a:t>latencia · estado · score</a:t>
            </a:r>
            <a:endParaRPr lang="es-E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"/>
          <p:cNvSpPr/>
          <p:nvPr/>
        </p:nvSpPr>
        <p:spPr>
          <a:xfrm>
            <a:off x="685800" y="5362560"/>
            <a:ext cx="10820160" cy="628200"/>
          </a:xfrm>
          <a:prstGeom prst="roundRect">
            <a:avLst>
              <a:gd name="adj" fmla="val 18182"/>
            </a:avLst>
          </a:prstGeom>
          <a:solidFill>
            <a:srgbClr val="F2F7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"/>
          <p:cNvSpPr/>
          <p:nvPr/>
        </p:nvSpPr>
        <p:spPr>
          <a:xfrm>
            <a:off x="876240" y="5543640"/>
            <a:ext cx="104389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350" b="1" u="none" strike="noStrike">
                <a:solidFill>
                  <a:srgbClr val="003781"/>
                </a:solidFill>
                <a:effectLst/>
                <a:uFillTx/>
                <a:latin typeface="Arial"/>
              </a:rPr>
              <a:t>En la demo, “Ver en Langfuse” abre la traza real de la respuesta que acaba de ver el usuario.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37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"/>
          <p:cNvSpPr/>
          <p:nvPr/>
        </p:nvSpPr>
        <p:spPr>
          <a:xfrm>
            <a:off x="685800" y="324000"/>
            <a:ext cx="4476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900" b="1" u="none" strike="noStrike">
                <a:solidFill>
                  <a:srgbClr val="A9D4EA"/>
                </a:solidFill>
                <a:effectLst/>
                <a:uFillTx/>
                <a:latin typeface="Arial"/>
              </a:rPr>
              <a:t>EVALUACIÓN Y CIERRE</a:t>
            </a:r>
            <a:endParaRPr lang="es-E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"/>
          <p:cNvSpPr/>
          <p:nvPr/>
        </p:nvSpPr>
        <p:spPr>
          <a:xfrm>
            <a:off x="685800" y="666720"/>
            <a:ext cx="10820160" cy="360"/>
          </a:xfrm>
          <a:prstGeom prst="line">
            <a:avLst/>
          </a:prstGeom>
          <a:ln w="9525">
            <a:solidFill>
              <a:srgbClr val="3D699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"/>
          <p:cNvSpPr/>
          <p:nvPr/>
        </p:nvSpPr>
        <p:spPr>
          <a:xfrm>
            <a:off x="9563040" y="237960"/>
            <a:ext cx="1142640" cy="26640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5" name=""/>
          <p:cNvPicPr/>
          <p:nvPr/>
        </p:nvPicPr>
        <p:blipFill>
          <a:blip r:embed="rId1"/>
          <a:srcRect l="0" t="10054" r="0" b="10054"/>
          <a:stretch/>
        </p:blipFill>
        <p:spPr>
          <a:xfrm>
            <a:off x="9696600" y="285840"/>
            <a:ext cx="875880" cy="18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6" name=""/>
          <p:cNvSpPr/>
          <p:nvPr/>
        </p:nvSpPr>
        <p:spPr>
          <a:xfrm>
            <a:off x="11049120" y="324000"/>
            <a:ext cx="4568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</a:pPr>
            <a:r>
              <a:rPr lang="es-ES" sz="900" b="1" u="none" strike="noStrike">
                <a:solidFill>
                  <a:srgbClr val="A9D4EA"/>
                </a:solidFill>
                <a:effectLst/>
                <a:uFillTx/>
                <a:latin typeface="Arial"/>
              </a:rPr>
              <a:t>16</a:t>
            </a:r>
            <a:endParaRPr lang="es-E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"/>
          <p:cNvSpPr/>
          <p:nvPr/>
        </p:nvSpPr>
        <p:spPr>
          <a:xfrm>
            <a:off x="685800" y="1000080"/>
            <a:ext cx="10820160" cy="99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3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El Golden Set convierte la solución en algo medible, comparable y mejorable.</a:t>
            </a:r>
            <a:endParaRPr lang="es-E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"/>
          <p:cNvSpPr/>
          <p:nvPr/>
        </p:nvSpPr>
        <p:spPr>
          <a:xfrm>
            <a:off x="685800" y="2190600"/>
            <a:ext cx="1082016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500" b="0" u="none" strike="noStrike">
                <a:solidFill>
                  <a:srgbClr val="D7EAF7"/>
                </a:solidFill>
                <a:effectLst/>
                <a:uFillTx/>
                <a:latin typeface="Arial"/>
              </a:rPr>
              <a:t>La referencia sintética está versionada y separa lo que recibe la aplicación de lo que utilizan los evaluadores.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"/>
          <p:cNvSpPr/>
          <p:nvPr/>
        </p:nvSpPr>
        <p:spPr>
          <a:xfrm>
            <a:off x="685800" y="3333600"/>
            <a:ext cx="209520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3230" b="1" u="none" strike="noStrike">
                <a:solidFill>
                  <a:srgbClr val="53C4D5"/>
                </a:solidFill>
                <a:effectLst/>
                <a:uFillTx/>
                <a:latin typeface="Arial"/>
              </a:rPr>
              <a:t>110</a:t>
            </a:r>
            <a:endParaRPr lang="es-ES" sz="32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"/>
          <p:cNvSpPr/>
          <p:nvPr/>
        </p:nvSpPr>
        <p:spPr>
          <a:xfrm>
            <a:off x="685800" y="3857760"/>
            <a:ext cx="209520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D8EBF7"/>
                </a:solidFill>
                <a:effectLst/>
                <a:uFillTx/>
                <a:latin typeface="Arial"/>
              </a:rPr>
              <a:t>casos de desarrollo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"/>
          <p:cNvSpPr/>
          <p:nvPr/>
        </p:nvSpPr>
        <p:spPr>
          <a:xfrm>
            <a:off x="3143160" y="3333600"/>
            <a:ext cx="209520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3230" b="1" u="none" strike="noStrike">
                <a:solidFill>
                  <a:srgbClr val="53C4D5"/>
                </a:solidFill>
                <a:effectLst/>
                <a:uFillTx/>
                <a:latin typeface="Arial"/>
              </a:rPr>
              <a:t>111</a:t>
            </a:r>
            <a:endParaRPr lang="es-ES" sz="32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"/>
          <p:cNvSpPr/>
          <p:nvPr/>
        </p:nvSpPr>
        <p:spPr>
          <a:xfrm>
            <a:off x="3143160" y="3857760"/>
            <a:ext cx="209520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D8EBF7"/>
                </a:solidFill>
                <a:effectLst/>
                <a:uFillTx/>
                <a:latin typeface="Arial"/>
              </a:rPr>
              <a:t>evidencias del manual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"/>
          <p:cNvSpPr/>
          <p:nvPr/>
        </p:nvSpPr>
        <p:spPr>
          <a:xfrm>
            <a:off x="5619600" y="3333600"/>
            <a:ext cx="209520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3230" b="1" u="none" strike="noStrike">
                <a:solidFill>
                  <a:srgbClr val="53C4D5"/>
                </a:solidFill>
                <a:effectLst/>
                <a:uFillTx/>
                <a:latin typeface="Arial"/>
              </a:rPr>
              <a:t>v1.0.0</a:t>
            </a:r>
            <a:endParaRPr lang="es-ES" sz="32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"/>
          <p:cNvSpPr/>
          <p:nvPr/>
        </p:nvSpPr>
        <p:spPr>
          <a:xfrm>
            <a:off x="5619600" y="3857760"/>
            <a:ext cx="209520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200" b="0" u="none" strike="noStrike">
                <a:solidFill>
                  <a:srgbClr val="D8EBF7"/>
                </a:solidFill>
                <a:effectLst/>
                <a:uFillTx/>
                <a:latin typeface="Arial"/>
              </a:rPr>
              <a:t>schema versionado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"/>
          <p:cNvSpPr/>
          <p:nvPr/>
        </p:nvSpPr>
        <p:spPr>
          <a:xfrm>
            <a:off x="8096400" y="3238560"/>
            <a:ext cx="3409560" cy="1618920"/>
          </a:xfrm>
          <a:prstGeom prst="roundRect">
            <a:avLst>
              <a:gd name="adj" fmla="val 7059"/>
            </a:avLst>
          </a:prstGeom>
          <a:solidFill>
            <a:srgbClr val="0B4D94"/>
          </a:solidFill>
          <a:ln w="9525">
            <a:solidFill>
              <a:srgbClr val="4E83B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"/>
          <p:cNvSpPr/>
          <p:nvPr/>
        </p:nvSpPr>
        <p:spPr>
          <a:xfrm>
            <a:off x="8381880" y="3457440"/>
            <a:ext cx="228564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130" b="1" u="none" strike="noStrike">
                <a:solidFill>
                  <a:srgbClr val="A9D4EA"/>
                </a:solidFill>
                <a:effectLst/>
                <a:uFillTx/>
                <a:latin typeface="Arial"/>
              </a:rPr>
              <a:t>QUÉ SE MIDE</a:t>
            </a:r>
            <a:endParaRPr lang="es-ES" sz="11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"/>
          <p:cNvSpPr/>
          <p:nvPr/>
        </p:nvSpPr>
        <p:spPr>
          <a:xfrm>
            <a:off x="8381880" y="3905280"/>
            <a:ext cx="2666520" cy="59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s-ES" sz="13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retrieval · respuesta · citas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ES" sz="13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dominio · abstención · router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"/>
          <p:cNvSpPr/>
          <p:nvPr/>
        </p:nvSpPr>
        <p:spPr>
          <a:xfrm>
            <a:off x="685800" y="5391000"/>
            <a:ext cx="10820160" cy="360"/>
          </a:xfrm>
          <a:prstGeom prst="line">
            <a:avLst/>
          </a:prstGeom>
          <a:ln w="9525">
            <a:solidFill>
              <a:srgbClr val="3F6E9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"/>
          <p:cNvSpPr/>
          <p:nvPr/>
        </p:nvSpPr>
        <p:spPr>
          <a:xfrm>
            <a:off x="685800" y="5667480"/>
            <a:ext cx="1082016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s-ES" sz="16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Una solución fiable no es la que siempre responde; es la que puede demostrar por qué responde.</a:t>
            </a:r>
            <a:endParaRPr lang="es-E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 pitchFamily="0" charset="1"/>
        <a:ea typeface="Calibri Light" pitchFamily="0" charset="1"/>
        <a:cs typeface="Calibri Light" pitchFamily="0" charset="1"/>
      </a:majorFont>
      <a:minorFont>
        <a:latin typeface="Calibri" pitchFamily="0" charset="1"/>
        <a:ea typeface="Calibri" pitchFamily="0" charset="1"/>
        <a:cs typeface="Calibri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LibreOffice/26.8.0.3$MacOSX_AARCH64 LibreOffice_project/bce0998afefdbc355585ca324285661a2170ba77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2026-09-03T08:12:54Z</dcterms:created>
  <dc:creator>Walnut Exporter</dc:creator>
  <dc:description/>
  <dc:language>es-ES</dc:language>
  <cp:lastModifiedBy/>
  <dcterms:modified xsi:type="dcterms:W3CDTF">2026-09-03T10:27:56Z</dcterms:modified>
  <cp:revision>1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