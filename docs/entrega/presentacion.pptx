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
PUENTE si en la sala se usa el vocabulario del sector (integridad de dato, de modelo y de
decisión): son las mismas tres capas con otro nombre — evidencia es integridad del dato
(trazabilidad y control de calidad de la fuente), el versionado de prompts y la separación
de los cuatro usos del modelo es integridad del modelo, y las reglas firmadas más las
trazas son integridad de la decisión. Conviene tener la traducción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517380" y="2103120"/>
            <a:ext cx="3162251" cy="3730752"/>
          </a:xfrm>
          <a:prstGeom prst="roundRect">
            <a:avLst>
              <a:gd name="adj" fmla="val 2313"/>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572244" y="2157984"/>
            <a:ext cx="3052523" cy="3621024"/>
          </a:xfrm>
          <a:prstGeom prst="rect">
            <a:avLst/>
          </a:prstGeom>
        </p:spPr>
      </p:pic>
      <p:sp>
        <p:nvSpPr>
          <p:cNvPr id="9" name="Shape 5"/>
          <p:cNvSpPr/>
          <p:nvPr/>
        </p:nvSpPr>
        <p:spPr>
          <a:xfrm>
            <a:off x="566928" y="2157984"/>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40864"/>
            <a:ext cx="347472" cy="347472"/>
          </a:xfrm>
          <a:prstGeom prst="ellipse">
            <a:avLst/>
          </a:prstGeom>
          <a:solidFill>
            <a:srgbClr val="003781"/>
          </a:solidFill>
          <a:ln/>
        </p:spPr>
      </p:sp>
      <p:sp>
        <p:nvSpPr>
          <p:cNvPr id="11" name="Text 7"/>
          <p:cNvSpPr txBox="1"/>
          <p:nvPr/>
        </p:nvSpPr>
        <p:spPr>
          <a:xfrm>
            <a:off x="822960" y="2395728"/>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2" name="Text 8"/>
          <p:cNvSpPr txBox="1"/>
          <p:nvPr/>
        </p:nvSpPr>
        <p:spPr>
          <a:xfrm>
            <a:off x="1316736" y="2377440"/>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Los hechos, con su procedencia</a:t>
            </a:r>
            <a:endParaRPr lang="en-US" sz="1350" dirty="0"/>
          </a:p>
        </p:txBody>
      </p:sp>
      <p:sp>
        <p:nvSpPr>
          <p:cNvPr id="13" name="Text 9"/>
          <p:cNvSpPr txBox="1"/>
          <p:nvPr/>
        </p:nvSpPr>
        <p:spPr>
          <a:xfrm>
            <a:off x="1316736" y="2688336"/>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150" dirty="0"/>
          </a:p>
        </p:txBody>
      </p:sp>
      <p:sp>
        <p:nvSpPr>
          <p:cNvPr id="14" name="Shape 10"/>
          <p:cNvSpPr/>
          <p:nvPr/>
        </p:nvSpPr>
        <p:spPr>
          <a:xfrm>
            <a:off x="566928" y="3401568"/>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584448"/>
            <a:ext cx="347472" cy="347472"/>
          </a:xfrm>
          <a:prstGeom prst="ellipse">
            <a:avLst/>
          </a:prstGeom>
          <a:solidFill>
            <a:srgbClr val="003781"/>
          </a:solidFill>
          <a:ln/>
        </p:spPr>
      </p:sp>
      <p:sp>
        <p:nvSpPr>
          <p:cNvPr id="16" name="Text 12"/>
          <p:cNvSpPr txBox="1"/>
          <p:nvPr/>
        </p:nvSpPr>
        <p:spPr>
          <a:xfrm>
            <a:off x="822960" y="3639312"/>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7" name="Text 13"/>
          <p:cNvSpPr txBox="1"/>
          <p:nvPr/>
        </p:nvSpPr>
        <p:spPr>
          <a:xfrm>
            <a:off x="1316736" y="3621024"/>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Las catorce reglas, también las que no casan</a:t>
            </a:r>
            <a:endParaRPr lang="en-US" sz="1350" dirty="0"/>
          </a:p>
        </p:txBody>
      </p:sp>
      <p:sp>
        <p:nvSpPr>
          <p:cNvPr id="18" name="Text 14"/>
          <p:cNvSpPr txBox="1"/>
          <p:nvPr/>
        </p:nvSpPr>
        <p:spPr>
          <a:xfrm>
            <a:off x="1316736" y="3931920"/>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150" dirty="0"/>
          </a:p>
        </p:txBody>
      </p:sp>
      <p:sp>
        <p:nvSpPr>
          <p:cNvPr id="19" name="Shape 15"/>
          <p:cNvSpPr/>
          <p:nvPr/>
        </p:nvSpPr>
        <p:spPr>
          <a:xfrm>
            <a:off x="566928" y="4645152"/>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4828032"/>
            <a:ext cx="347472" cy="347472"/>
          </a:xfrm>
          <a:prstGeom prst="ellipse">
            <a:avLst/>
          </a:prstGeom>
          <a:solidFill>
            <a:srgbClr val="003781"/>
          </a:solidFill>
          <a:ln/>
        </p:spPr>
      </p:sp>
      <p:sp>
        <p:nvSpPr>
          <p:cNvPr id="21" name="Text 17"/>
          <p:cNvSpPr txBox="1"/>
          <p:nvPr/>
        </p:nvSpPr>
        <p:spPr>
          <a:xfrm>
            <a:off x="822960" y="4882896"/>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2" name="Text 18"/>
          <p:cNvSpPr txBox="1"/>
          <p:nvPr/>
        </p:nvSpPr>
        <p:spPr>
          <a:xfrm>
            <a:off x="1316736" y="4864608"/>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 decisión y la norma que la sostiene</a:t>
            </a:r>
            <a:endParaRPr lang="en-US" sz="1350" dirty="0"/>
          </a:p>
        </p:txBody>
      </p:sp>
      <p:sp>
        <p:nvSpPr>
          <p:cNvPr id="23" name="Text 19"/>
          <p:cNvSpPr txBox="1"/>
          <p:nvPr/>
        </p:nvSpPr>
        <p:spPr>
          <a:xfrm>
            <a:off x="1316736" y="5175504"/>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150" dirty="0"/>
          </a:p>
        </p:txBody>
      </p:sp>
      <p:sp>
        <p:nvSpPr>
          <p:cNvPr id="24" name="Shape 20"/>
          <p:cNvSpPr/>
          <p:nvPr/>
        </p:nvSpPr>
        <p:spPr>
          <a:xfrm>
            <a:off x="566928" y="5852160"/>
            <a:ext cx="11057839" cy="493776"/>
          </a:xfrm>
          <a:prstGeom prst="roundRect">
            <a:avLst>
              <a:gd name="adj" fmla="val 16667"/>
            </a:avLst>
          </a:prstGeom>
          <a:solidFill>
            <a:srgbClr val="003781"/>
          </a:solidFill>
          <a:ln/>
        </p:spPr>
      </p:sp>
      <p:sp>
        <p:nvSpPr>
          <p:cNvPr id="25" name="Text 2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Es la misma tarjeta que vería quien tramita el expediente: si discrepa de la conclusión, puede señalar el paso exacto — el hecho extraído, la regla aplicada o la redacción final.</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24 y 17</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tres puertos distintos —generar, extraer, clasificar— más el de embeddings.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2026-09-03T04:16:31Z</dcterms:created>
  <dcterms:modified xsi:type="dcterms:W3CDTF">2026-09-03T04:16:31Z</dcterms:modified>
</cp:coreProperties>
</file>