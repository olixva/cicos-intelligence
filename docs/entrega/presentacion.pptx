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fe9304e0a34107" /><Relationship Type="http://schemas.openxmlformats.org/officeDocument/2006/relationships/extended-properties" Target="/docProps/app.xml" Id="R69e046b6d9994371" /><Relationship Type="http://schemas.openxmlformats.org/officeDocument/2006/relationships/officeDocument" Target="/ppt/presentation.xml" Id="R4a453de753c742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15f05a33014f88"/>
  </p:sldMasterIdLst>
  <p:notesMasterIdLst>
    <p:notesMasterId xmlns:r="http://schemas.openxmlformats.org/officeDocument/2006/relationships" r:id="R39582323980b42a6"/>
  </p:notesMasterIdLst>
  <p:sldIdLst>
    <p:sldId xmlns:r="http://schemas.openxmlformats.org/officeDocument/2006/relationships" id="256" r:id="R77cec61bbc534f3e"/>
    <p:sldId xmlns:r="http://schemas.openxmlformats.org/officeDocument/2006/relationships" id="257" r:id="R3bf4253ad2e344e8"/>
    <p:sldId xmlns:r="http://schemas.openxmlformats.org/officeDocument/2006/relationships" id="258" r:id="R050e8a9ef894441e"/>
    <p:sldId xmlns:r="http://schemas.openxmlformats.org/officeDocument/2006/relationships" id="259" r:id="R4d62e296b7af436d"/>
    <p:sldId xmlns:r="http://schemas.openxmlformats.org/officeDocument/2006/relationships" id="260" r:id="Rf9e63fa4e2d043dd"/>
    <p:sldId xmlns:r="http://schemas.openxmlformats.org/officeDocument/2006/relationships" id="261" r:id="Rb98143045d02478d"/>
    <p:sldId xmlns:r="http://schemas.openxmlformats.org/officeDocument/2006/relationships" id="262" r:id="R7820bbf3b80242c8"/>
    <p:sldId xmlns:r="http://schemas.openxmlformats.org/officeDocument/2006/relationships" id="263" r:id="R53719d50f9da4d0c"/>
    <p:sldId xmlns:r="http://schemas.openxmlformats.org/officeDocument/2006/relationships" id="264" r:id="Rb55ba5d597944f9a"/>
    <p:sldId xmlns:r="http://schemas.openxmlformats.org/officeDocument/2006/relationships" id="265" r:id="R2c75b6da7afd44a5"/>
    <p:sldId xmlns:r="http://schemas.openxmlformats.org/officeDocument/2006/relationships" id="266" r:id="R0b98d3b942344293"/>
    <p:sldId xmlns:r="http://schemas.openxmlformats.org/officeDocument/2006/relationships" id="267" r:id="R60be73fe48a9491b"/>
    <p:sldId xmlns:r="http://schemas.openxmlformats.org/officeDocument/2006/relationships" id="268" r:id="R963900a812e94134"/>
    <p:sldId xmlns:r="http://schemas.openxmlformats.org/officeDocument/2006/relationships" id="269" r:id="R8d43da5a330746fb"/>
    <p:sldId xmlns:r="http://schemas.openxmlformats.org/officeDocument/2006/relationships" id="270" r:id="Rec4ab52a12be4957"/>
    <p:sldId xmlns:r="http://schemas.openxmlformats.org/officeDocument/2006/relationships" id="271" r:id="Rb12c766e29f845fd"/>
    <p:sldId xmlns:r="http://schemas.openxmlformats.org/officeDocument/2006/relationships" id="272" r:id="R6d7dbc1a0b9942a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16644df008466f" /><Relationship Type="http://schemas.openxmlformats.org/officeDocument/2006/relationships/slideMaster" Target="/ppt/slideMasters/slideMaster1.xml" Id="R8715f05a33014f88" /><Relationship Type="http://schemas.openxmlformats.org/officeDocument/2006/relationships/notesMaster" Target="/ppt/notesMasters/notesMaster1.xml" Id="R39582323980b42a6" /><Relationship Type="http://schemas.openxmlformats.org/officeDocument/2006/relationships/presProps" Target="/ppt/presProps.xml" Id="Rcd6f5f226d6241ad" /><Relationship Type="http://schemas.openxmlformats.org/officeDocument/2006/relationships/tableStyles" Target="/ppt/tableStyles.xml" Id="Ra54a002f760a45bb" /><Relationship Type="http://schemas.openxmlformats.org/officeDocument/2006/relationships/slide" Target="/ppt/slides/slide1.xml" Id="R77cec61bbc534f3e" /><Relationship Type="http://schemas.openxmlformats.org/officeDocument/2006/relationships/slide" Target="/ppt/slides/slide2.xml" Id="R3bf4253ad2e344e8" /><Relationship Type="http://schemas.openxmlformats.org/officeDocument/2006/relationships/slide" Target="/ppt/slides/slide3.xml" Id="R050e8a9ef894441e" /><Relationship Type="http://schemas.openxmlformats.org/officeDocument/2006/relationships/slide" Target="/ppt/slides/slide4.xml" Id="R4d62e296b7af436d" /><Relationship Type="http://schemas.openxmlformats.org/officeDocument/2006/relationships/slide" Target="/ppt/slides/slide5.xml" Id="Rf9e63fa4e2d043dd" /><Relationship Type="http://schemas.openxmlformats.org/officeDocument/2006/relationships/slide" Target="/ppt/slides/slide6.xml" Id="Rb98143045d02478d" /><Relationship Type="http://schemas.openxmlformats.org/officeDocument/2006/relationships/slide" Target="/ppt/slides/slide7.xml" Id="R7820bbf3b80242c8" /><Relationship Type="http://schemas.openxmlformats.org/officeDocument/2006/relationships/slide" Target="/ppt/slides/slide8.xml" Id="R53719d50f9da4d0c" /><Relationship Type="http://schemas.openxmlformats.org/officeDocument/2006/relationships/slide" Target="/ppt/slides/slide9.xml" Id="Rb55ba5d597944f9a" /><Relationship Type="http://schemas.openxmlformats.org/officeDocument/2006/relationships/slide" Target="/ppt/slides/slide10.xml" Id="R2c75b6da7afd44a5" /><Relationship Type="http://schemas.openxmlformats.org/officeDocument/2006/relationships/slide" Target="/ppt/slides/slide11.xml" Id="R0b98d3b942344293" /><Relationship Type="http://schemas.openxmlformats.org/officeDocument/2006/relationships/slide" Target="/ppt/slides/slide12.xml" Id="R60be73fe48a9491b" /><Relationship Type="http://schemas.openxmlformats.org/officeDocument/2006/relationships/slide" Target="/ppt/slides/slide13.xml" Id="R963900a812e94134" /><Relationship Type="http://schemas.openxmlformats.org/officeDocument/2006/relationships/slide" Target="/ppt/slides/slide14.xml" Id="R8d43da5a330746fb" /><Relationship Type="http://schemas.openxmlformats.org/officeDocument/2006/relationships/slide" Target="/ppt/slides/slide15.xml" Id="Rec4ab52a12be4957" /><Relationship Type="http://schemas.openxmlformats.org/officeDocument/2006/relationships/slide" Target="/ppt/slides/slide16.xml" Id="Rb12c766e29f845fd" /><Relationship Type="http://schemas.openxmlformats.org/officeDocument/2006/relationships/slide" Target="/ppt/slides/slide17.xml" Id="R6d7dbc1a0b9942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566f64b57849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13e73d369d4b52" /><Relationship Type="http://schemas.openxmlformats.org/officeDocument/2006/relationships/notesMaster" Target="/ppt/notesMasters/notesMaster1.xml" Id="Rcc4b87f0650f4a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9f317df529458f" /><Relationship Type="http://schemas.openxmlformats.org/officeDocument/2006/relationships/notesMaster" Target="/ppt/notesMasters/notesMaster1.xml" Id="Re845fe47ee8845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d3fb3489bd4edb" /><Relationship Type="http://schemas.openxmlformats.org/officeDocument/2006/relationships/notesMaster" Target="/ppt/notesMasters/notesMaster1.xml" Id="Rf9c7f47048324b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6f16b0b33c44741" /><Relationship Type="http://schemas.openxmlformats.org/officeDocument/2006/relationships/notesMaster" Target="/ppt/notesMasters/notesMaster1.xml" Id="Rde1ee95e56664c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b7d7076a5e14ba2" /><Relationship Type="http://schemas.openxmlformats.org/officeDocument/2006/relationships/notesMaster" Target="/ppt/notesMasters/notesMaster1.xml" Id="Re85bddf667bc45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68eff107b647e4" /><Relationship Type="http://schemas.openxmlformats.org/officeDocument/2006/relationships/notesMaster" Target="/ppt/notesMasters/notesMaster1.xml" Id="Rfd21ef42be4447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9e6650ed8749ad" /><Relationship Type="http://schemas.openxmlformats.org/officeDocument/2006/relationships/notesMaster" Target="/ppt/notesMasters/notesMaster1.xml" Id="Rbd30ae69fd5e4f1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ff87b5aeb4f48b4" /><Relationship Type="http://schemas.openxmlformats.org/officeDocument/2006/relationships/notesMaster" Target="/ppt/notesMasters/notesMaster1.xml" Id="R7bb31c3a615747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5d61a839a90450d" /><Relationship Type="http://schemas.openxmlformats.org/officeDocument/2006/relationships/notesMaster" Target="/ppt/notesMasters/notesMaster1.xml" Id="R1be9408d461f41b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05fdfe244645ff" /><Relationship Type="http://schemas.openxmlformats.org/officeDocument/2006/relationships/notesMaster" Target="/ppt/notesMasters/notesMaster1.xml" Id="R1465ecdbad774e4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50e111518774b14" /><Relationship Type="http://schemas.openxmlformats.org/officeDocument/2006/relationships/notesMaster" Target="/ppt/notesMasters/notesMaster1.xml" Id="Rb1c8a65921104ab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6b03d0691f04525" /><Relationship Type="http://schemas.openxmlformats.org/officeDocument/2006/relationships/notesMaster" Target="/ppt/notesMasters/notesMaster1.xml" Id="Rc158f1a22691427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64a9962f1ea4024" /><Relationship Type="http://schemas.openxmlformats.org/officeDocument/2006/relationships/notesMaster" Target="/ppt/notesMasters/notesMaster1.xml" Id="R0870608667ce4dd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523cc5dd8ed4816" /><Relationship Type="http://schemas.openxmlformats.org/officeDocument/2006/relationships/notesMaster" Target="/ppt/notesMasters/notesMaster1.xml" Id="R413d446f81c247f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3ea7d837d924633" /><Relationship Type="http://schemas.openxmlformats.org/officeDocument/2006/relationships/notesMaster" Target="/ppt/notesMasters/notesMaster1.xml" Id="Rcbbda5d4eb7849e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ca34457ba064c8e" /><Relationship Type="http://schemas.openxmlformats.org/officeDocument/2006/relationships/notesMaster" Target="/ppt/notesMasters/notesMaster1.xml" Id="Red1fae22a349477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41b029e79cd43db" /><Relationship Type="http://schemas.openxmlformats.org/officeDocument/2006/relationships/notesMaster" Target="/ppt/notesMasters/notesMaster1.xml" Id="R1d795aaa9ebe4b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docs/enunciado/GenAI_Interview_Instructions.docx.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docs/enunciado/GenAI_Interview_Instructions.docx; docs/ESTADO.md, “Fuente documental”.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docs/ESTADO.md, “Qué es este proyecto”, “Reglas de aplicabilidad” y “Tabla de culpabilidad CIDE”.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docs/evaluation/2026-08-31-golden-set-y-metricas-rag.md, secciones 3.1–3.4; docs/ESTADO.md, defectos end-to-end.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docs/ESTADO.md, “Recuperación”, “Workflows” y “Reglas”; docs/evaluation/2026-08-31-golden-set-y-metricas-rag.md.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backend/src/bootstrap.py; backend/src/domain; backend/src/application/ports; backend/src/infrastructure/adapters; docs/operacion.md.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Los defaults OpenAI se leen de .env.example; la evaluación live usa GPT-6 Luna. Catálogo oficial: https://developers.openai.com/api/docs/models.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docs/ESTADO.md, “Ingestión”, “Índices Qdrant”; docs/ingestion/parser-comparison.md.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docs/ESTADO.md, “Ingestión” e “Índices Qdrant”; docs/ingestion/parser-comparison.md.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docs/ESTADO.md, “API”, “Workflows” y “Enrutamiento del modo Automático”.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backend/src/infrastructure/adapters/outbound/retriever/qdrant_retriever.py; docs/ESTADO.md, “Recuperación”.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backend/src/infrastructure/adapters/outbound/question_workflow/langgraph_workflow.py.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backend/src/infrastructure/adapters/outbound/claim_workflow/langgraph_workflow.py, _extract_facts y _retrieve_criteria; docs/ESTADO.md.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backend/src/infrastructure/adapters/outbound/claim_workflow/langgraph_workflow.py, construcción de StateGraph y _route_after_information.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backend/src/domain/rules/applicability.py; backend/src/domain/rules/ruleset.py; backend/src/domain/rules/cide_matrix.py; docs/ESTADO.md.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/api/public/v2/observations: https://langfuse.com/docs/api-and-data-platform/features/observations-api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El 26-10-2026 una consulta local devolvió 7 observaciones de una traza question. Una regresión verifica trace_id, langfuse_url y thread_id al interrumpir claim; el enlace no se abrió manualmente en la UI.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docs/evaluacion.md; docs/entrega/evidencias/README.md; campañas 26-10-2026, fingerprint f9e6a230…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Baseline Jev/Luna: 330/330 ejecuciones sin error; router Jev y OpenAI Luna 97/110 cada uno; red-team: 0/27 ataques y 0/3 controles en cada una de tres variantes. El modo claim pidió aclaración en 101/110; decisión 0,625 sobre n=8; citas 0,036. No equivale a validación de dominio ni a preparación para producción.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docs/enunciado/GenAI_Interview_Instructions.docx.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propuesto para responder al requisito de cinco días; no afirma una cronología real de trabajo.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Logo: https://upload.wikimedia.org/wikipedia/commons/1/1c/Allianz.png</a:t>
            </a:r>
            <a:endParaRPr sz="2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6f61d0ab84479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7E28F2C-BCB9-481D-A838-76E9433884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l">
              <a:lnSpc>
                <a:spcPct val="90000"/>
              </a:lnSpc>
              <a:buNone/>
            </a:pPr>
            <a:endParaRPr sz="4400" b="0" u="none" strike="noStrik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D6AF565-787D-4ADC-8F8F-B8DF58FD3FE8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endParaRPr sz="3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cd68814a6b49b4" /><Relationship Type="http://schemas.openxmlformats.org/officeDocument/2006/relationships/slideLayout" Target="/ppt/slideLayouts/slideLayout1.xml" Id="R7e84343ef2e347a5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E346B50A-0814-43A0-A6EC-E9CF6E852F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lnSpc>
                <a:spcPct val="90000"/>
              </a:lnSpc>
              <a:buNone/>
              <a:defRPr sz="4400" b="0" u="none" strike="noStrike">
                <a:solidFill>
                  <a:schemeClr val="dk1"/>
                </a:solidFill>
                <a:latin typeface="Calibri Light"/>
                <a:ea typeface="Calibri Light"/>
                <a:cs typeface="Calibri Light"/>
              </a:defRPr>
            </a:lvl1pPr>
          </a:lstStyle>
          <a:p xmlns:a="http://schemas.openxmlformats.org/drawingml/2006/main">
            <a:pPr indent="0" algn="l">
              <a:lnSpc>
                <a:spcPct val="90000"/>
              </a:lnSpc>
              <a:buNone/>
            </a:pPr>
            <a:r>
              <a:rPr sz="4400" b="0" u="none" strike="noStrike">
                <a:solidFill>
                  <a:schemeClr val="dk1"/>
                </a:solidFill>
                <a:latin typeface="Calibri Light"/>
                <a:ea typeface="Calibri Light"/>
                <a:cs typeface="Calibri Light"/>
              </a:rPr>
              <a:t>Click to edit the title text format</a:t>
            </a:r>
            <a:endParaRPr sz="4400" b="0" u="none" strike="noStrik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5FC61770-9F45-49F5-8135-2E8E6ED88BF9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2800" b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1800" b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1800" b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800" b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2800" b="0" u="none" strike="noStrik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000" b="0" u="none" strike="noStrik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1800" b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1800" b="0" u="none" strike="noStrik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1800" b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1800" b="0" u="none" strike="noStrik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 strike="noStrik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 strike="noStrik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 strike="noStrik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84343ef2e347a5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3ee35feef74bc8" /><Relationship Type="http://schemas.openxmlformats.org/officeDocument/2006/relationships/image" Target="/ppt/media/image.png" Id="R57f834ddf1484af6" /><Relationship Type="http://schemas.openxmlformats.org/officeDocument/2006/relationships/notesSlide" Target="/ppt/notesSlides/notesSlide1.xml" Id="Rddf0611b185b4b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e3992f65324614" /><Relationship Type="http://schemas.openxmlformats.org/officeDocument/2006/relationships/image" Target="/ppt/media/image2.png" Id="Re025e10cf1114d93" /><Relationship Type="http://schemas.openxmlformats.org/officeDocument/2006/relationships/notesSlide" Target="/ppt/notesSlides/notesSlide2.xml" Id="R1883f92c433449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6b2fa55d24512" /><Relationship Type="http://schemas.openxmlformats.org/officeDocument/2006/relationships/image" Target="/ppt/media/image3.png" Id="Rd1795dcef732411f" /><Relationship Type="http://schemas.openxmlformats.org/officeDocument/2006/relationships/notesSlide" Target="/ppt/notesSlides/notesSlide3.xml" Id="R3df3b5ab553140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5002c554f14910" /><Relationship Type="http://schemas.openxmlformats.org/officeDocument/2006/relationships/image" Target="/ppt/media/image4.png" Id="Rc7684f1a8d7b4f7a" /><Relationship Type="http://schemas.openxmlformats.org/officeDocument/2006/relationships/notesSlide" Target="/ppt/notesSlides/notesSlide4.xml" Id="Rc87a64f6e75c4c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73165a1ab4e63" /><Relationship Type="http://schemas.openxmlformats.org/officeDocument/2006/relationships/image" Target="/ppt/media/image5.png" Id="R26cb5dd81b594f9b" /><Relationship Type="http://schemas.openxmlformats.org/officeDocument/2006/relationships/notesSlide" Target="/ppt/notesSlides/notesSlide5.xml" Id="Rdc76ddd31e5e46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3520e132194464" /><Relationship Type="http://schemas.openxmlformats.org/officeDocument/2006/relationships/image" Target="/ppt/media/image6.png" Id="Ref4250944b974785" /><Relationship Type="http://schemas.openxmlformats.org/officeDocument/2006/relationships/notesSlide" Target="/ppt/notesSlides/notesSlide6.xml" Id="Ra174bae58f90432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f73b15ef95416a" /><Relationship Type="http://schemas.openxmlformats.org/officeDocument/2006/relationships/image" Target="/ppt/media/image7.png" Id="Rc5c2a6c9bc8d4475" /><Relationship Type="http://schemas.openxmlformats.org/officeDocument/2006/relationships/notesSlide" Target="/ppt/notesSlides/notesSlide7.xml" Id="Re59178f928e846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62fd9d0180424e" /><Relationship Type="http://schemas.openxmlformats.org/officeDocument/2006/relationships/image" Target="/ppt/media/image8.png" Id="Rf33fe2d44fa34a58" /><Relationship Type="http://schemas.openxmlformats.org/officeDocument/2006/relationships/notesSlide" Target="/ppt/notesSlides/notesSlide8.xml" Id="R4798c6ecd5f247b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d450d9f214ec7" /><Relationship Type="http://schemas.openxmlformats.org/officeDocument/2006/relationships/image" Target="/ppt/media/image9.png" Id="R02b55ac8f8b94ed1" /><Relationship Type="http://schemas.openxmlformats.org/officeDocument/2006/relationships/notesSlide" Target="/ppt/notesSlides/notesSlide9.xml" Id="Re17a98d371d34f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87c7b859b34522" /><Relationship Type="http://schemas.openxmlformats.org/officeDocument/2006/relationships/image" Target="/ppt/media/image10.png" Id="Rad8d2ce63dad4efe" /><Relationship Type="http://schemas.openxmlformats.org/officeDocument/2006/relationships/notesSlide" Target="/ppt/notesSlides/notesSlide10.xml" Id="R1eff037b3416447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79555ba339420a" /><Relationship Type="http://schemas.openxmlformats.org/officeDocument/2006/relationships/image" Target="/ppt/media/image11.png" Id="R560e750f103a4e4e" /><Relationship Type="http://schemas.openxmlformats.org/officeDocument/2006/relationships/notesSlide" Target="/ppt/notesSlides/notesSlide11.xml" Id="R0a4a441157504ed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2f0aac6ae43a2" /><Relationship Type="http://schemas.openxmlformats.org/officeDocument/2006/relationships/image" Target="/ppt/media/image12.png" Id="R176d81bdcb8e4ddd" /><Relationship Type="http://schemas.openxmlformats.org/officeDocument/2006/relationships/notesSlide" Target="/ppt/notesSlides/notesSlide12.xml" Id="Rbd2a51f1293c4da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85db8f965b4da7" /><Relationship Type="http://schemas.openxmlformats.org/officeDocument/2006/relationships/image" Target="/ppt/media/image13.png" Id="Rddc5e9b97da34450" /><Relationship Type="http://schemas.openxmlformats.org/officeDocument/2006/relationships/notesSlide" Target="/ppt/notesSlides/notesSlide13.xml" Id="Rdabd319a42b64c3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3c5c3e2664acb" /><Relationship Type="http://schemas.openxmlformats.org/officeDocument/2006/relationships/image" Target="/ppt/media/image14.png" Id="Rfd05c5c2ac8c4354" /><Relationship Type="http://schemas.openxmlformats.org/officeDocument/2006/relationships/notesSlide" Target="/ppt/notesSlides/notesSlide14.xml" Id="R773b446a77f2442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35c23029894fdc" /><Relationship Type="http://schemas.openxmlformats.org/officeDocument/2006/relationships/image" Target="/ppt/media/image15.png" Id="R10ffb2e2bea54a8d" /><Relationship Type="http://schemas.openxmlformats.org/officeDocument/2006/relationships/notesSlide" Target="/ppt/notesSlides/notesSlide15.xml" Id="Rccdce928d405454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a2989f317d4e13" /><Relationship Type="http://schemas.openxmlformats.org/officeDocument/2006/relationships/image" Target="/ppt/media/image16.png" Id="R0cbd800c99954030" /><Relationship Type="http://schemas.openxmlformats.org/officeDocument/2006/relationships/notesSlide" Target="/ppt/notesSlides/notesSlide16.xml" Id="R6447f611e6df404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041690f2c42ad" /><Relationship Type="http://schemas.openxmlformats.org/officeDocument/2006/relationships/image" Target="/ppt/media/image16.png" Id="Rc02b3dda9fc141e6" /><Relationship Type="http://schemas.openxmlformats.org/officeDocument/2006/relationships/notesSlide" Target="/ppt/notesSlides/notesSlide17.xml" Id="Rf5be500435ca44e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378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E73EAF-6CE6-4ABB-B581-909FF62E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800" y="0"/>
            <a:ext cx="2800080" cy="685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7A7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655EA6-613D-47E3-911E-8B9B6ED0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440"/>
            <a:ext cx="2095200" cy="51408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9BBD2B-B64E-4574-A946-6532629F47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f834ddf1484af6"/>
          <a:stretch xmlns:a="http://schemas.openxmlformats.org/drawingml/2006/main"/>
        </p:blipFill>
        <p:spPr>
          <a:xfrm xmlns:a="http://schemas.openxmlformats.org/drawingml/2006/main">
            <a:off x="1179000" y="647640"/>
            <a:ext cx="994680" cy="25668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7F51E8-7DBF-4049-9BA9-E8116113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1809720"/>
            <a:ext cx="6667200" cy="1238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75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CICOS CLAIMS</a:t>
            </a:r>
            <a:endParaRPr sz="37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75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INTELLIGENCE</a:t>
            </a:r>
            <a:endParaRPr sz="37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44DF9D-8508-43B9-BE0B-F133ED06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3314880"/>
            <a:ext cx="6667200" cy="62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 strike="noStrike">
                <a:solidFill>
                  <a:srgbClr val="D7EAF7"/>
                </a:solidFill>
                <a:latin typeface="Arial"/>
                <a:ea typeface="Arial"/>
                <a:cs typeface="Arial"/>
              </a:rPr>
              <a:t>RAG trazable para consulta documental y análisis responsable de siniestros.</a:t>
            </a: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125493-CB51-4EE0-8BBB-B6F19A64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4457520"/>
            <a:ext cx="245736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5A5D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E4FD09-01DC-40EC-B567-384FCA6B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4667400"/>
            <a:ext cx="495252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BDD9EC"/>
                </a:solidFill>
                <a:latin typeface="Arial"/>
                <a:ea typeface="Arial"/>
                <a:cs typeface="Arial"/>
              </a:rPr>
              <a:t>Prueba técnica · presentación de entrega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31554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014DF7-3B95-4415-8445-3302212E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00"/>
            <a:ext cx="44762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EL PROBLEMA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6AB3CE-36A4-45C1-B7E4-4D9835FA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1EBAC2-C636-43BF-BF08-FA307F61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FE41BF-9E2A-4701-A128-0156EF0843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5e10cf1114d93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9D4480-1173-4D8B-970A-862C9A9B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120" y="324000"/>
            <a:ext cx="4568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71859B"/>
                </a:solidFill>
                <a:latin typeface="Arial"/>
                <a:ea typeface="Arial"/>
                <a:cs typeface="Arial"/>
              </a:rPr>
              <a:t>02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9C0B21-3D97-4AAD-B302-846B32445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080"/>
            <a:ext cx="10820160" cy="99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Convertir un manual especializado en respuestas fiables exige algo más que buscar texto.</a:t>
            </a:r>
            <a:endParaRPr sz="3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E67511-CA65-445D-89A8-3A907D90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600"/>
            <a:ext cx="1082016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El sistema debe responder preguntas del manual y aplicar sus criterios a relatos de accidentes reales, incompletos o contradictorios.</a:t>
            </a:r>
            <a:endParaRPr sz="15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2443F2-048A-4664-86F1-D787DB6E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680"/>
            <a:ext cx="22856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DOS TAREAS DISTINTAS</a:t>
            </a:r>
            <a:endParaRPr sz="11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1A76AC-E649-485A-9545-AAEA93992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920"/>
            <a:ext cx="257148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CONSULTAR</a:t>
            </a: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B6113A-A2DE-4F68-B2A4-4B86D095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2040"/>
            <a:ext cx="361908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Localizar y explicar el criterio correcto,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con una referencia que pueda revisarse.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76F615-40C3-4EE6-8DC7-DA08C332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600" y="3429000"/>
            <a:ext cx="360" cy="16668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1A8DEF-A169-48D9-9377-65BDE053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80" y="3733920"/>
            <a:ext cx="257148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 strike="noStrike">
                <a:solidFill>
                  <a:srgbClr val="00A6A6"/>
                </a:solidFill>
                <a:latin typeface="Arial"/>
                <a:ea typeface="Arial"/>
                <a:cs typeface="Arial"/>
              </a:rPr>
              <a:t>ANALIZAR</a:t>
            </a: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6F8F2B-79CA-43F2-8F86-42305734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80" y="4172040"/>
            <a:ext cx="361908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Entender qué ocurrió, qué datos faltan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y qué reglas pueden aplicarse.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439F18-2BD2-4032-95DC-6E8648159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480" y="3476520"/>
            <a:ext cx="1809360" cy="159984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0E43C5-69E4-4F68-8881-0EEF432A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520" y="3666960"/>
            <a:ext cx="123804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3450" b="1" u="none" strike="noStrike">
                <a:solidFill>
                  <a:srgbClr val="003781"/>
                </a:solidFill>
                <a:latin typeface="Arial"/>
                <a:ea typeface="Arial"/>
                <a:cs typeface="Arial"/>
              </a:rPr>
              <a:t>111</a:t>
            </a:r>
            <a:endParaRPr sz="34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0F8203-D38D-4B1E-BE70-06519720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920" y="4295880"/>
            <a:ext cx="142848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páginas de</a:t>
            </a:r>
            <a:endParaRPr sz="12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conocimiento operativo</a:t>
            </a:r>
            <a:endParaRPr sz="12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17DCD1-7DC0-4339-9337-39C874011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680"/>
            <a:ext cx="1082016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El valor no está en contestar siempre, sino en saber cuándo existe evidencia suficiente para hacerlo.</a:t>
            </a:r>
            <a:endParaRPr sz="14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134390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2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D86982-71F4-4292-83C6-C1865225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00"/>
            <a:ext cx="44762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EL MANUAL CIDE / ASCIDE / CICOS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1ACACB-508A-42C7-8BB2-F84E4344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767A1A-9F89-4BFE-8894-8EEBD6EA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0A9E1C5-4100-4377-92AA-E975BB6C5A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95dcef732411f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114367-825E-4278-B9A1-53ABEE4F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120" y="324000"/>
            <a:ext cx="4568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71859B"/>
                </a:solidFill>
                <a:latin typeface="Arial"/>
                <a:ea typeface="Arial"/>
                <a:cs typeface="Arial"/>
              </a:rPr>
              <a:t>03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25B6421-B2D1-488E-B0D0-22D3FD62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080"/>
            <a:ext cx="10820160" cy="99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El manual organiza la gestión entre aseguradoras mediante condiciones, circunstancias y reglas.</a:t>
            </a:r>
            <a:endParaRPr sz="3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C0856D1-F67F-47C2-B47B-FA6CCA7D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600"/>
            <a:ext cx="1082016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No es una colección lineal de respuestas: combina alcance del convenio, declaraciones, maniobras, excepciones y tablas de responsabilidad.</a:t>
            </a:r>
            <a:endParaRPr sz="15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FCB48D5-6273-4ED9-9353-D5DD6AEF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1840" y="4047840"/>
            <a:ext cx="8667720" cy="36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1E2959-5D33-4154-9CD3-67966D95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40" y="3543480"/>
            <a:ext cx="685440" cy="6854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3F162B-6A93-4791-A47D-8BCD38D1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40" y="3695760"/>
            <a:ext cx="685440" cy="33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95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1</a:t>
            </a:r>
            <a:endParaRPr sz="19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C3CB26-087E-4A81-A6B8-3B09F1F7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40" y="4476600"/>
            <a:ext cx="17902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APLICABILIDAD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1AA1E5-A48C-4280-81B2-C70B2650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80" y="4857840"/>
            <a:ext cx="154260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¿Entra el caso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en el convenio?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0DA91D-8A72-45D2-A2CB-522143A7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960" y="3543480"/>
            <a:ext cx="685440" cy="6854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EC275A7-8C37-4A73-B9D7-DD020116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960" y="3695760"/>
            <a:ext cx="685440" cy="33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95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2</a:t>
            </a:r>
            <a:endParaRPr sz="19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360855C-0F43-4C86-B4BC-5DD91B01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720" y="4476600"/>
            <a:ext cx="17902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CIRCUNSTANCIAS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D4979AC-3529-4CB5-B084-B8D95877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4857840"/>
            <a:ext cx="154260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¿Qué declaran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y qué se contradice?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0E39599-E9F6-4974-9EB0-9FD60713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240" y="3543480"/>
            <a:ext cx="685440" cy="6854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D1052DB-F268-4E85-9AAA-C18ADE51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240" y="3695760"/>
            <a:ext cx="685440" cy="33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95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3</a:t>
            </a:r>
            <a:endParaRPr sz="19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B8C6D5E-002D-415D-9299-22EEB2D2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7000" y="4476600"/>
            <a:ext cx="17902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REGLAS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0FAF85E-6D22-4F5E-A823-8ED5C9B6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840" y="4857840"/>
            <a:ext cx="154260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¿Qué maniobra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o criterio aplica?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E9F091E-4E54-4060-A632-EE9B82E8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520" y="3543480"/>
            <a:ext cx="685440" cy="6854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378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79ADE5C-E16E-4D6D-8447-01599537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520" y="3695760"/>
            <a:ext cx="685440" cy="33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95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19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2E81F51-7E2F-44AE-99C3-6D890817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280" y="4476600"/>
            <a:ext cx="17902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003781"/>
                </a:solidFill>
                <a:latin typeface="Arial"/>
                <a:ea typeface="Arial"/>
                <a:cs typeface="Arial"/>
              </a:rPr>
              <a:t>ATRIBUCIÓN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CE2C479-E162-4BF4-AD0C-3118AD1A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120" y="4857840"/>
            <a:ext cx="154260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¿Resuelve la matriz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o falta un dato?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266B2C7-37B4-48FF-882A-7E5C1A660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57920"/>
            <a:ext cx="1082016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003781"/>
                </a:solidFill>
                <a:latin typeface="Arial"/>
                <a:ea typeface="Arial"/>
                <a:cs typeface="Arial"/>
              </a:rPr>
              <a:t>La respuesta correcta depende del recorrido completo, no de un párrafo aislado.</a:t>
            </a:r>
            <a:endParaRPr sz="14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676550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378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DAE20ED-B49B-4A85-8C0D-E3169597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00"/>
            <a:ext cx="44762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RIESGOS DE UN RAG INGENUO</a:t>
            </a:r>
            <a:endParaRPr sz="9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E6CB1DE-CDBE-4B24-A7F7-037D9601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D699D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1DDDCFC-C6E9-46F8-87C0-CFEC7ED2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CDBD6B0-9B83-4D1E-AF20-57F98B37C0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684f1a8d7b4f7a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A685BAB-DE54-4576-B7FC-D9370603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120" y="324000"/>
            <a:ext cx="4568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04</a:t>
            </a:r>
            <a:endParaRPr sz="9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EA59E42-5A16-42AE-9169-B952636E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080"/>
            <a:ext cx="10820160" cy="99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Una respuesta puede sonar correcta y seguir siendo peligrosa.</a:t>
            </a:r>
            <a:endParaRPr sz="30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97AB8C8-7408-491B-A940-630F6185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600"/>
            <a:ext cx="1082016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 strike="noStrike">
                <a:solidFill>
                  <a:srgbClr val="D7EAF7"/>
                </a:solidFill>
                <a:latin typeface="Arial"/>
                <a:ea typeface="Arial"/>
                <a:cs typeface="Arial"/>
              </a:rPr>
              <a:t>Los fallos más relevantes aparecen cuando el sistema confunde similitud textual con evidencia suficiente.</a:t>
            </a:r>
            <a:endParaRPr sz="15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99607AF-777F-4746-83A3-ED0763CD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520"/>
            <a:ext cx="3180960" cy="152352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0A4B93"/>
          </a:solidFill>
          <a:ln xmlns:a="http://schemas.openxmlformats.org/drawingml/2006/main" w="9525">
            <a:solidFill>
              <a:srgbClr val="447DB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C84B677-6084-4B9E-887A-8AF7F8DE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520"/>
            <a:ext cx="75960" cy="152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B8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9EFAE26-098A-4B80-AAA8-D9793686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840" y="3705120"/>
            <a:ext cx="26665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CONTEXTO INCOMPLETO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A8F8A2D-2DDF-41CE-9F94-9840523F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840" y="4133880"/>
            <a:ext cx="2666520" cy="57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Recupera la regla general,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pero no su excepción.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40FD313-47A1-4D8F-A479-DC5CDB68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160" y="3476520"/>
            <a:ext cx="3180960" cy="152352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0A4B93"/>
          </a:solidFill>
          <a:ln xmlns:a="http://schemas.openxmlformats.org/drawingml/2006/main" w="9525">
            <a:solidFill>
              <a:srgbClr val="447DB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F11BE5B-03F5-4D1F-80E5-BD65D2A0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160" y="3476520"/>
            <a:ext cx="75960" cy="152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7AFE233-0896-465A-A9AC-79ACA72A2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560" y="3705120"/>
            <a:ext cx="26665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VERSIONES EN CONFLICTO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823D03E-501C-4FAF-B869-684632D9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560" y="4133880"/>
            <a:ext cx="2666520" cy="57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Convierte una versión del conductor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en un hecho confirmado.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F4D2008-B756-44D9-8EAD-FC0F3DF8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880" y="3476520"/>
            <a:ext cx="3180960" cy="152352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0A4B93"/>
          </a:solidFill>
          <a:ln xmlns:a="http://schemas.openxmlformats.org/drawingml/2006/main" w="9525">
            <a:solidFill>
              <a:srgbClr val="447DB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204673B-C7BB-4D31-B255-82D05A48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880" y="3476520"/>
            <a:ext cx="75960" cy="152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042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55310C7-A247-494F-8204-137A509E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920" y="3705120"/>
            <a:ext cx="26665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DECISIÓN GENERADA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C7D2BA4-AD09-427E-95DF-3A902F5E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920" y="4133880"/>
            <a:ext cx="2666520" cy="57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El LLM atribuye responsabilidad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aunque falte un dato decisivo.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43E6206-01DA-4AC7-A7E5-CA9B6BB5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600"/>
            <a:ext cx="1082016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D8EBF7"/>
                </a:solidFill>
                <a:latin typeface="Arial"/>
                <a:ea typeface="Arial"/>
                <a:cs typeface="Arial"/>
              </a:rPr>
              <a:t>El riesgo de negocio es una conclusión sin trazabilidad: no se puede saber qué evidencia la sostiene ni qué condición se asumió.</a:t>
            </a:r>
            <a:endParaRPr sz="14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852991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0883855-246D-4094-8481-81FED070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00"/>
            <a:ext cx="44762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RESPUESTA A LOS RIESGOS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EA35DAC-9F37-4788-9C54-9348B0A7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2E5EDB0-AD18-42FA-89FF-453F30B66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88FB47D-ADA5-40C5-8BCA-48631ACC66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cb5dd81b594f9b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E708836-EE79-49C3-A596-A64BF0DE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120" y="324000"/>
            <a:ext cx="4568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71859B"/>
                </a:solidFill>
                <a:latin typeface="Arial"/>
                <a:ea typeface="Arial"/>
                <a:cs typeface="Arial"/>
              </a:rPr>
              <a:t>05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5DB65C0-9AB2-4470-9E20-7BFC161D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080"/>
            <a:ext cx="10820160" cy="99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Tres controles separan una respuesta útil de una respuesta meramente plausible.</a:t>
            </a:r>
            <a:endParaRPr sz="3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85ED1B1-4A7D-4D25-B1C0-614E6C90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600"/>
            <a:ext cx="1082016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Cada riesgo tiene una salida explícita y verificable.</a:t>
            </a:r>
            <a:endParaRPr sz="15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5FC0393-2DDA-4889-B009-D52125951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120" y="3333600"/>
            <a:ext cx="475920" cy="42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5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1</a:t>
            </a:r>
            <a:endParaRPr sz="22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4B304E6-DC65-4201-BDA6-8AE0EECC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960" y="3543120"/>
            <a:ext cx="380880" cy="36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B5CBE72-5FD1-42A5-AAC1-0B3AB388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8040" y="3333600"/>
            <a:ext cx="214272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EVIDENCIA</a:t>
            </a:r>
            <a:endParaRPr sz="15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AB3823B-1BE8-4665-9DD5-E754A693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520" y="3333600"/>
            <a:ext cx="628632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Documento, página y fragmento acompañan la respuesta.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7A42B23-FAF0-45EA-880A-B8C65231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120" y="4076640"/>
            <a:ext cx="475920" cy="42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50" b="1" u="none" strike="noStrike">
                <a:solidFill>
                  <a:srgbClr val="F5A623"/>
                </a:solidFill>
                <a:latin typeface="Arial"/>
                <a:ea typeface="Arial"/>
                <a:cs typeface="Arial"/>
              </a:rPr>
              <a:t>2</a:t>
            </a:r>
            <a:endParaRPr sz="22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61C2C09-91E4-4269-AFAF-CCF3DA0F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960" y="4286160"/>
            <a:ext cx="380880" cy="36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F5A623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51E7273-8AF5-4249-937F-F4CB3FB8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8040" y="4076640"/>
            <a:ext cx="214272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INCERTIDUMBRE</a:t>
            </a:r>
            <a:endParaRPr sz="15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0C086B4-0346-40C8-ADC5-F686BC45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520" y="4076640"/>
            <a:ext cx="628632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Si falta información, el sistema pregunta o se abstiene.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B0651DC-16A7-44BA-B945-E024F95E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120" y="4819680"/>
            <a:ext cx="475920" cy="42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50" b="1" u="none" strike="noStrike">
                <a:solidFill>
                  <a:srgbClr val="00A6A6"/>
                </a:solidFill>
                <a:latin typeface="Arial"/>
                <a:ea typeface="Arial"/>
                <a:cs typeface="Arial"/>
              </a:rPr>
              <a:t>3</a:t>
            </a:r>
            <a:endParaRPr sz="22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2E960B4-6C81-4694-900E-3D8D3608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960" y="5029200"/>
            <a:ext cx="380880" cy="36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0A6A6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6EE4FC5-C8B6-418A-B657-813AB628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8040" y="4819680"/>
            <a:ext cx="214272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DECISIÓN</a:t>
            </a:r>
            <a:endParaRPr sz="15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BD2114B-99AA-405E-9E07-CD0DF3D4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520" y="4819680"/>
            <a:ext cx="628632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La lógica determinística evalúa reglas y matriz; el LLM explica.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108788B-3278-4A08-9277-E6B44C91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80"/>
            <a:ext cx="10820160" cy="3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78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6840" rIns="90000" bIns="-6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086BCA8-A675-4DF7-8006-EE66156F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440"/>
            <a:ext cx="1082016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003781"/>
                </a:solidFill>
                <a:latin typeface="Arial"/>
                <a:ea typeface="Arial"/>
                <a:cs typeface="Arial"/>
              </a:rPr>
              <a:t>Diseño conservador: cuando no se puede justificar una conclusión, no se inventa una.</a:t>
            </a:r>
            <a:endParaRPr sz="14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627759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378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4FFFD7A-8A5C-4DFA-921F-7B12C315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00"/>
            <a:ext cx="44762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LA ARQUITECTURA PRIMERO</a:t>
            </a:r>
            <a:endParaRPr sz="9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B70A9FE-A42B-43AF-8811-07C403EB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D699D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DB3C6C7D-ACE4-474F-9315-7A716A1F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65FFD5C-689D-47A6-9DAC-230D4CF89F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4250944b974785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87A92FD9-E0AF-4C07-AF96-8CEAC8550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120" y="324000"/>
            <a:ext cx="4568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06</a:t>
            </a:r>
            <a:endParaRPr sz="9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87C162DB-5392-4E32-A7E0-813BA152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080"/>
            <a:ext cx="10820160" cy="99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Jev clasifica y protege; OpenAI responde y extrae.</a:t>
            </a:r>
            <a:endParaRPr sz="30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F95C76AB-B636-4136-9253-7F3AE386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600"/>
            <a:ext cx="1082016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 strike="noStrike">
                <a:solidFill>
                  <a:srgbClr val="D7EAF7"/>
                </a:solidFill>
                <a:latin typeface="Arial"/>
                <a:ea typeface="Arial"/>
                <a:cs typeface="Arial"/>
              </a:rPr>
              <a:t>GPT-6.1 Sol es el default; las llamadas live de OpenAI se evaluaron con GPT-6 Luna.</a:t>
            </a:r>
            <a:endParaRPr sz="15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6691E941-1596-4892-A176-DF8AC878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520" y="4314600"/>
            <a:ext cx="747720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CA4D2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9FBBA7F-871C-4DB5-A8A0-AE4B029C0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71432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ENTRADA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F9B85BFC-0454-4755-AB3F-C60A773B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840"/>
            <a:ext cx="2095200" cy="304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FastAPI · SSE · CLI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A420581B-16BB-4303-BE99-0142736A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000" y="3857400"/>
            <a:ext cx="131472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5CA4D2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5D99F59C-274F-41F3-85A2-E4EA5507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20"/>
            <a:ext cx="171432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ORQUESTACIÓN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131FD7B1-8E3F-48E0-AC79-49F39517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60"/>
            <a:ext cx="2095200" cy="304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LangGraph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81FDD3D-1442-4AAB-B489-3975B8B7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000" y="4981320"/>
            <a:ext cx="131472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5CA4D2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2DE6EFDE-E3CC-4DF5-9B2F-46D9D597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20" y="3333600"/>
            <a:ext cx="4000320" cy="180936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B4D94"/>
          </a:solidFill>
          <a:ln xmlns:a="http://schemas.openxmlformats.org/drawingml/2006/main" w="9525">
            <a:solidFill>
              <a:srgbClr val="5CA4D2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C0E1A8E6-02CF-4A89-8C39-81229094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20" y="3610080"/>
            <a:ext cx="400032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8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NÚCLEO</a:t>
            </a: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B0BE40DE-2414-4EDB-87D0-FC8631C9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600" y="4114800"/>
            <a:ext cx="323820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D8EBF7"/>
                </a:solidFill>
                <a:latin typeface="Arial"/>
                <a:ea typeface="Arial"/>
                <a:cs typeface="Arial"/>
              </a:rPr>
              <a:t>casos de uso · hechos · reglas · decisiones</a:t>
            </a:r>
            <a:endParaRPr sz="14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3327439D-406C-4970-BFDA-94F2ACAD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600" y="4524480"/>
            <a:ext cx="3238200" cy="24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0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sin dependencias de frameworks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4FB4D255-31AB-49CB-8452-685A2B12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040" y="3562200"/>
            <a:ext cx="90504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5CA4D2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2A25E29-624E-4AE4-91F2-B9C21B3D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520" y="3143160"/>
            <a:ext cx="199980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MODELOS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9568167-6313-49D6-AF84-A52A1355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520" y="3409920"/>
            <a:ext cx="2190240" cy="323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GPT-6.1 Sol · default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7BFBFC62-68C6-4E0E-B52E-3112B4A0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040" y="4438440"/>
            <a:ext cx="90504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5CA4D2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8A737B02-7F02-45EA-A36E-28BFC8D7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520" y="4019400"/>
            <a:ext cx="199980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DATOS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9B8A0315-2B76-437A-83FD-80584E261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520" y="4286160"/>
            <a:ext cx="2190240" cy="323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Qdrant · índice firmado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B0EDBD1F-E994-4E8A-B8EF-608FD7EC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040" y="5314680"/>
            <a:ext cx="90504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5CA4D2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09973CF-4185-40F1-9174-1A2B05CE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520" y="4896000"/>
            <a:ext cx="199980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INGESTA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D04A6E8E-616F-44CE-81F5-D37D7244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520" y="5162400"/>
            <a:ext cx="2190240" cy="323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pypdf · Docling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02913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83114D6-B0D3-468D-8450-C1F4F0BA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00"/>
            <a:ext cx="44762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INGESTA TRAZABLE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8DBF1E2A-9A27-4D53-B5B1-2E034F50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2830F100-F316-49FC-91F7-61261C54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A24936E-25D4-4EF1-853C-91E5506A8B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c2a6c9bc8d4475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E98AA20D-D32E-4ACA-A22D-FAF135D9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120" y="324000"/>
            <a:ext cx="4568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71859B"/>
                </a:solidFill>
                <a:latin typeface="Arial"/>
                <a:ea typeface="Arial"/>
                <a:cs typeface="Arial"/>
              </a:rPr>
              <a:t>07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22A1CD57-B9BB-49A0-86BA-6DC95CD0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080"/>
            <a:ext cx="10820160" cy="99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La ingesta transforma el PDF en evidencia versionada antes de indexarlo.</a:t>
            </a:r>
            <a:endParaRPr sz="3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CBB96B19-3D58-49CF-A34C-39A37AD0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600"/>
            <a:ext cx="1082016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La identidad del documento y de cada página se conserva durante todo el recorrido.</a:t>
            </a:r>
            <a:endParaRPr sz="15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885C869D-BC93-48D3-9B0C-0E15A9E4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520" y="4095720"/>
            <a:ext cx="33336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74DDEA4D-E093-4F07-85CB-12DF207D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9080" y="404820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DDD0B007-9921-4B34-A63A-BCFB2090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960" y="3476520"/>
            <a:ext cx="1885680" cy="119988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FDC5983A-E59A-4CC9-81A8-7AA6DF72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440" y="3629160"/>
            <a:ext cx="16570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VALIDAR</a:t>
            </a:r>
            <a:endParaRPr sz="12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739BFB46-8338-4CE9-A880-D25DDFFF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520" y="3943440"/>
            <a:ext cx="161892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PDF, páginas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y SHA-256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3D102872-E897-4B4D-B975-CCDE3F20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120" y="4095720"/>
            <a:ext cx="33336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69E0CF0E-2BC7-475E-9C32-F427AD56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680" y="404820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9BA4F0C3-A65C-49FE-9276-EF10EEE8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560" y="3476520"/>
            <a:ext cx="1885680" cy="119988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90AC3AFC-7B68-4615-A5C2-D1DBA8F2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40" y="3629160"/>
            <a:ext cx="16570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EXTRAER</a:t>
            </a:r>
            <a:endParaRPr sz="12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E305ACA4-319B-4404-BD45-0FD789C74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120" y="3943440"/>
            <a:ext cx="161892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texto, estructura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y diagnósticos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2D2AE1B9-FFE1-4505-A26C-31BAACC5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720" y="4095720"/>
            <a:ext cx="33336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E7BED046-F3A6-427F-B2F9-1B1E56EF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80" y="404820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73DDE6E8-2B78-4689-B9D4-B5E759CB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520" y="3476520"/>
            <a:ext cx="1885680" cy="119988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4C3B7EEA-EEEA-4A92-9FDF-39E7B9E0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640" y="3629160"/>
            <a:ext cx="16570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SEGMENTAR</a:t>
            </a:r>
            <a:endParaRPr sz="12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000681AF-623E-43D1-A0C9-F3CCFAA8C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20" y="3943440"/>
            <a:ext cx="161892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chunks ligados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a evidencias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29532439-D199-49EC-AF43-753948A4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320" y="4095720"/>
            <a:ext cx="33336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9BDBF079-517C-47CB-97CA-5B15323B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880" y="404820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E618F2B7-6A40-497C-AC5E-261549FA0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120" y="3476520"/>
            <a:ext cx="1885680" cy="119988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193BF68E-C968-4419-AFAF-55FE4EFB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240" y="3629160"/>
            <a:ext cx="16570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PUBLICAR</a:t>
            </a:r>
            <a:endParaRPr sz="12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F727C90A-70EF-4F4D-9453-76797E015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320" y="3943440"/>
            <a:ext cx="161892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manifest y artefactos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inmutables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BE555B38-4CF5-44EB-AD5A-8828798B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20" y="3476520"/>
            <a:ext cx="1885680" cy="119988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0378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C27C3F63-6C9A-4B8E-9610-34B166F9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200" y="3629160"/>
            <a:ext cx="16570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INDEXAR</a:t>
            </a:r>
            <a:endParaRPr sz="12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08CEB900-0BAC-4BA3-8280-2AEF9375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280" y="3943440"/>
            <a:ext cx="161892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D8EBF7"/>
                </a:solidFill>
                <a:latin typeface="Arial"/>
                <a:ea typeface="Arial"/>
                <a:cs typeface="Arial"/>
              </a:rPr>
              <a:t>colección firmada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D8EBF7"/>
                </a:solidFill>
                <a:latin typeface="Arial"/>
                <a:ea typeface="Arial"/>
                <a:cs typeface="Arial"/>
              </a:rPr>
              <a:t>y alias activo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6CEAA53C-17AB-4D48-9B0C-3080C6CD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600"/>
            <a:ext cx="1082016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003781"/>
                </a:solidFill>
                <a:latin typeface="Arial"/>
                <a:ea typeface="Arial"/>
                <a:cs typeface="Arial"/>
              </a:rPr>
              <a:t>La publicación es atómica: el índice activo solo apunta a una extracción completa y compatible.</a:t>
            </a:r>
            <a:endParaRPr sz="14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00533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2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973E99C7-7549-4BE3-A36C-7BD90C93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00"/>
            <a:ext cx="44762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DOS ESTRATEGIAS DE INGESTA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95C61649-6699-4CF5-8324-56B9510F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9CB42C91-120A-4F5F-85D8-27449B57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2AFDC82-D39F-4CF6-953F-64A0973262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3fe2d44fa34a58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CC1F42C3-C14E-4892-8E2F-75D82A0C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120" y="324000"/>
            <a:ext cx="4568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71859B"/>
                </a:solidFill>
                <a:latin typeface="Arial"/>
                <a:ea typeface="Arial"/>
                <a:cs typeface="Arial"/>
              </a:rPr>
              <a:t>08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E536AC6B-ADCE-4B6D-8E2D-5B170633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080"/>
            <a:ext cx="10820160" cy="99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Probamos una referencia simple y una extracción estructurada sobre el mismo manual.</a:t>
            </a:r>
            <a:endParaRPr sz="3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03983881-ACD9-4248-B8E5-FE0A499F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600"/>
            <a:ext cx="1082016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La alternativa más sofisticada solo se promociona cuando demuestra una mejora medible.</a:t>
            </a:r>
            <a:endParaRPr sz="15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8486FF65-D55E-4105-A96B-4C247CA6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40" y="3429000"/>
            <a:ext cx="247608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BASELINE ACTIVO</a:t>
            </a:r>
            <a:endParaRPr sz="11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330D06EA-D5C1-4695-AA20-D4119199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40" y="3809880"/>
            <a:ext cx="3142800" cy="361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17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pypdf</a:t>
            </a:r>
            <a:endParaRPr sz="217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41231A9F-7462-4857-81C6-525BA614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40" y="4334040"/>
            <a:ext cx="3809520" cy="85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Texto por página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Chunking fijo con solapamiento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118 fragmentos indexados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90D1963E-E23D-4E1C-8DE7-879CA360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2960" y="3381120"/>
            <a:ext cx="360" cy="19526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7913D236-16B5-4A25-9AA1-CB230FAE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60" y="3429000"/>
            <a:ext cx="34286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00A6A6"/>
                </a:solidFill>
                <a:latin typeface="Arial"/>
                <a:ea typeface="Arial"/>
                <a:cs typeface="Arial"/>
              </a:rPr>
              <a:t>ESTRUCTURADO PUBLICADO</a:t>
            </a:r>
            <a:endParaRPr sz="11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0F937767-29B1-4222-B117-3A8F2A1D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60" y="3809880"/>
            <a:ext cx="3142800" cy="361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17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Docling</a:t>
            </a:r>
            <a:endParaRPr sz="217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03D264CF-9D11-4D73-8E0B-5526978D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60" y="4334040"/>
            <a:ext cx="4190760" cy="85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Layout, Markdown, JSON y regiones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Diagnósticos y evidencias visuales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109 fragmentos preparados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70EE674E-2C1E-4CCC-99EE-CC0D59FD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240"/>
            <a:ext cx="1082016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003781"/>
                </a:solidFill>
                <a:latin typeface="Arial"/>
                <a:ea typeface="Arial"/>
                <a:cs typeface="Arial"/>
              </a:rPr>
              <a:t>Mismo documento, mismo contrato de evidencia, configuraciones comparables.</a:t>
            </a:r>
            <a:endParaRPr sz="14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64628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F9D0926F-A8ED-4DA0-AD84-83C7C6D1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00"/>
            <a:ext cx="44762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EXPERIENCIA DE USO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64AF2BEA-B580-4FC4-9E15-460CEB86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45AF84F-2A5B-4F81-8E17-AA42CB4E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AC103B16-AE42-4A8A-B866-11031351B3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55ac8f8b94ed1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3380ED8B-4620-47BB-A971-20F218B7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120" y="324000"/>
            <a:ext cx="4568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71859B"/>
                </a:solidFill>
                <a:latin typeface="Arial"/>
                <a:ea typeface="Arial"/>
                <a:cs typeface="Arial"/>
              </a:rPr>
              <a:t>09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318FD16E-CDFC-4175-A2C0-8FA70552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080"/>
            <a:ext cx="10820160" cy="99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La aplicación ofrece dos capacidades; el modo automático solo decide a cuál dirigir la entrada.</a:t>
            </a:r>
            <a:endParaRPr sz="3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5DB8DCFD-2153-4261-83A6-353410AE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600"/>
            <a:ext cx="1082016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Consulta y siniestros comparten infraestructura, pero mantienen objetivos y contratos distintos.</a:t>
            </a:r>
            <a:endParaRPr sz="15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3732B7F6-FEC7-4A11-9BD8-9F91F866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120" y="3476520"/>
            <a:ext cx="4095360" cy="171432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509A1859-422E-4339-9F4C-01F583BA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600" y="3724200"/>
            <a:ext cx="11426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MODO 1</a:t>
            </a:r>
            <a:endParaRPr sz="11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B20641CC-E5D3-49CD-838F-BDCEEC1A8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600" y="4095720"/>
            <a:ext cx="2857320" cy="33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1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CONSULTA</a:t>
            </a:r>
            <a:endParaRPr sz="21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C7D26CF3-C21B-4DB7-802E-6E76734A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600" y="4610160"/>
            <a:ext cx="314280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Pregunta → evidencia → respuesta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66C3AA33-A11A-4CFE-B3C2-020ACF50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80" y="3476520"/>
            <a:ext cx="4095360" cy="171432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0BCF6E6C-7AD5-41C7-BFA1-DAB82981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3724200"/>
            <a:ext cx="11426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00A6A6"/>
                </a:solidFill>
                <a:latin typeface="Arial"/>
                <a:ea typeface="Arial"/>
                <a:cs typeface="Arial"/>
              </a:rPr>
              <a:t>MODO 2</a:t>
            </a:r>
            <a:endParaRPr sz="11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287642FF-E343-43CB-A84C-C8D945B6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4095720"/>
            <a:ext cx="2857320" cy="33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1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SINIESTRO</a:t>
            </a:r>
            <a:endParaRPr sz="21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584B4F82-A1CA-424A-A24E-888687719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4610160"/>
            <a:ext cx="333324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Relato → hechos → reglas → decisión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0F7C8BCA-B6A3-4F10-8B92-1D5F6BB6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1760" y="4324320"/>
            <a:ext cx="129564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3781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371C574A-3F9F-46C2-9915-548A1E23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240" y="427680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3781"/>
          </a:solidFill>
          <a:ln xmlns:a="http://schemas.openxmlformats.org/drawingml/2006/main" w="0">
            <a:solidFill>
              <a:srgbClr val="00378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FC6E4E59-93F4-4891-A2F0-42A2E803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640" y="3809880"/>
            <a:ext cx="1333080" cy="41868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0378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939C8C27-31B5-420D-BFFE-D33DD986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640" y="3905280"/>
            <a:ext cx="13330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AUTOMÁTICO</a:t>
            </a:r>
            <a:endParaRPr sz="11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58E1676B-0E36-4B0B-BEA0-3840467E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680" y="4476600"/>
            <a:ext cx="14760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3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clasifica la intención</a:t>
            </a:r>
            <a:endParaRPr sz="11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2166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0378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0FF5E3A1-6721-475C-AFA4-C95C793B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00"/>
            <a:ext cx="44762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MODO CONSULTA · RETRIEVAL</a:t>
            </a:r>
            <a:endParaRPr sz="9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42B3B866-BBCE-4BA9-ACD0-903E5BA4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D699D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F7FDD453-1AC5-4D53-BF3C-AC229DA6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54F924DA-500E-44A7-A291-A8E5874F92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8d2ce63dad4efe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86A5A3AC-50C3-4705-BDB0-2153F943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120" y="324000"/>
            <a:ext cx="4568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10</a:t>
            </a:r>
            <a:endParaRPr sz="9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A2866811-7B7E-4160-81CF-5314F1D6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080"/>
            <a:ext cx="10820160" cy="99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La consulta combina significado y término exacto antes de construir el contexto.</a:t>
            </a:r>
            <a:endParaRPr sz="30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1179F3A3-4C72-44DC-BD7E-5C77EC39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600"/>
            <a:ext cx="1082016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 strike="noStrike">
                <a:solidFill>
                  <a:srgbClr val="D7EAF7"/>
                </a:solidFill>
                <a:latin typeface="Arial"/>
                <a:ea typeface="Arial"/>
                <a:cs typeface="Arial"/>
              </a:rPr>
              <a:t>El retrieval híbrido reduce la dependencia de una única señal y conserva la procedencia de cada resultado.</a:t>
            </a:r>
            <a:endParaRPr sz="15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3731AA2A-3E33-4628-A52B-DF25A71B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680" y="4171680"/>
            <a:ext cx="32364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76B7D9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E73453EA-827F-4462-8A11-1766F23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520" y="412416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76B7D9"/>
          </a:solidFill>
          <a:ln xmlns:a="http://schemas.openxmlformats.org/drawingml/2006/main" w="0">
            <a:solidFill>
              <a:srgbClr val="76B7D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86FE19CC-4F17-4305-86C4-FC1ED2F6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760" y="3571920"/>
            <a:ext cx="1904760" cy="119988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B4D94"/>
          </a:solidFill>
          <a:ln xmlns:a="http://schemas.openxmlformats.org/drawingml/2006/main" w="9525">
            <a:solidFill>
              <a:srgbClr val="4F84B9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D52351AB-81FB-4CE0-BCF9-802EFCC0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880" y="3724200"/>
            <a:ext cx="16761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B6DAEC"/>
                </a:solidFill>
                <a:latin typeface="Arial"/>
                <a:ea typeface="Arial"/>
                <a:cs typeface="Arial"/>
              </a:rPr>
              <a:t>PREGUNTA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0026DC97-FE6A-402C-B0FE-4F4AAE63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60" y="4038480"/>
            <a:ext cx="163800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texto del usuario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6787DB34-C865-4B9B-B35E-B76E6A6F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280" y="4171680"/>
            <a:ext cx="32364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76B7D9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7545E86E-6F67-4CC2-84BE-A5D58ED8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20" y="412416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76B7D9"/>
          </a:solidFill>
          <a:ln xmlns:a="http://schemas.openxmlformats.org/drawingml/2006/main" w="0">
            <a:solidFill>
              <a:srgbClr val="76B7D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3737BBA9-DACD-403F-87BC-92852F85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60" y="3571920"/>
            <a:ext cx="1904760" cy="119988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B4D94"/>
          </a:solidFill>
          <a:ln xmlns:a="http://schemas.openxmlformats.org/drawingml/2006/main" w="9525">
            <a:solidFill>
              <a:srgbClr val="4F84B9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3FE3491A-F062-4C27-8E3A-DEF0237D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480" y="3724200"/>
            <a:ext cx="16761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B6DAEC"/>
                </a:solidFill>
                <a:latin typeface="Arial"/>
                <a:ea typeface="Arial"/>
                <a:cs typeface="Arial"/>
              </a:rPr>
              <a:t>DENSO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AB8B2034-0C90-4ADF-B72B-031C87A8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560" y="4038480"/>
            <a:ext cx="163800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embeddings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A75EEF12-8954-4A36-8D5E-33E02E2A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6880" y="4171680"/>
            <a:ext cx="32400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76B7D9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C5E8B1C7-A2EA-4B6E-AD06-6FA97D5B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720" y="412416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76B7D9"/>
          </a:solidFill>
          <a:ln xmlns:a="http://schemas.openxmlformats.org/drawingml/2006/main" w="0">
            <a:solidFill>
              <a:srgbClr val="76B7D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104F32AA-CC11-4DA0-89DD-F0587E32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60" y="3571920"/>
            <a:ext cx="1904760" cy="119988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B4D94"/>
          </a:solidFill>
          <a:ln xmlns:a="http://schemas.openxmlformats.org/drawingml/2006/main" w="9525">
            <a:solidFill>
              <a:srgbClr val="4F84B9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F3F07F7B-DF66-4074-8A44-45C34B49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440" y="3724200"/>
            <a:ext cx="16761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B6DAEC"/>
                </a:solidFill>
                <a:latin typeface="Arial"/>
                <a:ea typeface="Arial"/>
                <a:cs typeface="Arial"/>
              </a:rPr>
              <a:t>BM25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70EE4EF0-EDA8-457C-85E7-0F68A732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160" y="4038480"/>
            <a:ext cx="163800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léxico español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B7A32D7E-64B5-4520-A1A6-BBF200FF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480" y="4171680"/>
            <a:ext cx="32400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76B7D9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41ECD605-C683-45B8-9DC1-2F354EFE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680" y="412416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76B7D9"/>
          </a:solidFill>
          <a:ln xmlns:a="http://schemas.openxmlformats.org/drawingml/2006/main" w="0">
            <a:solidFill>
              <a:srgbClr val="76B7D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12324F91-D3C5-458B-8A71-2B719F40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560" y="3571920"/>
            <a:ext cx="1904760" cy="119988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9525">
            <a:solidFill>
              <a:srgbClr val="4F84B9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1790BF85-2224-4FAD-A98D-590A2DF3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1040" y="3724200"/>
            <a:ext cx="16761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B6DAEC"/>
                </a:solidFill>
                <a:latin typeface="Arial"/>
                <a:ea typeface="Arial"/>
                <a:cs typeface="Arial"/>
              </a:rPr>
              <a:t>RRF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393DD6BF-174A-46A6-8A62-2864BE7E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4038480"/>
            <a:ext cx="163800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fusión de ranking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2C77C432-63C3-4167-BB7E-F7204A63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160" y="3571920"/>
            <a:ext cx="1904760" cy="119988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0A6A6"/>
          </a:solidFill>
          <a:ln xmlns:a="http://schemas.openxmlformats.org/drawingml/2006/main" w="9525">
            <a:solidFill>
              <a:srgbClr val="4F84B9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C8C569C4-8780-494A-BFBB-2531EED1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40" y="3724200"/>
            <a:ext cx="16761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B6DAEC"/>
                </a:solidFill>
                <a:latin typeface="Arial"/>
                <a:ea typeface="Arial"/>
                <a:cs typeface="Arial"/>
              </a:rPr>
              <a:t>CONTEXTO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7ADDC4F5-A0D7-439E-BC95-45D6F7B4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720" y="4038480"/>
            <a:ext cx="163800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chunks + páginas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E087992F-FB6A-4A3B-8654-083A8E72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600"/>
            <a:ext cx="1082016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50" b="1" u="none" strike="noStrike">
                <a:solidFill>
                  <a:srgbClr val="D8EBF7"/>
                </a:solidFill>
                <a:latin typeface="Arial"/>
                <a:ea typeface="Arial"/>
                <a:cs typeface="Arial"/>
              </a:rPr>
              <a:t>Qdrant valida la firma del índice, elimina duplicados y devuelve evidencias compatibles con la configuración activa.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94917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DD9840ED-6BA2-434E-BE42-A65CBE3B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00"/>
            <a:ext cx="44762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MODO CONSULTA · LANGGRAPH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BB78216A-AE98-4CC7-8C23-2FB0D083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0BA9534E-27F0-4F3D-BCAD-B7635735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27438499-AE91-4EDD-891D-DDC2F6368E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0e750f103a4e4e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6CD42A37-FFF4-4628-BD9C-3282BA6D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120" y="324000"/>
            <a:ext cx="4568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71859B"/>
                </a:solidFill>
                <a:latin typeface="Arial"/>
                <a:ea typeface="Arial"/>
                <a:cs typeface="Arial"/>
              </a:rPr>
              <a:t>11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7B472A2E-688A-4B87-9C99-C3E6DD1D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080"/>
            <a:ext cx="10820160" cy="99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La respuesta documental pasa por tres estados y no sale sin validación.</a:t>
            </a:r>
            <a:endParaRPr sz="3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32D32971-3229-40D6-B4C5-008635E4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600"/>
            <a:ext cx="1082016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Cada nodo tiene una responsabilidad pequeña y se puede probar de forma independiente.</a:t>
            </a:r>
            <a:endParaRPr sz="15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5B3F767A-3A19-44AA-96FB-7ABE5549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4760" y="4171680"/>
            <a:ext cx="8382240" cy="36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79DB234F-6130-4BF0-A8B4-75360257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400" y="3352680"/>
            <a:ext cx="2190240" cy="16380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96981DDE-5E22-4C61-952B-71BC4110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8040" y="3524400"/>
            <a:ext cx="571320" cy="39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5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1</a:t>
            </a:r>
            <a:endParaRPr sz="22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39D826C0-29DC-4D19-9D13-356F338B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840" y="4038480"/>
            <a:ext cx="18093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RETRIEVE</a:t>
            </a:r>
            <a:endParaRPr sz="12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24E76ECC-8991-4509-A3C5-B333C4D7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840" y="4400640"/>
            <a:ext cx="1809360" cy="42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recupera y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deduplica contexto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E8B688EF-B810-41ED-943E-ECB3D0A4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2880" y="3352680"/>
            <a:ext cx="2190240" cy="16380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0475444A-570C-47FF-8C20-62DEF031A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520" y="3524400"/>
            <a:ext cx="571320" cy="39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5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2</a:t>
            </a:r>
            <a:endParaRPr sz="22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D242BFC3-364F-4986-B16F-15AE76B8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680" y="4038480"/>
            <a:ext cx="18093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GENERATE</a:t>
            </a:r>
            <a:endParaRPr sz="12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9A13D87B-615F-4E54-A51D-E65DE622F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680" y="4400640"/>
            <a:ext cx="1809360" cy="42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el modelo recibe solo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el contexto recuperado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93563366-0460-416E-8B7E-EF7FA0F7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20" y="3352680"/>
            <a:ext cx="2190240" cy="16380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EA3D1BEA-1BEB-4116-97AF-2E964D30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60" y="3524400"/>
            <a:ext cx="571320" cy="39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5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22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559A7128-A222-4591-9653-9088823D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160" y="4038480"/>
            <a:ext cx="18093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VALIDATE</a:t>
            </a:r>
            <a:endParaRPr sz="12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C4FE1430-3235-4DB0-9D2B-FD853C4A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160" y="4400640"/>
            <a:ext cx="1809360" cy="42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comprueba estado,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evidencias y citas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7D9853FC-90CF-4211-8381-69C85875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760"/>
            <a:ext cx="1082016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003781"/>
                </a:solidFill>
                <a:latin typeface="Arial"/>
                <a:ea typeface="Arial"/>
                <a:cs typeface="Arial"/>
              </a:rPr>
              <a:t>Sin contexto suficiente, el flujo devuelve una salida explícita de evidencia insuficiente.</a:t>
            </a:r>
            <a:endParaRPr sz="14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4206570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2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2C0A0D84-C7A8-417D-ABA3-21A17E9F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00"/>
            <a:ext cx="44762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MODO SINIESTRO · COMPRENSIÓN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86493F0B-8BA8-4BAF-A138-88138795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0C84E8EB-A622-4427-8C0E-2D9A36C9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BAF51D1E-3942-4EF1-8C34-5172BC5E50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6d81bdcb8e4ddd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BA523110-AEDD-47D9-AB3C-9F30B94D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120" y="324000"/>
            <a:ext cx="4568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71859B"/>
                </a:solidFill>
                <a:latin typeface="Arial"/>
                <a:ea typeface="Arial"/>
                <a:cs typeface="Arial"/>
              </a:rPr>
              <a:t>12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E7D67D14-45D6-4EDB-A635-431386D8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080"/>
            <a:ext cx="10820160" cy="99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El retrieval del siniestro busca criterios; no intenta decidir directamente.</a:t>
            </a:r>
            <a:endParaRPr sz="3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B268DBE2-F949-4BFB-86D7-6258A730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600"/>
            <a:ext cx="1082016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Primero se estructura lo que afirma cada parte y después se recupera el conocimiento necesario para evaluarlo.</a:t>
            </a:r>
            <a:endParaRPr sz="15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51569BB1-2BEA-48A0-B44A-50FDACAC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560" y="4248000"/>
            <a:ext cx="54288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F35CEF0C-4622-45AA-A84D-81DA225E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40" y="420048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F5C54819-A7FC-4088-A46A-369CED15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52840"/>
            <a:ext cx="266652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RELATO</a:t>
            </a:r>
            <a:endParaRPr sz="11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EB9D7C53-735B-4512-8F48-AC0AD33C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680"/>
            <a:ext cx="2857320" cy="68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Texto libre, versiones</a:t>
            </a:r>
            <a:endParaRPr sz="14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y posibles contradicciones</a:t>
            </a:r>
            <a:endParaRPr sz="14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6681F2D6-317C-4325-A672-0126C3AC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000" y="4248000"/>
            <a:ext cx="54288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F4090683-2823-4437-A9BF-9E85B712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080" y="420048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33A7103D-5622-40BB-8845-93F7C897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240" y="3552840"/>
            <a:ext cx="266652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00A6A6"/>
                </a:solidFill>
                <a:latin typeface="Arial"/>
                <a:ea typeface="Arial"/>
                <a:cs typeface="Arial"/>
              </a:rPr>
              <a:t>HECHOS TIPADOS</a:t>
            </a:r>
            <a:endParaRPr sz="11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C1CE4FCC-7360-41D2-950B-5F199400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240" y="4000680"/>
            <a:ext cx="2857320" cy="68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Partes, maniobras, D.A.A.</a:t>
            </a:r>
            <a:endParaRPr sz="14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y datos desconocidos</a:t>
            </a:r>
            <a:endParaRPr sz="14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4A884CEC-91C4-4CE3-B4F7-78E15BA6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680" y="3552840"/>
            <a:ext cx="266652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003781"/>
                </a:solidFill>
                <a:latin typeface="Arial"/>
                <a:ea typeface="Arial"/>
                <a:cs typeface="Arial"/>
              </a:rPr>
              <a:t>CRITERIOS</a:t>
            </a:r>
            <a:endParaRPr sz="11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09A52734-8A0C-4F65-80DE-EC4D69F8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680" y="4000680"/>
            <a:ext cx="2857320" cy="68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Aplicabilidad, convenio,</a:t>
            </a:r>
            <a:endParaRPr sz="14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reglas y evidencias del manual</a:t>
            </a:r>
            <a:endParaRPr sz="14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8589B919-DB77-4F0F-81EE-A8B70A03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3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D324E913-CEC0-4BEF-A54A-11AB4DF2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20"/>
            <a:ext cx="10820160" cy="323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003781"/>
                </a:solidFill>
                <a:latin typeface="Arial"/>
                <a:ea typeface="Arial"/>
                <a:cs typeface="Arial"/>
              </a:rPr>
              <a:t>El relato aporta hechos del accidente. El manual aporta reglas. La conclusión necesita ambos.</a:t>
            </a:r>
            <a:endParaRPr sz="14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39066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CF6D8C21-9A82-456B-ABE9-4D68FF7E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00"/>
            <a:ext cx="44762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MODO SINIESTRO · LANGGRAPH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C0F05D43-D9DE-4E41-A118-7F9987F5E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17FCE967-7BAD-48DD-A19B-D8AC7D37A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C9C7E90E-ACC0-4D05-AFB5-AE057F9F50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c5e9b97da34450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E977CC75-4952-44EB-80E6-0DED5E1E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120" y="324000"/>
            <a:ext cx="4568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71859B"/>
                </a:solidFill>
                <a:latin typeface="Arial"/>
                <a:ea typeface="Arial"/>
                <a:cs typeface="Arial"/>
              </a:rPr>
              <a:t>13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AB5375DA-CAF3-4247-B383-E5BADD4F9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080"/>
            <a:ext cx="10820160" cy="99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El grafo puede interrumpirse, preguntar y reanudar antes de explicar el resultado.</a:t>
            </a:r>
            <a:endParaRPr sz="3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25777A2B-422E-478B-BAD8-08216842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600"/>
            <a:ext cx="1082016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La entrevista forma parte del workflow: no es una respuesta improvisada fuera del proceso.</a:t>
            </a:r>
            <a:endParaRPr sz="15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6CF0E4E8-EBDF-4FA7-96DB-FD125570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160" y="3981240"/>
            <a:ext cx="23832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15CCDE7C-B5E0-4769-891D-34478C87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320" y="393372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4BE804A0-A6E6-42B3-A57E-5C97FDE2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800" y="3476520"/>
            <a:ext cx="1294920" cy="100944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B35BF186-347A-433A-9C4E-DDA5EBEA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80" y="3629160"/>
            <a:ext cx="10663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EXTRACT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84C9659A-46AD-4B8F-967C-F7FA0D7F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60" y="3943440"/>
            <a:ext cx="102852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hechos + plan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E4DCE3BA-806C-4AFD-9E9C-DBB2BA4E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680" y="3981240"/>
            <a:ext cx="23796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FBA32E11-5891-44B7-8723-46109D0C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40" y="393372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55F77FA6-04D0-424D-ACBE-D59A3375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20" y="3476520"/>
            <a:ext cx="1294920" cy="100944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62764D56-62A4-4028-A5F4-D60FCFEF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800" y="3629160"/>
            <a:ext cx="10663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RETRIEVE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C7D99B76-358E-4CFE-8C0E-40883141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880" y="3943440"/>
            <a:ext cx="102852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criterios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7EF7920E-2666-4C95-B832-B220FB4B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981240"/>
            <a:ext cx="23796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F99FA386-2648-4B3C-95C4-A5BEEC23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360" y="393372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B95E6C5D-018C-4CA5-AF07-C75C56E3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840" y="3476520"/>
            <a:ext cx="1294920" cy="100944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CFE190DD-BE27-4414-8474-741957FF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960" y="3629160"/>
            <a:ext cx="10663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APPLY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3CDC7E78-E810-4D12-AC19-2356F3EB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040" y="3943440"/>
            <a:ext cx="102852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reglas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3D248F10-439C-48A1-AA53-4E57CF1E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360" y="3981240"/>
            <a:ext cx="23832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959FC838-E003-4F32-9DEA-7606F4F8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520" y="393372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042EDDF2-8C6C-40CC-A410-7B053A88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000" y="3476520"/>
            <a:ext cx="1294920" cy="100944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6EF389FA-3289-4732-8532-92215FCC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80" y="3629160"/>
            <a:ext cx="10663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PLAN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FCCC04FD-5EED-4783-B821-B6D491D5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60" y="3943440"/>
            <a:ext cx="102852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entrevista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AAE93EFF-954A-470F-ACD6-F2DBB0B7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3981240"/>
            <a:ext cx="23796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3ED84CDC-4806-42AE-9B3B-785AC4D8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40" y="393372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3A7E0DB1-DF6D-4716-AD22-0F21F80D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20" y="3476520"/>
            <a:ext cx="1294920" cy="100944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8A3E1022-04FD-4400-893D-771D96B8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2000" y="3629160"/>
            <a:ext cx="10663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GATE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F5F1158A-FABD-4F00-97CE-7F3BC9F6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1080" y="3943440"/>
            <a:ext cx="102852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¿falta información?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1A19C3B7-714A-4499-BC83-EC44DEBF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981240"/>
            <a:ext cx="23796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E49D46DC-3AAA-4F86-9CB0-4EFDC0A5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560" y="393372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5559B9AF-55C0-4B2A-8B49-35B659703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4040" y="3476520"/>
            <a:ext cx="1294920" cy="100944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08C35F31-1583-4329-AF2E-08548FF3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160" y="3629160"/>
            <a:ext cx="10663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EXPLAIN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27244434-7DB0-4DFA-A2FE-9633F4A45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240" y="3943440"/>
            <a:ext cx="102852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resultado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EF9A3C12-C043-4CEB-879D-E234036E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200" y="3476520"/>
            <a:ext cx="1294920" cy="100944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98BBEC2C-AD3B-4F2F-BE1C-D4E30C88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80" y="3629160"/>
            <a:ext cx="10663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VALIDATE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C76ACC9E-4529-4A83-B468-6B7C43EF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60" y="3943440"/>
            <a:ext cx="102852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salida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B55936CF-7A08-4279-B2AA-292EF6EE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480" y="4762440"/>
            <a:ext cx="342900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A6A6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A28095B9-D16A-4785-A838-43285C85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905360"/>
            <a:ext cx="26190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00A6A6"/>
                </a:solidFill>
                <a:latin typeface="Arial"/>
                <a:ea typeface="Arial"/>
                <a:cs typeface="Arial"/>
              </a:rPr>
              <a:t>↶  si responde, reextraer hechos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C5A6802F-4FF6-4F4C-802B-9B43060A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760"/>
            <a:ext cx="1082016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50" b="1" u="none" strike="noStrike">
                <a:solidFill>
                  <a:srgbClr val="003781"/>
                </a:solidFill>
                <a:latin typeface="Arial"/>
                <a:ea typeface="Arial"/>
                <a:cs typeface="Arial"/>
              </a:rPr>
              <a:t>MemorySaver conserva el hilo en memoria: se pierde al reiniciar y no se comparte entre réplicas.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7760214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0378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83E4A502-5EF0-4307-9016-75F066C49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00"/>
            <a:ext cx="44762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MODO SINIESTRO · DECISIÓN</a:t>
            </a:r>
            <a:endParaRPr sz="9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1D3A6366-AD00-40D5-8816-8E9BE0D2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D699D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D213B00E-D223-483B-87D4-7821A639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531E4047-C005-4C3A-B9F9-AC1268ADE2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05c5c2ac8c4354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534C5CE4-A014-4240-91DE-47379558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120" y="324000"/>
            <a:ext cx="4568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14</a:t>
            </a:r>
            <a:endParaRPr sz="9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AD75813C-EA24-4061-9B5A-52F5C67C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080"/>
            <a:ext cx="10820160" cy="99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El LLM estructura y explica; el motor determinístico decide con hechos explícitos.</a:t>
            </a:r>
            <a:endParaRPr sz="30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5C29C900-EC32-4801-8967-2A728A94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600"/>
            <a:ext cx="1082016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 strike="noStrike">
                <a:solidFill>
                  <a:srgbClr val="D7EAF7"/>
                </a:solidFill>
                <a:latin typeface="Arial"/>
                <a:ea typeface="Arial"/>
                <a:cs typeface="Arial"/>
              </a:rPr>
              <a:t>La separación impide que una redacción convincente sobrescriba el resultado de las reglas.</a:t>
            </a:r>
            <a:endParaRPr sz="15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4AF213C6-E70E-48F4-9950-25E6B82A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360" y="4171680"/>
            <a:ext cx="35244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74B6D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F068BF30-28E2-450B-B90E-7847BBDB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0000" y="412416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74B6D8"/>
          </a:solidFill>
          <a:ln xmlns:a="http://schemas.openxmlformats.org/drawingml/2006/main" w="0">
            <a:solidFill>
              <a:srgbClr val="74B6D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9A86EDCE-2F27-4B6B-8C74-2D656A4C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680" y="3571920"/>
            <a:ext cx="1847520" cy="119988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B4D94"/>
          </a:solidFill>
          <a:ln xmlns:a="http://schemas.openxmlformats.org/drawingml/2006/main" w="9525">
            <a:solidFill>
              <a:srgbClr val="4D82B6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FCB33400-49E3-42C2-8C78-CE08A4F8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00" y="3724200"/>
            <a:ext cx="16189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AFD7EA"/>
                </a:solidFill>
                <a:latin typeface="Arial"/>
                <a:ea typeface="Arial"/>
                <a:cs typeface="Arial"/>
              </a:rPr>
              <a:t>HECHOS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18726AA7-EAE3-4B7F-BEAF-85498B90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880" y="4038480"/>
            <a:ext cx="158076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valores expresos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y contradicciones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70E9BD13-D305-4703-AF51-F0B373BD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00" y="4171680"/>
            <a:ext cx="35244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74B6D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73AAA596-A647-4BB9-9185-2C4887BC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2880" y="412416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74B6D8"/>
          </a:solidFill>
          <a:ln xmlns:a="http://schemas.openxmlformats.org/drawingml/2006/main" w="0">
            <a:solidFill>
              <a:srgbClr val="74B6D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77DBFA6D-9AB1-44D7-B3D1-6A2213C9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560" y="3571920"/>
            <a:ext cx="1847520" cy="119988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B4D94"/>
          </a:solidFill>
          <a:ln xmlns:a="http://schemas.openxmlformats.org/drawingml/2006/main" w="9525">
            <a:solidFill>
              <a:srgbClr val="4D82B6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9F06F556-7C28-417B-ABA1-46AA72F6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40" y="3724200"/>
            <a:ext cx="16189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AFD7EA"/>
                </a:solidFill>
                <a:latin typeface="Arial"/>
                <a:ea typeface="Arial"/>
                <a:cs typeface="Arial"/>
              </a:rPr>
              <a:t>APLICABILIDAD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BE0B392F-F678-49C3-8DA2-77CBCD40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120" y="4038480"/>
            <a:ext cx="158076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puertas CIDE /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ASCIDE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91823B42-A4E0-421A-BE77-6DDC8957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480" y="4171680"/>
            <a:ext cx="35244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74B6D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A8A2CFC3-EFD5-4D5B-8E3D-548CA1EB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20" y="412416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74B6D8"/>
          </a:solidFill>
          <a:ln xmlns:a="http://schemas.openxmlformats.org/drawingml/2006/main" w="0">
            <a:solidFill>
              <a:srgbClr val="74B6D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E4FC81F4-CD90-4A45-A1B0-BC267900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00" y="3571920"/>
            <a:ext cx="1847520" cy="119988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B4D94"/>
          </a:solidFill>
          <a:ln xmlns:a="http://schemas.openxmlformats.org/drawingml/2006/main" w="9525">
            <a:solidFill>
              <a:srgbClr val="4D82B6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14B52507-CC72-47E9-86EB-D184A678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280" y="3724200"/>
            <a:ext cx="16189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AFD7EA"/>
                </a:solidFill>
                <a:latin typeface="Arial"/>
                <a:ea typeface="Arial"/>
                <a:cs typeface="Arial"/>
              </a:rPr>
              <a:t>RULESET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69709375-2FEF-4E9A-847E-68119064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360" y="4038480"/>
            <a:ext cx="158076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predicados cerrados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y versionados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36C2AE84-31FF-4F1A-B8EC-353BEB3B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720" y="4171680"/>
            <a:ext cx="35244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74B6D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97E2A47F-6B3C-494D-8796-CE772D9E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60" y="412416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74B6D8"/>
          </a:solidFill>
          <a:ln xmlns:a="http://schemas.openxmlformats.org/drawingml/2006/main" w="0">
            <a:solidFill>
              <a:srgbClr val="74B6D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E1AC1899-ABFC-4E7A-8D7D-17E04BF2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40" y="3571920"/>
            <a:ext cx="1847520" cy="119988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B4D94"/>
          </a:solidFill>
          <a:ln xmlns:a="http://schemas.openxmlformats.org/drawingml/2006/main" w="9525">
            <a:solidFill>
              <a:srgbClr val="4D82B6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3B4A3CF5-D7A0-45B5-ABCF-14E35999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160" y="3724200"/>
            <a:ext cx="16189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AFD7EA"/>
                </a:solidFill>
                <a:latin typeface="Arial"/>
                <a:ea typeface="Arial"/>
                <a:cs typeface="Arial"/>
              </a:rPr>
              <a:t>MATRIZ CIDE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819D68CE-87B1-4A96-B5FA-5253C736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240" y="4038480"/>
            <a:ext cx="158076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18 × 18 +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observaciones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ACFAA33E-9968-4FC0-B6E7-E4C33EEA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280" y="3571920"/>
            <a:ext cx="1847520" cy="119988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0A6A6"/>
          </a:solidFill>
          <a:ln xmlns:a="http://schemas.openxmlformats.org/drawingml/2006/main" w="9525">
            <a:solidFill>
              <a:srgbClr val="4D82B6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237116A7-BA39-40B9-BF68-F89A576CE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00" y="3724200"/>
            <a:ext cx="16189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AFD7EA"/>
                </a:solidFill>
                <a:latin typeface="Arial"/>
                <a:ea typeface="Arial"/>
                <a:cs typeface="Arial"/>
              </a:rPr>
              <a:t>RESULTADO</a:t>
            </a:r>
            <a:endParaRPr sz="128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095BA10A-3892-4983-B971-C91A2D12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480" y="4038480"/>
            <a:ext cx="1580760" cy="60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resuelto · condicional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· indeterminado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DB70E993-D1D1-4461-908F-63CF246C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600"/>
            <a:ext cx="10820160" cy="28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30" b="1" u="none" strike="noStrike">
                <a:solidFill>
                  <a:srgbClr val="D8EBF7"/>
                </a:solidFill>
                <a:latin typeface="Arial"/>
                <a:ea typeface="Arial"/>
                <a:cs typeface="Arial"/>
              </a:rPr>
              <a:t>Si una regla necesita un hecho ausente, devuelve insufficient_data: no fabrica la condición.</a:t>
            </a:r>
            <a:endParaRPr sz="14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34171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30CE6086-2AE1-437B-B3EA-DC546FCD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00"/>
            <a:ext cx="44762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OBSERVABILIDAD CON LANGFUSE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07A70CF3-3530-4F47-AE8B-96C7BB31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9D9E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2622BC34-1FE1-4D6E-9B2E-9ED0BBEB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44669A38-9199-4B51-9B93-6145F0445E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ffb2e2bea54a8d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FC17558B-2287-4A52-9BBA-C056A76F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120" y="324000"/>
            <a:ext cx="4568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71859B"/>
                </a:solidFill>
                <a:latin typeface="Arial"/>
                <a:ea typeface="Arial"/>
                <a:cs typeface="Arial"/>
              </a:rPr>
              <a:t>15</a:t>
            </a:r>
            <a:endParaRPr sz="9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5E633DA4-8AD1-40EA-BA38-5C911DE8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080"/>
            <a:ext cx="10820160" cy="99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Cada respuesta puede recorrerse desde la sesión hasta la llamada concreta al modelo.</a:t>
            </a:r>
            <a:endParaRPr sz="30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E5285669-7D3F-4720-A729-D8C186A5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600"/>
            <a:ext cx="1082016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 strike="noStrike">
                <a:solidFill>
                  <a:srgbClr val="49627F"/>
                </a:solidFill>
                <a:latin typeface="Arial"/>
                <a:ea typeface="Arial"/>
                <a:cs typeface="Arial"/>
              </a:rPr>
              <a:t>Una traza local devolvió siete observaciones con modelo, uso y coste; el claim interrumpido conserva traza e hilo.</a:t>
            </a:r>
            <a:endParaRPr sz="15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6F858C30-91B7-4CBD-963F-3315DCFA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520" y="4095720"/>
            <a:ext cx="34272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85E61ECF-0F1B-49F1-B02E-17ABDDD1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40" y="404820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627843A1-6D56-489A-B340-0EEF956F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760" y="3429000"/>
            <a:ext cx="475920" cy="323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2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1</a:t>
            </a:r>
            <a:endParaRPr sz="202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5D523BE8-25FB-4037-8A1F-D296A21F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760" y="3857760"/>
            <a:ext cx="190476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SESIÓN</a:t>
            </a:r>
            <a:endParaRPr sz="11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8A6FAD93-1033-45EE-B964-C64D11AF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760" y="4276800"/>
            <a:ext cx="18568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session_id</a:t>
            </a:r>
            <a:endParaRPr sz="12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260192C5-8F2F-4274-A088-972AF5AC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120" y="4095720"/>
            <a:ext cx="34308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FEA057AC-C51A-4F33-AEFB-58AB2300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040" y="404820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0A5A62E5-24A0-466F-AC5A-11C70374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60" y="3429000"/>
            <a:ext cx="475920" cy="323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20" b="1" u="none" strike="noStrike">
                <a:solidFill>
                  <a:srgbClr val="00A6A6"/>
                </a:solidFill>
                <a:latin typeface="Arial"/>
                <a:ea typeface="Arial"/>
                <a:cs typeface="Arial"/>
              </a:rPr>
              <a:t>2</a:t>
            </a:r>
            <a:endParaRPr sz="202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023F9036-1D12-4977-B70F-4136C1BAE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60" y="3857760"/>
            <a:ext cx="190476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00A6A6"/>
                </a:solidFill>
                <a:latin typeface="Arial"/>
                <a:ea typeface="Arial"/>
                <a:cs typeface="Arial"/>
              </a:rPr>
              <a:t>WORKFLOW</a:t>
            </a:r>
            <a:endParaRPr sz="11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262CDF26-7452-41D9-9A6F-AA957EA2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60" y="4276800"/>
            <a:ext cx="18568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question · claim · router</a:t>
            </a:r>
            <a:endParaRPr sz="12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F5E2CB0A-503D-4455-BF9F-361FEC3E6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720" y="4095720"/>
            <a:ext cx="34308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D2BF9AE0-0A96-4660-B012-046BE48A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640" y="404820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9B779173-280E-4890-BDBA-F7D0F6D7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60" y="3429000"/>
            <a:ext cx="475920" cy="323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20" b="1" u="none" strike="noStrike">
                <a:solidFill>
                  <a:srgbClr val="003781"/>
                </a:solidFill>
                <a:latin typeface="Arial"/>
                <a:ea typeface="Arial"/>
                <a:cs typeface="Arial"/>
              </a:rPr>
              <a:t>3</a:t>
            </a:r>
            <a:endParaRPr sz="202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36879317-CD2D-4B1B-8006-AA5F3565C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60" y="3857760"/>
            <a:ext cx="190476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003781"/>
                </a:solidFill>
                <a:latin typeface="Arial"/>
                <a:ea typeface="Arial"/>
                <a:cs typeface="Arial"/>
              </a:rPr>
              <a:t>RETRIEVAL</a:t>
            </a:r>
            <a:endParaRPr sz="11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6AC96C63-332D-4B59-904C-E80A335B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60" y="4276800"/>
            <a:ext cx="18568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consulta y evidencias</a:t>
            </a:r>
            <a:endParaRPr sz="12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2C87240D-4741-4A7D-8A43-9A50C870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320" y="4095720"/>
            <a:ext cx="34308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7AB8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5CFFCA91-701E-4357-9016-FFE085BD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600" y="4048200"/>
            <a:ext cx="95040" cy="9504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007AB8"/>
          </a:solidFill>
          <a:ln xmlns:a="http://schemas.openxmlformats.org/drawingml/2006/main" w="0">
            <a:solidFill>
              <a:srgbClr val="007A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38768BB3-232F-4CA8-92F9-9BAC5DD3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560" y="3429000"/>
            <a:ext cx="475920" cy="323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2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4</a:t>
            </a:r>
            <a:endParaRPr sz="202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5" name="">
            <a:extLst xmlns:a="http://schemas.openxmlformats.org/drawingml/2006/main">
              <a:ext uri="{FF2B5EF4-FFF2-40B4-BE49-F238E27FC236}">
                <a16:creationId xmlns:a16="http://schemas.microsoft.com/office/drawing/2014/main" id="{70F296CB-7C78-4B3A-8CED-88718EA8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560" y="3857760"/>
            <a:ext cx="190476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007AB8"/>
                </a:solidFill>
                <a:latin typeface="Arial"/>
                <a:ea typeface="Arial"/>
                <a:cs typeface="Arial"/>
              </a:rPr>
              <a:t>GENERACIONES</a:t>
            </a:r>
            <a:endParaRPr sz="11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6" name="">
            <a:extLst xmlns:a="http://schemas.openxmlformats.org/drawingml/2006/main">
              <a:ext uri="{FF2B5EF4-FFF2-40B4-BE49-F238E27FC236}">
                <a16:creationId xmlns:a16="http://schemas.microsoft.com/office/drawing/2014/main" id="{F0FE0228-D896-4B07-A049-7FC5627B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560" y="4276800"/>
            <a:ext cx="18568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modelo · tokens · coste</a:t>
            </a:r>
            <a:endParaRPr sz="12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7" name="">
            <a:extLst xmlns:a="http://schemas.openxmlformats.org/drawingml/2006/main">
              <a:ext uri="{FF2B5EF4-FFF2-40B4-BE49-F238E27FC236}">
                <a16:creationId xmlns:a16="http://schemas.microsoft.com/office/drawing/2014/main" id="{710C8342-F413-41C4-A3CA-71BBBB8C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160" y="3429000"/>
            <a:ext cx="475920" cy="323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20" b="1" u="none" strike="noStrike">
                <a:solidFill>
                  <a:srgbClr val="00A6A6"/>
                </a:solidFill>
                <a:latin typeface="Arial"/>
                <a:ea typeface="Arial"/>
                <a:cs typeface="Arial"/>
              </a:rPr>
              <a:t>5</a:t>
            </a:r>
            <a:endParaRPr sz="202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8" name="">
            <a:extLst xmlns:a="http://schemas.openxmlformats.org/drawingml/2006/main">
              <a:ext uri="{FF2B5EF4-FFF2-40B4-BE49-F238E27FC236}">
                <a16:creationId xmlns:a16="http://schemas.microsoft.com/office/drawing/2014/main" id="{F673C177-0BDE-4777-AC9B-45536153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160" y="3857760"/>
            <a:ext cx="190476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00A6A6"/>
                </a:solidFill>
                <a:latin typeface="Arial"/>
                <a:ea typeface="Arial"/>
                <a:cs typeface="Arial"/>
              </a:rPr>
              <a:t>RESULTADO</a:t>
            </a:r>
            <a:endParaRPr sz="11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9" name="">
            <a:extLst xmlns:a="http://schemas.openxmlformats.org/drawingml/2006/main">
              <a:ext uri="{FF2B5EF4-FFF2-40B4-BE49-F238E27FC236}">
                <a16:creationId xmlns:a16="http://schemas.microsoft.com/office/drawing/2014/main" id="{E59BA42E-836E-4F9B-9652-1033B2D6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160" y="4276800"/>
            <a:ext cx="18568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1" u="none" strike="noStrike">
                <a:solidFill>
                  <a:srgbClr val="071E41"/>
                </a:solidFill>
                <a:latin typeface="Arial"/>
                <a:ea typeface="Arial"/>
                <a:cs typeface="Arial"/>
              </a:rPr>
              <a:t>latencia · estado · score</a:t>
            </a:r>
            <a:endParaRPr sz="12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0" name="">
            <a:extLst xmlns:a="http://schemas.openxmlformats.org/drawingml/2006/main">
              <a:ext uri="{FF2B5EF4-FFF2-40B4-BE49-F238E27FC236}">
                <a16:creationId xmlns:a16="http://schemas.microsoft.com/office/drawing/2014/main" id="{E1E25E76-778E-4AF2-A4C5-40728FEA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60"/>
            <a:ext cx="10820160" cy="6282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1" name="">
            <a:extLst xmlns:a="http://schemas.openxmlformats.org/drawingml/2006/main">
              <a:ext uri="{FF2B5EF4-FFF2-40B4-BE49-F238E27FC236}">
                <a16:creationId xmlns:a16="http://schemas.microsoft.com/office/drawing/2014/main" id="{6982F453-CCEE-4A9C-8EEA-6AF2F62A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240" y="5543640"/>
            <a:ext cx="10438920" cy="256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50" b="1" u="none" strike="noStrike">
                <a:solidFill>
                  <a:srgbClr val="003781"/>
                </a:solidFill>
                <a:latin typeface="Arial"/>
                <a:ea typeface="Arial"/>
                <a:cs typeface="Arial"/>
              </a:rPr>
              <a:t>La API devolvió 7 observaciones; el enlace no se abrió manualmente en la interfaz.</a:t>
            </a:r>
            <a:endParaRPr sz="13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650017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0378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2" name="">
            <a:extLst xmlns:a="http://schemas.openxmlformats.org/drawingml/2006/main">
              <a:ext uri="{FF2B5EF4-FFF2-40B4-BE49-F238E27FC236}">
                <a16:creationId xmlns:a16="http://schemas.microsoft.com/office/drawing/2014/main" id="{EF66900B-B902-48A1-A437-543DA763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00"/>
            <a:ext cx="44762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EVALUACIÓN Y CIERRE</a:t>
            </a:r>
            <a:endParaRPr sz="9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3" name="">
            <a:extLst xmlns:a="http://schemas.openxmlformats.org/drawingml/2006/main">
              <a:ext uri="{FF2B5EF4-FFF2-40B4-BE49-F238E27FC236}">
                <a16:creationId xmlns:a16="http://schemas.microsoft.com/office/drawing/2014/main" id="{4E14D9FD-9105-483E-AA78-864CB6FE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D699D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4" name="">
            <a:extLst xmlns:a="http://schemas.openxmlformats.org/drawingml/2006/main">
              <a:ext uri="{FF2B5EF4-FFF2-40B4-BE49-F238E27FC236}">
                <a16:creationId xmlns:a16="http://schemas.microsoft.com/office/drawing/2014/main" id="{CA037D6F-5BAB-46E2-B401-33E13B0D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375" name="">
            <a:extLst xmlns:a="http://schemas.openxmlformats.org/drawingml/2006/main">
              <a:ext uri="{FF2B5EF4-FFF2-40B4-BE49-F238E27FC236}">
                <a16:creationId xmlns:a16="http://schemas.microsoft.com/office/drawing/2014/main" id="{290CBB6B-4C26-40EB-8215-40B6F6C684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d800c99954030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376" name="">
            <a:extLst xmlns:a="http://schemas.openxmlformats.org/drawingml/2006/main">
              <a:ext uri="{FF2B5EF4-FFF2-40B4-BE49-F238E27FC236}">
                <a16:creationId xmlns:a16="http://schemas.microsoft.com/office/drawing/2014/main" id="{6C183FB3-5B4E-4BF4-AD20-93F60090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120" y="324000"/>
            <a:ext cx="456840" cy="19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16</a:t>
            </a:r>
            <a:endParaRPr sz="9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7" name="">
            <a:extLst xmlns:a="http://schemas.openxmlformats.org/drawingml/2006/main">
              <a:ext uri="{FF2B5EF4-FFF2-40B4-BE49-F238E27FC236}">
                <a16:creationId xmlns:a16="http://schemas.microsoft.com/office/drawing/2014/main" id="{22D6B04D-1D57-45A7-81D4-F4D9AADD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080"/>
            <a:ext cx="10820160" cy="99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La evaluación demuestra capacidad y también límites concretos.</a:t>
            </a:r>
            <a:endParaRPr sz="30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8" name="">
            <a:extLst xmlns:a="http://schemas.openxmlformats.org/drawingml/2006/main">
              <a:ext uri="{FF2B5EF4-FFF2-40B4-BE49-F238E27FC236}">
                <a16:creationId xmlns:a16="http://schemas.microsoft.com/office/drawing/2014/main" id="{8BF56534-A0E6-45C2-A7A9-79A522E2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600"/>
            <a:ext cx="10820160" cy="55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 strike="noStrike">
                <a:solidFill>
                  <a:srgbClr val="D7EAF7"/>
                </a:solidFill>
                <a:latin typeface="Arial"/>
                <a:ea typeface="Arial"/>
                <a:cs typeface="Arial"/>
              </a:rPr>
              <a:t>110 casos sintéticos · 330 ejecuciones técnicas · router y guard Jev · respuesta y extracción OpenAI Luna.</a:t>
            </a:r>
            <a:endParaRPr sz="15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9" name="">
            <a:extLst xmlns:a="http://schemas.openxmlformats.org/drawingml/2006/main">
              <a:ext uri="{FF2B5EF4-FFF2-40B4-BE49-F238E27FC236}">
                <a16:creationId xmlns:a16="http://schemas.microsoft.com/office/drawing/2014/main" id="{C07ED179-18AF-4869-921B-BC42512B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600"/>
            <a:ext cx="2095200" cy="51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30" b="1" u="none" strike="noStrike">
                <a:solidFill>
                  <a:srgbClr val="53C4D5"/>
                </a:solidFill>
                <a:latin typeface="Arial"/>
                <a:ea typeface="Arial"/>
                <a:cs typeface="Arial"/>
              </a:rPr>
              <a:t>330/330</a:t>
            </a:r>
            <a:endParaRPr sz="32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0" name="">
            <a:extLst xmlns:a="http://schemas.openxmlformats.org/drawingml/2006/main">
              <a:ext uri="{FF2B5EF4-FFF2-40B4-BE49-F238E27FC236}">
                <a16:creationId xmlns:a16="http://schemas.microsoft.com/office/drawing/2014/main" id="{3D9F60E2-FE0C-4A64-85D7-A8CA5110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760"/>
            <a:ext cx="209520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D8EBF7"/>
                </a:solidFill>
                <a:latin typeface="Arial"/>
                <a:ea typeface="Arial"/>
                <a:cs typeface="Arial"/>
              </a:rPr>
              <a:t>ejecuciones sin error técnico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1" name="">
            <a:extLst xmlns:a="http://schemas.openxmlformats.org/drawingml/2006/main">
              <a:ext uri="{FF2B5EF4-FFF2-40B4-BE49-F238E27FC236}">
                <a16:creationId xmlns:a16="http://schemas.microsoft.com/office/drawing/2014/main" id="{AC891DFB-8DE4-430C-85A0-6DDDEB61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160" y="3333600"/>
            <a:ext cx="2095200" cy="51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30" b="1" u="none" strike="noStrike">
                <a:solidFill>
                  <a:srgbClr val="53C4D5"/>
                </a:solidFill>
                <a:latin typeface="Arial"/>
                <a:ea typeface="Arial"/>
                <a:cs typeface="Arial"/>
              </a:rPr>
              <a:t>97/110</a:t>
            </a:r>
            <a:endParaRPr sz="32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2" name="">
            <a:extLst xmlns:a="http://schemas.openxmlformats.org/drawingml/2006/main">
              <a:ext uri="{FF2B5EF4-FFF2-40B4-BE49-F238E27FC236}">
                <a16:creationId xmlns:a16="http://schemas.microsoft.com/office/drawing/2014/main" id="{DCD7E4B5-4323-4E94-A201-E6E973CA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160" y="3857760"/>
            <a:ext cx="209520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D8EBF7"/>
                </a:solidFill>
                <a:latin typeface="Arial"/>
                <a:ea typeface="Arial"/>
                <a:cs typeface="Arial"/>
              </a:rPr>
              <a:t>Jev/OpenAI · 88,2 %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3" name="">
            <a:extLst xmlns:a="http://schemas.openxmlformats.org/drawingml/2006/main">
              <a:ext uri="{FF2B5EF4-FFF2-40B4-BE49-F238E27FC236}">
                <a16:creationId xmlns:a16="http://schemas.microsoft.com/office/drawing/2014/main" id="{4C429660-5F5C-4CFD-A6E1-9C7A566E6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600" y="3333600"/>
            <a:ext cx="2095200" cy="51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30" b="1" u="none" strike="noStrike">
                <a:solidFill>
                  <a:srgbClr val="53C4D5"/>
                </a:solidFill>
                <a:latin typeface="Arial"/>
                <a:ea typeface="Arial"/>
                <a:cs typeface="Arial"/>
              </a:rPr>
              <a:t>101/110</a:t>
            </a:r>
            <a:endParaRPr sz="32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4" name="">
            <a:extLst xmlns:a="http://schemas.openxmlformats.org/drawingml/2006/main">
              <a:ext uri="{FF2B5EF4-FFF2-40B4-BE49-F238E27FC236}">
                <a16:creationId xmlns:a16="http://schemas.microsoft.com/office/drawing/2014/main" id="{26B30559-3823-42B2-B8DA-6D3A5B10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600" y="3857760"/>
            <a:ext cx="209520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 strike="noStrike">
                <a:solidFill>
                  <a:srgbClr val="D8EBF7"/>
                </a:solidFill>
                <a:latin typeface="Arial"/>
                <a:ea typeface="Arial"/>
                <a:cs typeface="Arial"/>
              </a:rPr>
              <a:t>análisis claim pidió aclaración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5" name="">
            <a:extLst xmlns:a="http://schemas.openxmlformats.org/drawingml/2006/main">
              <a:ext uri="{FF2B5EF4-FFF2-40B4-BE49-F238E27FC236}">
                <a16:creationId xmlns:a16="http://schemas.microsoft.com/office/drawing/2014/main" id="{5A836F6F-75B3-4FDD-B4C8-288C0DDD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441" y="3095625"/>
            <a:ext cx="3409569" cy="1857375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0B4D94"/>
          </a:solidFill>
          <a:ln xmlns:a="http://schemas.openxmlformats.org/drawingml/2006/main" w="9525">
            <a:solidFill>
              <a:srgbClr val="4E83B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6" name="">
            <a:extLst xmlns:a="http://schemas.openxmlformats.org/drawingml/2006/main">
              <a:ext uri="{FF2B5EF4-FFF2-40B4-BE49-F238E27FC236}">
                <a16:creationId xmlns:a16="http://schemas.microsoft.com/office/drawing/2014/main" id="{52FD24BB-6698-4AA6-B539-6785A3E7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3457440"/>
            <a:ext cx="22856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CALIDAD · CITA · RED-TEAM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7" name="">
            <a:extLst xmlns:a="http://schemas.openxmlformats.org/drawingml/2006/main">
              <a:ext uri="{FF2B5EF4-FFF2-40B4-BE49-F238E27FC236}">
                <a16:creationId xmlns:a16="http://schemas.microsoft.com/office/drawing/2014/main" id="{5FE847B4-9FAF-4533-907B-78F7CAEE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7814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>
            <a:defPPr>
              <a:defRPr sz="1163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63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63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63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63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63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63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63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63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63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0000"/>
              </a:lnSpc>
              <a:buNone/>
              <a:defRPr sz="1163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63" b="0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Consulta: citas 0,408 · evidencia 0,495.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63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63" b="0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Claim: decisión 0,625 (n=8). Citas 0,036.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63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63" b="0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Red-team (3 variantes): 0/27 ataques.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63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63" b="0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Controles benignos: 0/3 rechazados.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8" name="">
            <a:extLst xmlns:a="http://schemas.openxmlformats.org/drawingml/2006/main">
              <a:ext uri="{FF2B5EF4-FFF2-40B4-BE49-F238E27FC236}">
                <a16:creationId xmlns:a16="http://schemas.microsoft.com/office/drawing/2014/main" id="{21A89D33-6493-44BE-8575-176A67A5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00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F6E9F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9" name="">
            <a:extLst xmlns:a="http://schemas.openxmlformats.org/drawingml/2006/main">
              <a:ext uri="{FF2B5EF4-FFF2-40B4-BE49-F238E27FC236}">
                <a16:creationId xmlns:a16="http://schemas.microsoft.com/office/drawing/2014/main" id="{503917D1-A4F0-4E79-9E3F-DE6CB6B8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114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El modo claim no está validado para decisiones operativas: faltan citas y el denominador puntuado es pequeño.</a:t>
            </a:r>
            <a:endParaRPr sz="16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306354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0378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2" name="">
            <a:extLst xmlns:a="http://schemas.openxmlformats.org/drawingml/2006/main">
              <a:ext uri="{FF2B5EF4-FFF2-40B4-BE49-F238E27FC236}">
                <a16:creationId xmlns:a16="http://schemas.microsoft.com/office/drawing/2014/main" id="{EF66900B-B902-48A1-A437-543DA763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041"/>
            <a:ext cx="4476274" cy="1901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>
            <a:defPPr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0000"/>
              </a:lnSpc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pPr>
            <a:r>
              <a:rPr sz="90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PLAN PROPUESTO</a:t>
            </a:r>
            <a:endParaRPr sz="9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3" name="">
            <a:extLst xmlns:a="http://schemas.openxmlformats.org/drawingml/2006/main">
              <a:ext uri="{FF2B5EF4-FFF2-40B4-BE49-F238E27FC236}">
                <a16:creationId xmlns:a16="http://schemas.microsoft.com/office/drawing/2014/main" id="{4E14D9FD-9105-483E-AA78-864CB6FE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20"/>
            <a:ext cx="10820160" cy="36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D699D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4" name="">
            <a:extLst xmlns:a="http://schemas.openxmlformats.org/drawingml/2006/main">
              <a:ext uri="{FF2B5EF4-FFF2-40B4-BE49-F238E27FC236}">
                <a16:creationId xmlns:a16="http://schemas.microsoft.com/office/drawing/2014/main" id="{CA037D6F-5BAB-46E2-B401-33E13B0D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040" y="237960"/>
            <a:ext cx="1142640" cy="26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375" name="">
            <a:extLst xmlns:a="http://schemas.openxmlformats.org/drawingml/2006/main">
              <a:ext uri="{FF2B5EF4-FFF2-40B4-BE49-F238E27FC236}">
                <a16:creationId xmlns:a16="http://schemas.microsoft.com/office/drawing/2014/main" id="{DF59387E-8640-4919-9661-3687860A5E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2b3dda9fc141e6"/>
          <a:srcRect xmlns:a="http://schemas.openxmlformats.org/drawingml/2006/main" l="0" t="10054" r="0" b="10054"/>
          <a:stretch xmlns:a="http://schemas.openxmlformats.org/drawingml/2006/main"/>
        </p:blipFill>
        <p:spPr>
          <a:xfrm xmlns:a="http://schemas.openxmlformats.org/drawingml/2006/main">
            <a:off x="9696600" y="285840"/>
            <a:ext cx="875880" cy="1807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376" name="">
            <a:extLst xmlns:a="http://schemas.openxmlformats.org/drawingml/2006/main">
              <a:ext uri="{FF2B5EF4-FFF2-40B4-BE49-F238E27FC236}">
                <a16:creationId xmlns:a16="http://schemas.microsoft.com/office/drawing/2014/main" id="{6C183FB3-5B4E-4BF4-AD20-93F60090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95" y="324041"/>
            <a:ext cx="456819" cy="1901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>
            <a:defPPr algn="r"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900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pPr>
            <a:r>
              <a:rPr sz="900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17</a:t>
            </a:r>
            <a:endParaRPr sz="9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7" name="">
            <a:extLst xmlns:a="http://schemas.openxmlformats.org/drawingml/2006/main">
              <a:ext uri="{FF2B5EF4-FFF2-40B4-BE49-F238E27FC236}">
                <a16:creationId xmlns:a16="http://schemas.microsoft.com/office/drawing/2014/main" id="{22D6B04D-1D57-45A7-81D4-F4D9AADD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10820114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Cinco días: del manual a una demo evaluada</a:t>
            </a:r>
            <a:endParaRPr sz="30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8" name="">
            <a:extLst xmlns:a="http://schemas.openxmlformats.org/drawingml/2006/main">
              <a:ext uri="{FF2B5EF4-FFF2-40B4-BE49-F238E27FC236}">
                <a16:creationId xmlns:a16="http://schemas.microsoft.com/office/drawing/2014/main" id="{8BF56534-A0E6-45C2-A7A9-79A522E2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11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>
            <a:defPPr>
              <a:defRPr sz="1500">
                <a:solidFill>
                  <a:srgbClr val="D7EA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>
                <a:solidFill>
                  <a:srgbClr val="D7EA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>
                <a:solidFill>
                  <a:srgbClr val="D7EA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>
                <a:solidFill>
                  <a:srgbClr val="D7EA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>
                <a:solidFill>
                  <a:srgbClr val="D7EA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>
                <a:solidFill>
                  <a:srgbClr val="D7EA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>
                <a:solidFill>
                  <a:srgbClr val="D7EA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>
                <a:solidFill>
                  <a:srgbClr val="D7EA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>
                <a:solidFill>
                  <a:srgbClr val="D7EA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>
                <a:solidFill>
                  <a:srgbClr val="D7EA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D7EAF7"/>
                </a:solidFill>
                <a:latin typeface="Arial"/>
                <a:ea typeface="Arial"/>
                <a:cs typeface="Arial"/>
              </a:defRPr>
            </a:pPr>
            <a:r>
              <a:rPr sz="1500" b="0" u="none" strike="noStrike">
                <a:solidFill>
                  <a:srgbClr val="D7EAF7"/>
                </a:solidFill>
                <a:latin typeface="Arial"/>
                <a:ea typeface="Arial"/>
                <a:cs typeface="Arial"/>
              </a:rPr>
              <a:t>Plan propuesto conforme al enunciado; no reconstruye el calendario real del proyecto.</a:t>
            </a:r>
            <a:endParaRPr sz="15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9" name="">
            <a:extLst xmlns:a="http://schemas.openxmlformats.org/drawingml/2006/main">
              <a:ext uri="{FF2B5EF4-FFF2-40B4-BE49-F238E27FC236}">
                <a16:creationId xmlns:a16="http://schemas.microsoft.com/office/drawing/2014/main" id="{C07ED179-18AF-4869-921B-BC42512B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>
            <a:defPPr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pPr>
            <a:r>
              <a:rPr sz="1425" b="1" u="none" strike="noStrike">
                <a:solidFill>
                  <a:srgbClr val="53C4D5"/>
                </a:solidFill>
                <a:latin typeface="Arial"/>
                <a:ea typeface="Arial"/>
                <a:cs typeface="Arial"/>
              </a:rPr>
              <a:t>DÍA 1</a:t>
            </a:r>
            <a:endParaRPr sz="32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0" name="">
            <a:extLst xmlns:a="http://schemas.openxmlformats.org/drawingml/2006/main">
              <a:ext uri="{FF2B5EF4-FFF2-40B4-BE49-F238E27FC236}">
                <a16:creationId xmlns:a16="http://schemas.microsoft.com/office/drawing/2014/main" id="{3D9F60E2-FE0C-4A64-85D7-A8CA5110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5527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>
            <a:defPPr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Alcance y criterios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1" name="">
            <a:extLst xmlns:a="http://schemas.openxmlformats.org/drawingml/2006/main">
              <a:ext uri="{FF2B5EF4-FFF2-40B4-BE49-F238E27FC236}">
                <a16:creationId xmlns:a16="http://schemas.microsoft.com/office/drawing/2014/main" id="{AC891DFB-8DE4-430C-85A0-6DDDEB61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>
            <a:defPPr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pPr>
            <a:r>
              <a:rPr sz="1425" b="1" u="none" strike="noStrike">
                <a:solidFill>
                  <a:srgbClr val="53C4D5"/>
                </a:solidFill>
                <a:latin typeface="Arial"/>
                <a:ea typeface="Arial"/>
                <a:cs typeface="Arial"/>
              </a:rPr>
              <a:t>DÍA 2</a:t>
            </a:r>
            <a:endParaRPr sz="32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2" name="">
            <a:extLst xmlns:a="http://schemas.openxmlformats.org/drawingml/2006/main">
              <a:ext uri="{FF2B5EF4-FFF2-40B4-BE49-F238E27FC236}">
                <a16:creationId xmlns:a16="http://schemas.microsoft.com/office/drawing/2014/main" id="{DCD7E4B5-4323-4E94-A201-E6E973CA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480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>
            <a:defPPr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Ingesta y evidencia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3" name="">
            <a:extLst xmlns:a="http://schemas.openxmlformats.org/drawingml/2006/main">
              <a:ext uri="{FF2B5EF4-FFF2-40B4-BE49-F238E27FC236}">
                <a16:creationId xmlns:a16="http://schemas.microsoft.com/office/drawing/2014/main" id="{4C429660-5F5C-4CFD-A6E1-9C7A566E6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>
            <a:defPPr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pPr>
            <a:r>
              <a:rPr sz="1425" b="1" u="none" strike="noStrike">
                <a:solidFill>
                  <a:srgbClr val="53C4D5"/>
                </a:solidFill>
                <a:latin typeface="Arial"/>
                <a:ea typeface="Arial"/>
                <a:cs typeface="Arial"/>
              </a:rPr>
              <a:t>DÍA 3</a:t>
            </a:r>
            <a:endParaRPr sz="32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4" name="">
            <a:extLst xmlns:a="http://schemas.openxmlformats.org/drawingml/2006/main">
              <a:ext uri="{FF2B5EF4-FFF2-40B4-BE49-F238E27FC236}">
                <a16:creationId xmlns:a16="http://schemas.microsoft.com/office/drawing/2014/main" id="{26B30559-3823-42B2-B8DA-6D3A5B10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433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>
            <a:defPPr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Consulta documental</a:t>
            </a:r>
            <a:endParaRPr sz="12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5" name="">
            <a:extLst xmlns:a="http://schemas.openxmlformats.org/drawingml/2006/main">
              <a:ext uri="{FF2B5EF4-FFF2-40B4-BE49-F238E27FC236}">
                <a16:creationId xmlns:a16="http://schemas.microsoft.com/office/drawing/2014/main" id="{5A836F6F-75B3-4FDD-B4C8-288C0DDD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14925"/>
            <a:ext cx="10820114" cy="8382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0B4D94"/>
          </a:solidFill>
          <a:ln xmlns:a="http://schemas.openxmlformats.org/drawingml/2006/main" w="9525">
            <a:solidFill>
              <a:srgbClr val="4E83B7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6" name="">
            <a:extLst xmlns:a="http://schemas.openxmlformats.org/drawingml/2006/main">
              <a:ext uri="{FF2B5EF4-FFF2-40B4-BE49-F238E27FC236}">
                <a16:creationId xmlns:a16="http://schemas.microsoft.com/office/drawing/2014/main" id="{52FD24BB-6698-4AA6-B539-6785A3E7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29225"/>
            <a:ext cx="10334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>
            <a:defPPr>
              <a:defRPr sz="1125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0000"/>
              </a:lnSpc>
              <a:buNone/>
              <a:defRPr sz="1125" b="1">
                <a:solidFill>
                  <a:srgbClr val="A9D4EA"/>
                </a:solidFill>
                <a:latin typeface="Arial"/>
                <a:ea typeface="Arial"/>
                <a:cs typeface="Arial"/>
              </a:defRPr>
            </a:pPr>
            <a:r>
              <a:rPr sz="1125" b="1" u="none" strike="noStrike">
                <a:solidFill>
                  <a:srgbClr val="A9D4EA"/>
                </a:solidFill>
                <a:latin typeface="Arial"/>
                <a:ea typeface="Arial"/>
                <a:cs typeface="Arial"/>
              </a:rPr>
              <a:t>SUPUESTOS · RIESGOS · RAZÓN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7" name="">
            <a:extLst xmlns:a="http://schemas.openxmlformats.org/drawingml/2006/main">
              <a:ext uri="{FF2B5EF4-FFF2-40B4-BE49-F238E27FC236}">
                <a16:creationId xmlns:a16="http://schemas.microsoft.com/office/drawing/2014/main" id="{5FE847B4-9FAF-4533-907B-78F7CAEE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67350"/>
            <a:ext cx="1033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>
            <a:defPPr>
              <a:defRPr sz="1088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88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88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88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88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88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88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88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88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88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0000"/>
              </a:lnSpc>
              <a:buNone/>
              <a:defRPr sz="1088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88" b="0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Supuestos: manual, servicios y credenciales disponibles. Riesgos: matriz/tablas, hechos faltantes y privacidad.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088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88" b="0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Orden: evidencias primero, reglas deterministas y gates de evaluación antes de la demo.</a:t>
            </a:r>
            <a:endParaRPr sz="13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8" name="">
            <a:extLst xmlns:a="http://schemas.openxmlformats.org/drawingml/2006/main">
              <a:ext uri="{FF2B5EF4-FFF2-40B4-BE49-F238E27FC236}">
                <a16:creationId xmlns:a16="http://schemas.microsoft.com/office/drawing/2014/main" id="{21A89D33-6493-44BE-8575-176A67A5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25"/>
            <a:ext cx="10820114" cy="381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F6E9F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9" name="">
            <a:extLst xmlns:a="http://schemas.openxmlformats.org/drawingml/2006/main">
              <a:ext uri="{FF2B5EF4-FFF2-40B4-BE49-F238E27FC236}">
                <a16:creationId xmlns:a16="http://schemas.microsoft.com/office/drawing/2014/main" id="{503917D1-A4F0-4E79-9E3F-DE6CB6B8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114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Propuesta de ejecución; ajustar dependencias y alcance con la persona supervisora.</a:t>
            </a:r>
            <a:endParaRPr sz="165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0" name="plan-day-1-detail">
            <a:extLst xmlns:a="http://schemas.openxmlformats.org/drawingml/2006/main">
              <a:ext uri="{FF2B5EF4-FFF2-40B4-BE49-F238E27FC236}">
                <a16:creationId xmlns:a16="http://schemas.microsoft.com/office/drawing/2014/main" id="{1D7EB9EF-2754-4942-B861-95E5BB69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62225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D8EBF7"/>
                </a:solidFill>
                <a:latin typeface="Arial"/>
                <a:ea typeface="Arial"/>
                <a:cs typeface="Arial"/>
              </a:rPr>
              <a:t>Definir usuarios, cinco relatos y criterios de aceptación.</a:t>
            </a:r>
          </a:p>
        </p:txBody>
      </p:sp>
      <p:sp>
        <p:nvSpPr>
          <p:cNvPr id="391" name="plan-rule-1">
            <a:extLst xmlns:a="http://schemas.openxmlformats.org/drawingml/2006/main">
              <a:ext uri="{FF2B5EF4-FFF2-40B4-BE49-F238E27FC236}">
                <a16:creationId xmlns:a16="http://schemas.microsoft.com/office/drawing/2014/main" id="{67698F09-CA05-4200-BECC-598D50BC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924175"/>
            <a:ext cx="9858375" cy="3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D699D"/>
            </a:solidFill>
            <a:prstDash val="solid"/>
          </a:ln>
        </p:spPr>
      </p:sp>
      <p:sp>
        <p:nvSpPr>
          <p:cNvPr id="392" name="plan-day-2-detail">
            <a:extLst xmlns:a="http://schemas.openxmlformats.org/drawingml/2006/main">
              <a:ext uri="{FF2B5EF4-FFF2-40B4-BE49-F238E27FC236}">
                <a16:creationId xmlns:a16="http://schemas.microsoft.com/office/drawing/2014/main" id="{CD1BBE10-01D6-431C-952C-923AEC1A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57525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D8EBF7"/>
                </a:solidFill>
                <a:latin typeface="Arial"/>
                <a:ea typeface="Arial"/>
                <a:cs typeface="Arial"/>
              </a:rPr>
              <a:t>Verificar el manual; extraer páginas y fijar evidencias.</a:t>
            </a:r>
          </a:p>
        </p:txBody>
      </p:sp>
      <p:sp>
        <p:nvSpPr>
          <p:cNvPr id="393" name="plan-rule-2">
            <a:extLst xmlns:a="http://schemas.openxmlformats.org/drawingml/2006/main">
              <a:ext uri="{FF2B5EF4-FFF2-40B4-BE49-F238E27FC236}">
                <a16:creationId xmlns:a16="http://schemas.microsoft.com/office/drawing/2014/main" id="{65AEB216-B33C-4187-A3CB-DF8BEF2B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419475"/>
            <a:ext cx="9858375" cy="3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D699D"/>
            </a:solidFill>
            <a:prstDash val="solid"/>
          </a:ln>
        </p:spPr>
      </p:sp>
      <p:sp>
        <p:nvSpPr>
          <p:cNvPr id="394" name="plan-day-3-detail">
            <a:extLst xmlns:a="http://schemas.openxmlformats.org/drawingml/2006/main">
              <a:ext uri="{FF2B5EF4-FFF2-40B4-BE49-F238E27FC236}">
                <a16:creationId xmlns:a16="http://schemas.microsoft.com/office/drawing/2014/main" id="{594331E6-03D5-4431-8CA3-1B3EC16D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52825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D8EBF7"/>
                </a:solidFill>
                <a:latin typeface="Arial"/>
                <a:ea typeface="Arial"/>
                <a:cs typeface="Arial"/>
              </a:rPr>
              <a:t>Montar recuperación híbrida, citas y abstención.</a:t>
            </a:r>
          </a:p>
        </p:txBody>
      </p:sp>
      <p:sp>
        <p:nvSpPr>
          <p:cNvPr id="395" name="plan-rule-3">
            <a:extLst xmlns:a="http://schemas.openxmlformats.org/drawingml/2006/main">
              <a:ext uri="{FF2B5EF4-FFF2-40B4-BE49-F238E27FC236}">
                <a16:creationId xmlns:a16="http://schemas.microsoft.com/office/drawing/2014/main" id="{6D1AE50A-5606-49F7-B40A-1FCA3766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14775"/>
            <a:ext cx="9858375" cy="3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D699D"/>
            </a:solidFill>
            <a:prstDash val="solid"/>
          </a:ln>
        </p:spPr>
      </p:sp>
      <p:sp>
        <p:nvSpPr>
          <p:cNvPr id="396" name="plan-day-4-detail">
            <a:extLst xmlns:a="http://schemas.openxmlformats.org/drawingml/2006/main">
              <a:ext uri="{FF2B5EF4-FFF2-40B4-BE49-F238E27FC236}">
                <a16:creationId xmlns:a16="http://schemas.microsoft.com/office/drawing/2014/main" id="{3F33F747-4DFF-47FD-B32D-C626D64B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48125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D8EBF7"/>
                </a:solidFill>
                <a:latin typeface="Arial"/>
                <a:ea typeface="Arial"/>
                <a:cs typeface="Arial"/>
              </a:rPr>
              <a:t>Extraer hechos; aplicar reglas y probar guardarraíles.</a:t>
            </a:r>
          </a:p>
        </p:txBody>
      </p:sp>
      <p:sp>
        <p:nvSpPr>
          <p:cNvPr id="397" name="plan-rule-4">
            <a:extLst xmlns:a="http://schemas.openxmlformats.org/drawingml/2006/main">
              <a:ext uri="{FF2B5EF4-FFF2-40B4-BE49-F238E27FC236}">
                <a16:creationId xmlns:a16="http://schemas.microsoft.com/office/drawing/2014/main" id="{41F0F790-2DCF-46DD-BCC2-5C81CB6E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10075"/>
            <a:ext cx="9858375" cy="3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D699D"/>
            </a:solidFill>
            <a:prstDash val="solid"/>
          </a:ln>
        </p:spPr>
      </p:sp>
      <p:sp>
        <p:nvSpPr>
          <p:cNvPr id="398" name="plan-day-5-detail">
            <a:extLst xmlns:a="http://schemas.openxmlformats.org/drawingml/2006/main">
              <a:ext uri="{FF2B5EF4-FFF2-40B4-BE49-F238E27FC236}">
                <a16:creationId xmlns:a16="http://schemas.microsoft.com/office/drawing/2014/main" id="{867D717E-95F6-4EEE-B61F-1A3C612C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543425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D8EBF7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D8EBF7"/>
                </a:solidFill>
                <a:latin typeface="Arial"/>
                <a:ea typeface="Arial"/>
                <a:cs typeface="Arial"/>
              </a:rPr>
              <a:t>Ejecutar golden/red-team; preparar memoria, demo y defensa.</a:t>
            </a:r>
          </a:p>
        </p:txBody>
      </p:sp>
      <p:sp>
        <p:nvSpPr>
          <p:cNvPr id="399" name="plan-day-4-label">
            <a:extLst xmlns:a="http://schemas.openxmlformats.org/drawingml/2006/main">
              <a:ext uri="{FF2B5EF4-FFF2-40B4-BE49-F238E27FC236}">
                <a16:creationId xmlns:a16="http://schemas.microsoft.com/office/drawing/2014/main" id="{EB7EB805-187A-409A-BC21-C4BF83868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3C4D5"/>
                </a:solidFill>
                <a:latin typeface="Arial"/>
                <a:ea typeface="Arial"/>
                <a:cs typeface="Arial"/>
              </a:rPr>
              <a:t>DÍA 4</a:t>
            </a:r>
          </a:p>
        </p:txBody>
      </p:sp>
      <p:sp>
        <p:nvSpPr>
          <p:cNvPr id="400" name="plan-day-4-title">
            <a:extLst xmlns:a="http://schemas.openxmlformats.org/drawingml/2006/main">
              <a:ext uri="{FF2B5EF4-FFF2-40B4-BE49-F238E27FC236}">
                <a16:creationId xmlns:a16="http://schemas.microsoft.com/office/drawing/2014/main" id="{2947DA3F-A6EC-42D6-B576-F5AEA297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386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Análisis de siniestro</a:t>
            </a:r>
          </a:p>
        </p:txBody>
      </p:sp>
      <p:sp>
        <p:nvSpPr>
          <p:cNvPr id="401" name="plan-day-5-label">
            <a:extLst xmlns:a="http://schemas.openxmlformats.org/drawingml/2006/main">
              <a:ext uri="{FF2B5EF4-FFF2-40B4-BE49-F238E27FC236}">
                <a16:creationId xmlns:a16="http://schemas.microsoft.com/office/drawing/2014/main" id="{016F0267-6D1F-4BE4-8B63-52D51B0F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1">
                <a:solidFill>
                  <a:srgbClr val="53C4D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3C4D5"/>
                </a:solidFill>
                <a:latin typeface="Arial"/>
                <a:ea typeface="Arial"/>
                <a:cs typeface="Arial"/>
              </a:rPr>
              <a:t>DÍA 5</a:t>
            </a:r>
          </a:p>
        </p:txBody>
      </p:sp>
      <p:sp>
        <p:nvSpPr>
          <p:cNvPr id="402" name="plan-day-5-title">
            <a:extLst xmlns:a="http://schemas.openxmlformats.org/drawingml/2006/main">
              <a:ext uri="{FF2B5EF4-FFF2-40B4-BE49-F238E27FC236}">
                <a16:creationId xmlns:a16="http://schemas.microsoft.com/office/drawing/2014/main" id="{179402F4-D91B-4FF2-A1A4-831B7CFA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339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Evaluación y entrega</a:t>
            </a:r>
          </a:p>
        </p:txBody>
      </p:sp>
    </p:spTree>
    <p:extLst>
      <p:ext uri="{BB962C8B-B14F-4D97-AF65-F5344CB8AC3E}">
        <p14:creationId xmlns:p14="http://schemas.microsoft.com/office/powerpoint/2010/main" val="7030635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2026-10-26T17:20:49.4950000Z</dcterms:created>
  <dcterms:modified xsi:type="dcterms:W3CDTF">2026-10-26T17:20:49.4950000Z</dcterms:modified>
</coreProperties>
</file>