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APERTURA (30 s). No leer la portada.
Frase de entrada sugerida:
«El enunciado pedía un RAG sobre el manual del Convenio. Lo que me encontré al leer los cinco
accidentes de ejemplo es que cuatro de ellos no tienen una respuesta determinista — y que un
sistema que los resolviera los cinco estaría inventando cuatro. Todo lo que voy a enseñar sale
de esa observación.»
Las cuatro cifras están verificadas hoy contra el repositorio: 111 páginas del manual publicadas,
110 casos en el golden de desarrollo, 14 reglas en el ruleset firmado, 500 pruebas de backend
+ 97 de frontend = 597.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(40 s).
Marcar dos cosas y pasar:
1) El bloque más largo es la demo. Es deliberado.
2) El bloque 05 incluye una lámina de límites: lo que el sistema NO hace se cuenta aquí,
   no en la letra pequeña ni cuando alguien lo pregunte.
Si el tiempo aprieta: los bloques 01 y 02 se pueden comprimir a 5 min entre los dos;
nunca recortar la demo ni la lámina de límites.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ENCARGO (60 s).
Puntos a decir:
· El enunciado tiene dos mitades y sólo la primera es un problema de RAG clásico.
· La segunda mitad —«identificar partes, responsabilidad y circunstancias»— es un problema
  de aplicación de un convenio con condiciones cerradas. Si eso se resuelve generando texto,
  el sistema queda convincente y no demostrable.
· Los cinco accidentes de la derecha son los que vienen en el enunciado, literalmente.
  Los usé como criterio de aceptación desde el primer día y están en el golden set
  (case_id accident-01 … accident-05).
Enlace a la siguiente lámina: «Los resolví a mano contra el manual antes de escribir código.
Este fue el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CINCO VEREDICTOS (90 s). Ésta es la lámina más importante del primer bloque.
Cómo contarla:
· «Antes de escribir una línea de código resolví los cinco casos a mano contra el manual.»
· Recorrer la columna de veredictos de arriba abajo y detenerse en el 4: es el único que se
  resuelve de forma determinista con lo que el propio relato aporta.
· El 2 es el más contraintuitivo: cinco vehículos parece el caso más grave y es el que se cae
  del Convenio por la puerta de entrada (dos vehículos, colisión directa).
· El 5 es el que más se presta a error: mucha gente asume que la alcoholemia excluye el
  Convenio. El manual dice lo contrario en la página 9. Lo que queda fuera son las lesiones
  y lo penal.
Si preguntan «¿entonces vuestro sistema no resuelve casi nada?»:
«Resuelve exactamente lo que el manual permite resolver con los datos del relato. En cuanto
el parte aporta las casillas del apartado 12, la tabla de culpabilidad de 324 celdas entra y
resuelve. Lo veréis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TESIS (50 s). Lámina de transición: aquí se fija el criterio con el que hay que juzgar
todo lo que viene después.
· EVIDENCIA: el identificador de evidencia apunta al documento y la página física del PDF,
  no al fragmento del índice. Así una cita sigue siendo válida aunque se cambie el parser
  o el tamaño de chunk.
· DECISIÓN: es la inversión de control importante. El modelo no redacta la conclusión;
  rellena hechos con nombre y el motor de reglas decide.
· ABSTENCIÓN: el sistema tiene un estado explícito para «me falta este dato», y el grafo
  se interrumpe para pedirlo. No es un mensaje de error: es parte del flujo.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PLAN (60 s).
· El orden no es casual: evidencia antes que inteligencia. El día 2 no genera ni una palabra
  con un LLM; sólo publica el manual de forma verificable. Sin eso, cualquier cita posterior
  sería una promesa.
· Cada hito es un comando, no una captura: make check, el recuento de páginas publicadas,
  una cita que abre el PDF, dos reglas resolviendo extremo a extremo, y la release congelada.
· La banda inferior es la gestión de riesgo de proyecto: el plan tenía una salida digna
  si la parte de reglas no salía. No hizo falta usarla.
Si preguntan por desviaciones: el día 4 se alargó. La transcripción de la tabla 18×18 se hizo
dos veces a propósito y eso consumió más de lo previsto; se recortó ampliar el golden a mano,
que se resolvió después con generación asistida y revisión adversarial.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SUPUESTOS (45 s). Ir rápido: leer sólo los titulares en negrita y detenerse en dos.
· «Casillas A0–A17 externas al manual»: es el supuesto más importante y el que más se nota
  en el producto. El manual usa la tabla de culpabilidad pero no define qué maniobra es cada
  casilla — eso está en el impreso de la declaración amistosa. Lo resolví con un catálogo
  aparte, versionado y validado explícitamente, en vez de que el modelo lo adivine.
· «Ámbito administrativo dado por bueno»: si no lo asumiera, todos los casos acabarían
  pidiendo la matrícula y la aseguradora antes de decir nada. Está declarado en el golden.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RIESGOS (60 s). No leer la columna de mitigaciones entera; contar dos y ofrecer el resto.
· Riesgo 1: es EL riesgo de un sistema así. La respuesta no es un prompt mejor: es que el
  modelo no tenga la última palabra. Hay una invariante en el dominio que lanza excepción
  si alguien intenta construir una decisión «resuelta» sin las reglas que la sostienen.
· Riesgo 2: la tabla de culpabilidad son 324 celdas leídas de un PDF de 2004. Un error de
  transcripción es un error de atribución de responsabilidad. Por eso se transcribió dos veces
  y hay un comando que compara ambas transcripciones.
Si preguntan por el riesgo 4 (golden ajustado al sistema): reconocer que es el más difícil
de cerrar del todo, y que la contramedida completa —abrir el holdout una sola vez tras
congelar— está definida y todavía no ejecutada.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DECISIONES (60 s). Es la lámina que el enunciado pide explícitamente («rationale behind the
main technical decisions»). Contar dos y dejar el resto para preguntas.
· Decisión 3 (reglas en artefacto firmado) es la que más se nota: el fichero de reglas lleva
  para cada regla su evidencia en el manual, su descripción, su consecuencia y el identificador
  de quien la revisó. Cambiar una regla no es cambiar código.
· Decisión 5 (híbrida): la búsqueda puramente semántica falla justo donde este manual es más
  útil — cuando alguien pregunta por «la b.10» o por «el artículo 35». BM25 en español
  recupera eso; los embeddings recuperan la intención. La fusión es determinista.
La banda inferior es el argumento de cierre del bloque: la arquitectura compra opcionalidad.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HEXAGONAL (75 s). Lámina central del bloque técnico.
Cómo contarla, de dentro afuera:
· El dominio contiene los modelos del Convenio y las reglas. No importa nada externo:
  ni FastAPI, ni LangGraph, ni el SDK de OpenAI, ni el cliente de Qdrant.
· La aplicación define los puertos: 5 de entrada (responder pregunta, analizar siniestro,
  resolver consulta, ingerir documento, inspeccionar manual) y 12 de salida.
· La infraestructura los implementa. Un nombre funcional conecta cada puerto con el
  directorio de su adaptador, así que la correspondencia se ve en el árbol de ficheros.
REMATE: ejecutar el grep de la banda inferior si alguien lo pide. Devuelve cero.
Es la diferencia entre decir «está desacoplado» y demostrarlo.
Si preguntan por el coste: más módulos (111 en el backend) y un bootstrap explícito que
compone las dependencias. A cambio, los tests de dominio no necesitan ni red ni contenedores.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INTERCAMBIABILIDAD (55 s).
· El argumento fuerte no es el dibujo: es que la sustitución YA está ejercitada. pypdf y
  Docling están los dos publicados para el mismo manual, con dos índices distintos en Qdrant,
  y el dominio no distingue uno de otro.
· Los tres puertos de modelo separados son deliberados: generar texto, incrustar y clasificar
  el modo son capacidades distintas y podrían venir de proveedores distintos —o de un modelo
  local para la clasificación, que es la llamada más frecuente y más barata.
Si preguntan «¿esto no es sobreingeniería para cinco días?»: la respuesta honesta es que
costó tiempo el primer día y lo devolvió el cuarto, cuando hubo que meter la tabla de
culpabilidad en el flujo sin romper nada de lo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MODELOS (55 s). El enunciado evalúa explícitamente «la capacidad de seleccionar y usar
modelos de lenguaje apropiados». Ésta es esa lámina.
· El argumento: «¿qué modelo usáis?» es la pregunta equivocada. Son cuatro usos con
  exigencias distintas y cada uno está detrás de su propio puerto, así que pueden venir de
  proveedores distintos sin tocar el dominio.
· El router es el ejemplo más claro: es la llamada más frecuente del sistema y la más
  trivial —tres etiquetas—. Ahí un modelo pequeño o local es la decisión correcta en cuanto
  haya volumen, y el cambio es de configuración.
· El embedding es el único que NO se puede cambiar a la ligera: está en la firma del índice.
  Cambiarlo sin reindexar produciría respuestas peores sin que nadie supiera por qué, y por
  eso el alias se niega a moverse a un índice con firma incompatible.
La banda inferior es el punto de MLOps: los prompts viven versionados en Langfuse y la
configuración los fija por nombre y versión. Una ejecución dice con qué prompt corrió.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TRES RECORRIDOS (45 s).
· El modo automático es el que se ve en la demo primero. Lo importante: el clasificador
  devuelve una etiqueta de un conjunto cerrado (question, claim, clarification_required),
  no una respuesta. No reescribe el texto del usuario ni lo enriquece.
· La interfaz enseña siempre qué recorrido se ha seguido, así que el enrutado nunca es una
  caja negra: si se equivoca, se ve, y hay dos botones para forzarlo.
· El tercero es donde está el trabajo de dominio. Se ve en las dos láminas siguientes.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INTERFAZ (50 s). Es una captura real, tomada del sistema corriendo hoy.
· Merece la pena detenerse en la columna de reglas que NO casan. Casi todas las demos
  esconden eso. Aquí es deliberado: si el sistema no puede aplicar la tabla de culpabilidad
  porque el relato no trae las casillas, se ve escrito, con el nombre de la regla.
· La consecuencia práctica: un tramitador que discrepe de la conclusión puede señalar el paso
  exacto donde discrepa — el hecho extraído, la regla aplicada o la redacción final.
Si preguntan por qué se enseñan identificadores técnicos como lane_change_acknowledged_by_both:
porque son los mismos nombres que aparecen en el artefacto de reglas firmado. Enseñar un
sinónimo bonito rompería la trazabilidad entre lo que se ve y lo que se evalúa.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INGESTA (60 s).
· Paso 1: el sistema no ingiere cualquier PDF. Comprueba el hash contra el manual verificado.
  En una prueba técnica parece exagerado; en un entorno real es la diferencia entre citar el
  manual y citar «un» manual.
· Paso 2: las páginas en blanco se conservan. Si se descartan, la página 57 del PDF deja de
  ser la 57 y todas las citas anteriores se corrompen en silencio.
· Paso 5: la firma de índice tiene 13 campos (parser, chunker, modelo de embeddings,
  dimensión, métrica de distancia…). Mover el alias a un índice con firma incompatible falla
  en vez de degradar los resultados sin avisar. Hay un comando de rollback y está probado.
La banda de abajo es el detalle que más se agradece a los seis meses: los IDs de evidencia
no dependen del parser, así que reindexar no invalida ni una cita del golden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EVIDENCIA ABRIBLE (45 s). Segunda captura real.
· El detalle que suele pasar desapercibido y que más importa a los seis meses: el
  identificador de evidencia apunta al documento y a la página física, no al fragmento del
  índice. Reindexar con otro parser no invalida ni una cita.
· Página física vs. etiqueta impresa: en este manual no siempre coinciden, y confundirlas
  produce citas que parecen correctas y no lo son. Se guardan por separado.
· Y la honestidad del visor: sin coordenadas verificadas se abre la página completa en vez
  de pintar un resaltado inventado.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PARSERS (55 s). Ésta suele generar pregunta.
· Docling es objetivamente más capaz: da layout, regiones y bounding boxes por página, que
  es lo que haría falta para resaltar la frase exacta dentro del PDF en vez de abrir la
  página entera.
· Y aun así el índice activo en la demo es el de pypdf. El motivo está en la banda inferior:
  no tengo todavía la comparación de evaluación que demuestre que mejora las respuestas.
  Activarlo porque es más sofisticado sería exactamente el vicio que este proyecto intenta
  evitar.
Si preguntan cuándo se activaría: en cuanto la campaña de evaluación dé métricas de
recuperación y de fidelidad de citas para los dos perfiles sobre los mismos 110 casos.
Es el punto 2 del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RECUPERACIÓN (55 s).
· El ejemplo concreto que convence: si alguien pregunta «¿qué dice la b.10?», un índice
  puramente vectorial devuelve normas parecidas; BM25 devuelve la b.10. Y al revés: si
  preguntan «¿quién responde cuando uno sale de un garaje?», el léxico no encuentra nada
  y los embeddings sí.
· La fusión es RRF nativo de Qdrant: determinista y en el motor, no un reordenamiento
  hecho a mano en Python que nadie podría reproducir.
· La fila de abajo es gobierno del índice y es lo que hace que esto sea operable: la firma
  de 13 campos evita el fallo clásico de reindexar con otro modelo de embeddings y que las
  respuestas empeoren sin que nadie sepa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GRAFO DOCUMENTAL (45 s).
· Tres nodos y ya está. La complejidad de un RAG no está en el grafo, está en lo que rodea
  al grafo: la evidencia por debajo y la validación por arriba.
· El límite de 8 fragmentos es deliberado: más contexto no mejora la respuesta y sí empeora
  la trazabilidad, porque diluye qué fragmento sostiene qué afirmación.
· Los cuatro estados de abajo son la parte que la mayoría de demos esconde. insufficient_
  evidence y out_of_scope son respuestas correctas, y la interfaz las enseña tal cual.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GRAFO DE SINIESTROS (75 s). Es la lámina técnica que más diferencia esta prueba.
· apply_rules (el nodo oscuro) es donde ocurre todo lo determinista: puerta de aplicabilidad,
  reglas subsidiarias y tabla de culpabilidad. El LLM ya ha terminado su trabajo antes.
· La salida lateral es human-in-the-loop de verdad, con interrupt() de LangGraph y un
  checkpoint. No es «te devuelvo un error y vuelve a escribirlo todo»: el hilo se reanuda
  en el mismo punto con Command(resume=…).
· El ejemplo de la derecha es literal del manual (pág. 101): una de las cuatro observaciones
  impresas bajo la tabla de culpabilidad. Se ve en la demo 3.
Si preguntan por el coste de la interrupción: el estado vive en el checkpointer del grafo,
asociado al hilo. En esta prueba es memoria del proceso; en producción sería una base
persistente, y es un cambio de adaptador, no de diseño.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 RELATO A LA DECISIÓN (60 s).
· Recorrer la cadena de izquierda a derecha una vez, despacio. Es el corazón del sistema.
· La caja azul oscuro del centro es un fichero JSON firmado, no código: cada regla lleva su
  identificador, su evidencia en el manual, su descripción, su consecuencia y el identificador
  de quien la revisó.
· La primera garantía de abajo es sutil pero importante: la lista de nombres de hecho que el
  prompt de extracción pide se deriva del ruleset. Si mañana se añade una regla que consulta
  un hecho nuevo, el extractor empieza a pedirlo. No hay dos listas que se desincronicen.
· La tercera garantía es una excepción de dominio de verdad: si el código intentara publicar
  una decisión resuelta sin reglas que la sostengan, lanza. Me saltó a mí durante el
  desarrollo y por eso está.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TABLA 18×18 (70 s). Es la parte de la que más orgulloso estoy y la que más incomoda
contar, porque el trabajo fue manual a propósito.
· 324 celdas. Un OCR o un extractor de tablas habría dado un resultado plausible y nadie
  habría podido saber si era correcto. Aquí un error de transcripción cambia quién paga.
· Por eso: dos transcripciones independientes, un comando que las compara, y una firma.
· Las cuatro observaciones impresas bajo la tabla («A2+B4 = culpable B, salvo que el A abra
  la puerta») están declaradas de forma estructurada en el artefacto. No hay un if en el
  código que sepa de puertas.
· La banda de abajo es el límite que más se defiende solo: si el parte no trae las casillas
  marcadas, no las deducimos de la narración. Ese dato lo firman los conductores.
Aviso honesto si preguntan: la retícula de colores de la izquierda es ilustrativa, para que
se vea la densidad. La transcripción real está en el artefacto firmado y se puede abrir.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ESTADO DE LAS REGLAS (50 s). Lámina de honestidad dentro del bloque técnico.
· La puerta de aplicabilidad está completa desde el día 4: es lo que permite decir «fuera
  del Convenio» con fundamento en los casos 2 y 3 del enunciado.
· De las normas subsidiarias, seis están conectadas más la tabla de culpabilidad.
· Falta una: b.11, rotondas. Y la explico porque el motivo es interesante: su excepción no
  retira la atribución, la sustituye («culpable quien accede, salvo que ambos tengan daños
  laterales no angulares, en cuyo caso responde el del lateral derecho»). Eso no es rellenar
  un predicado: es una segunda regla con su propia condición mutuamente excluyente.
· Mientras no esté, devuelve insufficient_data. No finge.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 Enrutado y consulta documental
Guion en pantalla:
· Escribir la pregunta en modo Automático (sin elegir modo).
· Señalar la etiqueta de modo detectado ANTES de leer la respuesta.
· Pulsar la cita y dejar que se vea el PDF abrirse por la página 9.
· Si alguien pregunta por el resaltado: con el índice activo (pypdf) no hay coordenadas
· verificadas, así que se abre la página completa en vez de fingir un resaltado. Con el
· perfil Docling sí las habría. Es la decisión de la lámina de parsers.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 El siniestro que sí se resuelve
Guion en pantalla:
· Usar el ejemplo de demo, no escribir el relato a mano (ahorra 40 segundos).
· Expandir «Reglas evaluadas» y recorrer los hechos: insistir en que llevan el texto literal.
· Leer la conclusión en voz alta y abrir la cita de la página 75.
· Rematar: «El modelo no ha decidido esto. Ha rellenado tres hechos y el motor ha aplicado
· una norma firmada que cualquiera puede leer en el artefacto.»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 Abstenerse con criterio, y pedir el dato exacto
Guion en pantalla:
· Empezar por la colisión múltiple: es el caso que más sorprende (cinco coches, y se cae del
· Convenio por la puerta de entrada).
· Después la matriz: declarar las casillas en el relato, provocar la interrupción, responder
· primero «abrió la puerta el de B» y luego repetir con «el de A» para enseñar las dos ramas.
· Cerrar con la pregunta fuera de alcance (baremo de lesiones): comprobar que NO da cifras.
· Es la demo más importante de las cuatro. Si hay que recortar tiempo, recortar la 1, no ésta.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 Trazabilidad y operación
Guion en pantalla:
· Abrir la traza del caso de la demo 2 desde el enlace «Ver en Langfuse» de la propia respuesta.
· Enseñar el desglose por etapa: es donde se ve que el coste real por consulta es pequeño.
· Pasar al modo administrador y enseñar la previsualización de la extracción.
· Rematar con la frase de la banda: producto, modelo y evaluación miran la misma traza.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GOLDEN SET (60 s).
· El punto no es el número. Es que hay una referencia escrita ANTES de mirar lo que el
  sistema contesta, y que está anclada a páginas concretas del manual.
· Los cinco del enunciado son el criterio de aceptación. Los resolví a mano el primer día:
  es la tabla del bloque 01.
· Los 100 sintéticos se generaron a partir del manual y se revisaron de forma adversarial.
  No se aceptaron tal cual: hay una pasada que corrigió paquetes de evidencia demasiado
  estrictos y requisitos sin cita que los sostuviera.
· La release se congela con hash de contenido y de esquema. Eso es lo que impide el vicio
  clásico de retocar el golden cuando los resultados no gustan.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ANATOMÍA DE UN CASO (55 s).
· La idea clave: comparar texto con texto no sirve. «El Convenio no es de aplicación» y
  «este siniestro queda fuera del Convenio» son la misma respuesta. Por eso la referencia
  es una especificación con requisitos, alternativas aceptables y prohibiciones.
· forbidden_facts es mi campo favorito: recoge los errores plausibles. En el alcance por
  detrás, presumir la culpa del que alcanza es exactamente lo que un modelo haría por
  sentido común, y el manual no lo sostiene.
· La banda ámbar es deliberada. Es la limitación más seria del trabajo de evaluación y
  prefiero decirla yo antes de que la pregunten: la revisión es de IA, en tres pasos y
  documentada, pero no es un perito humano.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PROTOCOLO DE EVALUACIÓN (60 s). Lámina delicada: hay que ser exacto.
COMPROBADO el 2026-09-03: allianz golden validate devuelve errors: [] e item_count: 110,
y el proyecto de Langfuse en uso todavía no tiene el dataset publicado (la API de datasets
devuelve 0). Por eso la caja ámbar lo pone en "en curso" y no en "construido".
· Contar primero el protocolo. Es lo que se está evaluando en esta prueba: si sé montar una
  evaluación creíble, no si tengo un número bonito.
· «Abstención correcta» como métrica principal es la consecuencia directa del bloque 01:
  en cuatro de los cinco casos del enunciado, acertar es abstenerse.
· La caja ámbar es el estado real. Decirla tal cual, sin apurarse:
  hecho = golden + release congelada + dataset + runner documental;
  en curso = campaña completa y evaluadores de siniestro y router;
  pendiente = holdout, que se abre una sola vez y por eso no se ha abierto.
SI PARA ENTONCES HAY NÚMEROS: sustituir la caja ámbar por las métricas reales
(precisión de enrutado, fidelidad de citas, abstención correcta) e indicar sobre qué
release y qué commit se midieron. No añadir ninguna métrica que no venga de una ejecución.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OBSERVABILIDAD (45 s).
· Insistir en lo de autoalojado: el material de entrada de este sistema son relatos de
  siniestro. Mandarlos a un SaaS de observabilidad para una prueba técnica habría sido
  cómodo y equivocado.
· El argumento de producto: el enlace de cada respuesta lleva a SU traza. Cuando alguien
  discuta una conclusión, se abre la ejecución exacta con los hechos extraídos, las reglas
  evaluadas y las llamadas al modelo.
· Y el argumento de ingeniería: datasets y experimentos viven en el mismo sitio, así que la
  evaluación no es un cuaderno aparte que se desincroniza.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GATES (40 s). Ir rápido, es una lámina de confianza, no de contenido.
· Las cifras están medidas hoy sobre este repositorio, no son de memoria.
· El punto que merece detenerse: la deriva de contrato. El frontend no tiene una segunda
  definición manual de los tipos de la API; se generan del OpenAPI que publica FastAPI, y
  hay una comprobación que falla si el contrato y el código se separan.
· El tercer bloque de abajo es consecuencia directa de la arquitectura hexagonal: el dominio
  se prueba sin levantar Qdrant ni llamar a ningún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LÍMITES (50 s). Contarla entera y sin prisa. Es la lámina que más credibilidad da.
Frase de entrada: «Esta es la lámina que normalmente no está en una presentación de
entrega. Va aquí porque es exactamente el mismo criterio que hace que el sistema se
abstenga en un siniestro.»
· El límite 3 es el más importante del dominio: no deducimos las casillas del apartado 12.
· El límite 4 es el más importante de la evaluación: revisión de IA, no de perito.
· El límite 5 es el que un evaluador técnico agradecerá: los 110 casos están en desarrollo.
  Medir sobre ellos y llamarlo generalización sería trampa, y por eso el holdout se abre
  una sola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(40 s).
· El orden es el mensaje. Los cuatro puntos podrían hacerse en cualquier orden y he elegido
  éste porque los dos primeros son mediciones y los dos últimos son consecuencias.
· Punto 3: reconocer que es la limitación más seria y también la más barata de cerrar.
  Una tarde de una persona del negocio revisando cinco casos vale más que cien sintéticos.
· Cerrar señalando que ninguno de los cuatro toca el dominio: es la factura que paga la
  arquitectura del bloque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(30 s) y paso a preguntas.
Frase de cierre sugerida:
«Si me tuviera que quedar con una sola idea de todo esto: el sistema se abstiene cuando el
manual no da para más, y esa abstención está tan trabajada como las respuestas. En un dominio
donde la salida es quién paga un siniestro, un asistente que siempre responde no es más útil:
es más peligroso.»
Tener abierto en otra ventana: docs/ESTADO.md, data/rules/ruleset.v1.json, la traza de
Langfuse del caso 4 y el golden congelado. Las láminas del apéndice cubren stack, API,
glosario y comandos.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Sólo si preguntan por el stack. La columna de la derecha explica el porqué de cada elección, que suele ser la pregunta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El sobre de respuesta es común a los tres recorridos: identifica el modo seguido, las etapas ejecutadas, las citas y el estado. Es lo que permite que la interfaz enseñe el razonamiento sin lógica duplicada.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Útil si en la sala hay perfiles no aseguradores. Los cinco primeros términos aparecen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Si alguien quiere verificar algo en el momento, está aquí. Todos se ejecutan en local y ninguno necesita credenciales externas salvo la clave del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8138160" y="-1737360"/>
            <a:ext cx="6035040" cy="6035040"/>
          </a:xfrm>
          <a:prstGeom prst="ellipse">
            <a:avLst/>
          </a:prstGeom>
          <a:solidFill>
            <a:srgbClr val="002A5E"/>
          </a:solidFill>
          <a:ln/>
        </p:spPr>
      </p:sp>
      <p:sp>
        <p:nvSpPr>
          <p:cNvPr id="3" name="Shape 1"/>
          <p:cNvSpPr/>
          <p:nvPr/>
        </p:nvSpPr>
        <p:spPr>
          <a:xfrm>
            <a:off x="9326880" y="365760"/>
            <a:ext cx="3931920" cy="3931920"/>
          </a:xfrm>
          <a:prstGeom prst="ellipse">
            <a:avLst/>
          </a:prstGeom>
          <a:solidFill>
            <a:srgbClr val="0A4E92"/>
          </a:solidFill>
          <a:ln/>
        </p:spPr>
      </p:sp>
      <p:sp>
        <p:nvSpPr>
          <p:cNvPr id="4" name="Shape 2"/>
          <p:cNvSpPr/>
          <p:nvPr/>
        </p:nvSpPr>
        <p:spPr>
          <a:xfrm>
            <a:off x="10149840" y="1828800"/>
            <a:ext cx="2194560" cy="2194560"/>
          </a:xfrm>
          <a:prstGeom prst="ellipse">
            <a:avLst/>
          </a:prstGeom>
          <a:solidFill>
            <a:srgbClr val="0079C1"/>
          </a:solidFill>
          <a:ln/>
        </p:spPr>
      </p:sp>
      <p:sp>
        <p:nvSpPr>
          <p:cNvPr id="5" name="Shape 3"/>
          <p:cNvSpPr/>
          <p:nvPr/>
        </p:nvSpPr>
        <p:spPr>
          <a:xfrm>
            <a:off x="566928" y="566928"/>
            <a:ext cx="2084832" cy="603504"/>
          </a:xfrm>
          <a:prstGeom prst="roundRect">
            <a:avLst>
              <a:gd name="adj" fmla="val 15152"/>
            </a:avLst>
          </a:prstGeom>
          <a:solidFill>
            <a:srgbClr val="FFFFFF"/>
          </a:solidFill>
          <a:ln/>
        </p:spPr>
      </p:sp>
      <p:pic>
        <p:nvPicPr>
          <p:cNvPr id="6" name="Image 0" descr="/Users/aoc/proyectos/prueba-allianz/docs/entrega/deck/assets/allianz-logo.png">    </p:cNvPr>
          <p:cNvPicPr>
            <a:picLocks noChangeAspect="1"/>
          </p:cNvPicPr>
          <p:nvPr/>
        </p:nvPicPr>
        <p:blipFill>
          <a:blip r:embed="rId1"/>
          <a:srcRect l="0" r="0" t="0" b="0"/>
          <a:stretch/>
        </p:blipFill>
        <p:spPr>
          <a:xfrm>
            <a:off x="786384" y="758952"/>
            <a:ext cx="1645920" cy="219456"/>
          </a:xfrm>
          <a:prstGeom prst="rect">
            <a:avLst/>
          </a:prstGeom>
        </p:spPr>
      </p:pic>
      <p:sp>
        <p:nvSpPr>
          <p:cNvPr id="7" name="Text 4"/>
          <p:cNvSpPr txBox="1"/>
          <p:nvPr/>
        </p:nvSpPr>
        <p:spPr>
          <a:xfrm>
            <a:off x="566928" y="1874520"/>
            <a:ext cx="7680960" cy="1737360"/>
          </a:xfrm>
          <a:prstGeom prst="rect">
            <a:avLst/>
          </a:prstGeom>
          <a:noFill/>
          <a:ln/>
        </p:spPr>
        <p:txBody>
          <a:bodyPr wrap="square" lIns="0" tIns="0" rIns="0" bIns="0" rtlCol="0" anchor="t"/>
          <a:lstStyle/>
          <a:p>
            <a:pPr indent="0" marL="0">
              <a:lnSpc>
                <a:spcPct val="100000"/>
              </a:lnSpc>
              <a:buNone/>
            </a:pPr>
            <a:r>
              <a:rPr lang="en-US" sz="4700" b="1" dirty="0">
                <a:solidFill>
                  <a:srgbClr val="FFFFFF"/>
                </a:solidFill>
                <a:latin typeface="Arial" pitchFamily="34" charset="0"/>
                <a:ea typeface="Arial" pitchFamily="34" charset="-122"/>
                <a:cs typeface="Arial" pitchFamily="34" charset="-120"/>
              </a:rPr>
              <a:t>CICOS Claims</a:t>
            </a:r>
            <a:endParaRPr lang="en-US" sz="4700" dirty="0"/>
          </a:p>
          <a:p>
            <a:pPr indent="0" marL="0">
              <a:lnSpc>
                <a:spcPct val="100000"/>
              </a:lnSpc>
              <a:buNone/>
            </a:pPr>
            <a:r>
              <a:rPr lang="en-US" sz="4700" b="1" dirty="0">
                <a:solidFill>
                  <a:srgbClr val="FFFFFF"/>
                </a:solidFill>
                <a:latin typeface="Arial" pitchFamily="34" charset="0"/>
                <a:ea typeface="Arial" pitchFamily="34" charset="-122"/>
                <a:cs typeface="Arial" pitchFamily="34" charset="-120"/>
              </a:rPr>
              <a:t>Intelligence</a:t>
            </a:r>
            <a:endParaRPr lang="en-US" sz="4700" dirty="0"/>
          </a:p>
        </p:txBody>
      </p:sp>
      <p:sp>
        <p:nvSpPr>
          <p:cNvPr id="8" name="Text 5"/>
          <p:cNvSpPr txBox="1"/>
          <p:nvPr/>
        </p:nvSpPr>
        <p:spPr>
          <a:xfrm>
            <a:off x="566928" y="3712464"/>
            <a:ext cx="6949440" cy="786384"/>
          </a:xfrm>
          <a:prstGeom prst="rect">
            <a:avLst/>
          </a:prstGeom>
          <a:noFill/>
          <a:ln/>
        </p:spPr>
        <p:txBody>
          <a:bodyPr wrap="square" lIns="0" tIns="0" rIns="0" bIns="0" rtlCol="0" anchor="t"/>
          <a:lstStyle/>
          <a:p>
            <a:pPr indent="0" marL="0">
              <a:lnSpc>
                <a:spcPct val="116000"/>
              </a:lnSpc>
              <a:buNone/>
            </a:pPr>
            <a:r>
              <a:rPr lang="en-US" sz="1650" dirty="0">
                <a:solidFill>
                  <a:srgbClr val="C9DEF2"/>
                </a:solidFill>
                <a:latin typeface="Calibri" pitchFamily="34" charset="0"/>
                <a:ea typeface="Calibri" pitchFamily="34" charset="-122"/>
                <a:cs typeface="Calibri" pitchFamily="34" charset="-120"/>
              </a:rPr>
              <a:t>RAG con evidencia verificable y decisión auditable</a:t>
            </a:r>
            <a:endParaRPr lang="en-US" sz="1650" dirty="0"/>
          </a:p>
          <a:p>
            <a:pPr indent="0" marL="0">
              <a:lnSpc>
                <a:spcPct val="116000"/>
              </a:lnSpc>
              <a:buNone/>
            </a:pPr>
            <a:r>
              <a:rPr lang="en-US" sz="1650" dirty="0">
                <a:solidFill>
                  <a:srgbClr val="C9DEF2"/>
                </a:solidFill>
                <a:latin typeface="Calibri" pitchFamily="34" charset="0"/>
                <a:ea typeface="Calibri" pitchFamily="34" charset="-122"/>
                <a:cs typeface="Calibri" pitchFamily="34" charset="-120"/>
              </a:rPr>
              <a:t>sobre el manual CIDE · ASCIDE · CICOS</a:t>
            </a:r>
            <a:endParaRPr lang="en-US" sz="1650" dirty="0"/>
          </a:p>
        </p:txBody>
      </p:sp>
      <p:sp>
        <p:nvSpPr>
          <p:cNvPr id="9" name="Text 6"/>
          <p:cNvSpPr txBox="1"/>
          <p:nvPr/>
        </p:nvSpPr>
        <p:spPr>
          <a:xfrm>
            <a:off x="566928"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111</a:t>
            </a:r>
            <a:endParaRPr lang="en-US" sz="3300" dirty="0"/>
          </a:p>
        </p:txBody>
      </p:sp>
      <p:sp>
        <p:nvSpPr>
          <p:cNvPr id="10" name="Text 7"/>
          <p:cNvSpPr txBox="1"/>
          <p:nvPr/>
        </p:nvSpPr>
        <p:spPr>
          <a:xfrm>
            <a:off x="566928"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páginas indexadas</a:t>
            </a:r>
            <a:endParaRPr lang="en-US" sz="1150" dirty="0"/>
          </a:p>
        </p:txBody>
      </p:sp>
      <p:sp>
        <p:nvSpPr>
          <p:cNvPr id="11" name="Text 8"/>
          <p:cNvSpPr txBox="1"/>
          <p:nvPr/>
        </p:nvSpPr>
        <p:spPr>
          <a:xfrm>
            <a:off x="2450592"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110</a:t>
            </a:r>
            <a:endParaRPr lang="en-US" sz="3300" dirty="0"/>
          </a:p>
        </p:txBody>
      </p:sp>
      <p:sp>
        <p:nvSpPr>
          <p:cNvPr id="12" name="Text 9"/>
          <p:cNvSpPr txBox="1"/>
          <p:nvPr/>
        </p:nvSpPr>
        <p:spPr>
          <a:xfrm>
            <a:off x="2450592"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casos golden</a:t>
            </a:r>
            <a:endParaRPr lang="en-US" sz="1150" dirty="0"/>
          </a:p>
        </p:txBody>
      </p:sp>
      <p:sp>
        <p:nvSpPr>
          <p:cNvPr id="13" name="Text 10"/>
          <p:cNvSpPr txBox="1"/>
          <p:nvPr/>
        </p:nvSpPr>
        <p:spPr>
          <a:xfrm>
            <a:off x="4334256"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14</a:t>
            </a:r>
            <a:endParaRPr lang="en-US" sz="3300" dirty="0"/>
          </a:p>
        </p:txBody>
      </p:sp>
      <p:sp>
        <p:nvSpPr>
          <p:cNvPr id="14" name="Text 11"/>
          <p:cNvSpPr txBox="1"/>
          <p:nvPr/>
        </p:nvSpPr>
        <p:spPr>
          <a:xfrm>
            <a:off x="4334256"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reglas firmadas</a:t>
            </a:r>
            <a:endParaRPr lang="en-US" sz="1150" dirty="0"/>
          </a:p>
        </p:txBody>
      </p:sp>
      <p:sp>
        <p:nvSpPr>
          <p:cNvPr id="15" name="Text 12"/>
          <p:cNvSpPr txBox="1"/>
          <p:nvPr/>
        </p:nvSpPr>
        <p:spPr>
          <a:xfrm>
            <a:off x="6217920"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597</a:t>
            </a:r>
            <a:endParaRPr lang="en-US" sz="3300" dirty="0"/>
          </a:p>
        </p:txBody>
      </p:sp>
      <p:sp>
        <p:nvSpPr>
          <p:cNvPr id="16" name="Text 13"/>
          <p:cNvSpPr txBox="1"/>
          <p:nvPr/>
        </p:nvSpPr>
        <p:spPr>
          <a:xfrm>
            <a:off x="6217920"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pruebas verdes</a:t>
            </a:r>
            <a:endParaRPr lang="en-US" sz="1150" dirty="0"/>
          </a:p>
        </p:txBody>
      </p:sp>
      <p:sp>
        <p:nvSpPr>
          <p:cNvPr id="17" name="Text 14"/>
          <p:cNvSpPr txBox="1"/>
          <p:nvPr/>
        </p:nvSpPr>
        <p:spPr>
          <a:xfrm>
            <a:off x="566928" y="6144768"/>
            <a:ext cx="8229600" cy="274320"/>
          </a:xfrm>
          <a:prstGeom prst="rect">
            <a:avLst/>
          </a:prstGeom>
          <a:noFill/>
          <a:ln/>
        </p:spPr>
        <p:txBody>
          <a:bodyPr wrap="square" lIns="0" tIns="0" rIns="0" bIns="0" rtlCol="0" anchor="t"/>
          <a:lstStyle/>
          <a:p>
            <a:pPr indent="0" marL="0">
              <a:buNone/>
            </a:pPr>
            <a:r>
              <a:rPr lang="en-US" sz="1200" dirty="0">
                <a:solidFill>
                  <a:srgbClr val="8FB8DC"/>
                </a:solidFill>
                <a:latin typeface="Calibri" pitchFamily="34" charset="0"/>
                <a:ea typeface="Calibri" pitchFamily="34" charset="-122"/>
                <a:cs typeface="Calibri" pitchFamily="34" charset="-120"/>
              </a:rPr>
              <a:t>Antonio Oliva Carceles   ·   Prueba técnica GenAI   ·   Septiembre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RECORRIDO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Cuarenta y cinco minutos: veinte de diseño, quince de demo en vivo, diez de preguntas.</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narración va de por qué este problema es más difícil de lo que parece, a cómo se demuestra que el sistema no improvisa.</a:t>
            </a:r>
            <a:endParaRPr lang="en-US" sz="1350" dirty="0"/>
          </a:p>
        </p:txBody>
      </p:sp>
      <p:sp>
        <p:nvSpPr>
          <p:cNvPr id="7" name="Shape 4"/>
          <p:cNvSpPr/>
          <p:nvPr/>
        </p:nvSpPr>
        <p:spPr>
          <a:xfrm>
            <a:off x="566928" y="2212848"/>
            <a:ext cx="11057839" cy="640080"/>
          </a:xfrm>
          <a:prstGeom prst="roundRect">
            <a:avLst>
              <a:gd name="adj" fmla="val 12857"/>
            </a:avLst>
          </a:prstGeom>
          <a:solidFill>
            <a:srgbClr val="F1F6FC"/>
          </a:solidFill>
          <a:ln/>
        </p:spPr>
      </p:sp>
      <p:sp>
        <p:nvSpPr>
          <p:cNvPr id="8" name="Shape 5"/>
          <p:cNvSpPr/>
          <p:nvPr/>
        </p:nvSpPr>
        <p:spPr>
          <a:xfrm>
            <a:off x="768096" y="2286000"/>
            <a:ext cx="384048" cy="384048"/>
          </a:xfrm>
          <a:prstGeom prst="ellipse">
            <a:avLst/>
          </a:prstGeom>
          <a:solidFill>
            <a:srgbClr val="003781"/>
          </a:solidFill>
          <a:ln/>
        </p:spPr>
      </p:sp>
      <p:sp>
        <p:nvSpPr>
          <p:cNvPr id="9" name="Text 6"/>
          <p:cNvSpPr txBox="1"/>
          <p:nvPr/>
        </p:nvSpPr>
        <p:spPr>
          <a:xfrm>
            <a:off x="768096" y="2359152"/>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01</a:t>
            </a:r>
            <a:endParaRPr lang="en-US" sz="1200" dirty="0"/>
          </a:p>
        </p:txBody>
      </p:sp>
      <p:sp>
        <p:nvSpPr>
          <p:cNvPr id="10" name="Text 7"/>
          <p:cNvSpPr txBox="1"/>
          <p:nvPr/>
        </p:nvSpPr>
        <p:spPr>
          <a:xfrm>
            <a:off x="1335024" y="2286000"/>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El problema</a:t>
            </a:r>
            <a:endParaRPr lang="en-US" sz="1450" dirty="0"/>
          </a:p>
        </p:txBody>
      </p:sp>
      <p:sp>
        <p:nvSpPr>
          <p:cNvPr id="11" name="Text 8"/>
          <p:cNvSpPr txBox="1"/>
          <p:nvPr/>
        </p:nvSpPr>
        <p:spPr>
          <a:xfrm>
            <a:off x="3858768" y="2295144"/>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Qué pide el enunciado y por qué cuatro de sus cinco accidentes no tienen respuesta determinista.</a:t>
            </a:r>
            <a:endParaRPr lang="en-US" sz="1200" dirty="0"/>
          </a:p>
        </p:txBody>
      </p:sp>
      <p:sp>
        <p:nvSpPr>
          <p:cNvPr id="12" name="Shape 9"/>
          <p:cNvSpPr/>
          <p:nvPr/>
        </p:nvSpPr>
        <p:spPr>
          <a:xfrm>
            <a:off x="10692079" y="2331720"/>
            <a:ext cx="841248" cy="274320"/>
          </a:xfrm>
          <a:prstGeom prst="roundRect">
            <a:avLst>
              <a:gd name="adj" fmla="val 50000"/>
            </a:avLst>
          </a:prstGeom>
          <a:solidFill>
            <a:srgbClr val="E6F0F9"/>
          </a:solidFill>
          <a:ln/>
        </p:spPr>
      </p:sp>
      <p:sp>
        <p:nvSpPr>
          <p:cNvPr id="13" name="Text 10"/>
          <p:cNvSpPr txBox="1"/>
          <p:nvPr/>
        </p:nvSpPr>
        <p:spPr>
          <a:xfrm>
            <a:off x="10692079" y="2359152"/>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3 min</a:t>
            </a:r>
            <a:endParaRPr lang="en-US" sz="1050" dirty="0"/>
          </a:p>
        </p:txBody>
      </p:sp>
      <p:sp>
        <p:nvSpPr>
          <p:cNvPr id="14" name="Shape 11"/>
          <p:cNvSpPr/>
          <p:nvPr/>
        </p:nvSpPr>
        <p:spPr>
          <a:xfrm>
            <a:off x="768096" y="2916936"/>
            <a:ext cx="384048" cy="384048"/>
          </a:xfrm>
          <a:prstGeom prst="ellipse">
            <a:avLst/>
          </a:prstGeom>
          <a:solidFill>
            <a:srgbClr val="003781"/>
          </a:solidFill>
          <a:ln/>
        </p:spPr>
      </p:sp>
      <p:sp>
        <p:nvSpPr>
          <p:cNvPr id="15" name="Text 12"/>
          <p:cNvSpPr txBox="1"/>
          <p:nvPr/>
        </p:nvSpPr>
        <p:spPr>
          <a:xfrm>
            <a:off x="768096" y="2990088"/>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02</a:t>
            </a:r>
            <a:endParaRPr lang="en-US" sz="1200" dirty="0"/>
          </a:p>
        </p:txBody>
      </p:sp>
      <p:sp>
        <p:nvSpPr>
          <p:cNvPr id="16" name="Text 13"/>
          <p:cNvSpPr txBox="1"/>
          <p:nvPr/>
        </p:nvSpPr>
        <p:spPr>
          <a:xfrm>
            <a:off x="1335024" y="2916936"/>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Plan, supuestos y riesgos</a:t>
            </a:r>
            <a:endParaRPr lang="en-US" sz="1450" dirty="0"/>
          </a:p>
        </p:txBody>
      </p:sp>
      <p:sp>
        <p:nvSpPr>
          <p:cNvPr id="17" name="Text 14"/>
          <p:cNvSpPr txBox="1"/>
          <p:nvPr/>
        </p:nvSpPr>
        <p:spPr>
          <a:xfrm>
            <a:off x="3858768" y="2926080"/>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Cinco días con hitos comprobables, seis supuestos declarados y las decisiones técnicas con su porqué.</a:t>
            </a:r>
            <a:endParaRPr lang="en-US" sz="1200" dirty="0"/>
          </a:p>
        </p:txBody>
      </p:sp>
      <p:sp>
        <p:nvSpPr>
          <p:cNvPr id="18" name="Shape 15"/>
          <p:cNvSpPr/>
          <p:nvPr/>
        </p:nvSpPr>
        <p:spPr>
          <a:xfrm>
            <a:off x="10692079" y="2962656"/>
            <a:ext cx="841248" cy="274320"/>
          </a:xfrm>
          <a:prstGeom prst="roundRect">
            <a:avLst>
              <a:gd name="adj" fmla="val 50000"/>
            </a:avLst>
          </a:prstGeom>
          <a:solidFill>
            <a:srgbClr val="E6F0F9"/>
          </a:solidFill>
          <a:ln/>
        </p:spPr>
      </p:sp>
      <p:sp>
        <p:nvSpPr>
          <p:cNvPr id="19" name="Text 16"/>
          <p:cNvSpPr txBox="1"/>
          <p:nvPr/>
        </p:nvSpPr>
        <p:spPr>
          <a:xfrm>
            <a:off x="10692079" y="2990088"/>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4 min</a:t>
            </a:r>
            <a:endParaRPr lang="en-US" sz="1050" dirty="0"/>
          </a:p>
        </p:txBody>
      </p:sp>
      <p:sp>
        <p:nvSpPr>
          <p:cNvPr id="20" name="Shape 17"/>
          <p:cNvSpPr/>
          <p:nvPr/>
        </p:nvSpPr>
        <p:spPr>
          <a:xfrm>
            <a:off x="566928" y="3474720"/>
            <a:ext cx="11057839" cy="640080"/>
          </a:xfrm>
          <a:prstGeom prst="roundRect">
            <a:avLst>
              <a:gd name="adj" fmla="val 12857"/>
            </a:avLst>
          </a:prstGeom>
          <a:solidFill>
            <a:srgbClr val="F1F6FC"/>
          </a:solidFill>
          <a:ln/>
        </p:spPr>
      </p:sp>
      <p:sp>
        <p:nvSpPr>
          <p:cNvPr id="21" name="Shape 18"/>
          <p:cNvSpPr/>
          <p:nvPr/>
        </p:nvSpPr>
        <p:spPr>
          <a:xfrm>
            <a:off x="768096" y="3547872"/>
            <a:ext cx="384048" cy="384048"/>
          </a:xfrm>
          <a:prstGeom prst="ellipse">
            <a:avLst/>
          </a:prstGeom>
          <a:solidFill>
            <a:srgbClr val="003781"/>
          </a:solidFill>
          <a:ln/>
        </p:spPr>
      </p:sp>
      <p:sp>
        <p:nvSpPr>
          <p:cNvPr id="22" name="Text 19"/>
          <p:cNvSpPr txBox="1"/>
          <p:nvPr/>
        </p:nvSpPr>
        <p:spPr>
          <a:xfrm>
            <a:off x="768096" y="3621024"/>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03</a:t>
            </a:r>
            <a:endParaRPr lang="en-US" sz="1200" dirty="0"/>
          </a:p>
        </p:txBody>
      </p:sp>
      <p:sp>
        <p:nvSpPr>
          <p:cNvPr id="23" name="Text 20"/>
          <p:cNvSpPr txBox="1"/>
          <p:nvPr/>
        </p:nvSpPr>
        <p:spPr>
          <a:xfrm>
            <a:off x="1335024" y="3547872"/>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Arquitectura</a:t>
            </a:r>
            <a:endParaRPr lang="en-US" sz="1450" dirty="0"/>
          </a:p>
        </p:txBody>
      </p:sp>
      <p:sp>
        <p:nvSpPr>
          <p:cNvPr id="24" name="Text 21"/>
          <p:cNvSpPr txBox="1"/>
          <p:nvPr/>
        </p:nvSpPr>
        <p:spPr>
          <a:xfrm>
            <a:off x="3858768" y="3557016"/>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Hexagonal, modelos, ingesta con cadena de custodia, recuperación híbrida, workflows y motor de reglas.</a:t>
            </a:r>
            <a:endParaRPr lang="en-US" sz="1200" dirty="0"/>
          </a:p>
        </p:txBody>
      </p:sp>
      <p:sp>
        <p:nvSpPr>
          <p:cNvPr id="25" name="Shape 22"/>
          <p:cNvSpPr/>
          <p:nvPr/>
        </p:nvSpPr>
        <p:spPr>
          <a:xfrm>
            <a:off x="10692079" y="3593592"/>
            <a:ext cx="841248" cy="274320"/>
          </a:xfrm>
          <a:prstGeom prst="roundRect">
            <a:avLst>
              <a:gd name="adj" fmla="val 50000"/>
            </a:avLst>
          </a:prstGeom>
          <a:solidFill>
            <a:srgbClr val="E6F0F9"/>
          </a:solidFill>
          <a:ln/>
        </p:spPr>
      </p:sp>
      <p:sp>
        <p:nvSpPr>
          <p:cNvPr id="26" name="Text 23"/>
          <p:cNvSpPr txBox="1"/>
          <p:nvPr/>
        </p:nvSpPr>
        <p:spPr>
          <a:xfrm>
            <a:off x="10692079" y="3621024"/>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11 min</a:t>
            </a:r>
            <a:endParaRPr lang="en-US" sz="1050" dirty="0"/>
          </a:p>
        </p:txBody>
      </p:sp>
      <p:sp>
        <p:nvSpPr>
          <p:cNvPr id="27" name="Shape 24"/>
          <p:cNvSpPr/>
          <p:nvPr/>
        </p:nvSpPr>
        <p:spPr>
          <a:xfrm>
            <a:off x="768096" y="4178808"/>
            <a:ext cx="384048" cy="384048"/>
          </a:xfrm>
          <a:prstGeom prst="ellipse">
            <a:avLst/>
          </a:prstGeom>
          <a:solidFill>
            <a:srgbClr val="00807E"/>
          </a:solidFill>
          <a:ln/>
        </p:spPr>
      </p:sp>
      <p:sp>
        <p:nvSpPr>
          <p:cNvPr id="28" name="Text 25"/>
          <p:cNvSpPr txBox="1"/>
          <p:nvPr/>
        </p:nvSpPr>
        <p:spPr>
          <a:xfrm>
            <a:off x="768096" y="4251960"/>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04</a:t>
            </a:r>
            <a:endParaRPr lang="en-US" sz="1200" dirty="0"/>
          </a:p>
        </p:txBody>
      </p:sp>
      <p:sp>
        <p:nvSpPr>
          <p:cNvPr id="29" name="Text 26"/>
          <p:cNvSpPr txBox="1"/>
          <p:nvPr/>
        </p:nvSpPr>
        <p:spPr>
          <a:xfrm>
            <a:off x="1335024" y="4178808"/>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Demo en vivo</a:t>
            </a:r>
            <a:endParaRPr lang="en-US" sz="1450" dirty="0"/>
          </a:p>
        </p:txBody>
      </p:sp>
      <p:sp>
        <p:nvSpPr>
          <p:cNvPr id="30" name="Text 27"/>
          <p:cNvSpPr txBox="1"/>
          <p:nvPr/>
        </p:nvSpPr>
        <p:spPr>
          <a:xfrm>
            <a:off x="3858768" y="4187952"/>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Cuatro recorridos sobre el sistema real: enrutado, caso resuelto, abstención y trazabilidad.</a:t>
            </a:r>
            <a:endParaRPr lang="en-US" sz="1200" dirty="0"/>
          </a:p>
        </p:txBody>
      </p:sp>
      <p:sp>
        <p:nvSpPr>
          <p:cNvPr id="31" name="Shape 28"/>
          <p:cNvSpPr/>
          <p:nvPr/>
        </p:nvSpPr>
        <p:spPr>
          <a:xfrm>
            <a:off x="10692079" y="4224528"/>
            <a:ext cx="841248" cy="274320"/>
          </a:xfrm>
          <a:prstGeom prst="roundRect">
            <a:avLst>
              <a:gd name="adj" fmla="val 50000"/>
            </a:avLst>
          </a:prstGeom>
          <a:solidFill>
            <a:srgbClr val="E2F3F2"/>
          </a:solidFill>
          <a:ln/>
        </p:spPr>
      </p:sp>
      <p:sp>
        <p:nvSpPr>
          <p:cNvPr id="32" name="Text 29"/>
          <p:cNvSpPr txBox="1"/>
          <p:nvPr/>
        </p:nvSpPr>
        <p:spPr>
          <a:xfrm>
            <a:off x="10692079" y="4251960"/>
            <a:ext cx="841248" cy="219456"/>
          </a:xfrm>
          <a:prstGeom prst="rect">
            <a:avLst/>
          </a:prstGeom>
          <a:noFill/>
          <a:ln/>
        </p:spPr>
        <p:txBody>
          <a:bodyPr wrap="square" lIns="0" tIns="0" rIns="0" bIns="0" rtlCol="0" anchor="t"/>
          <a:lstStyle/>
          <a:p>
            <a:pPr algn="ctr" indent="0" marL="0">
              <a:buNone/>
            </a:pPr>
            <a:r>
              <a:rPr lang="en-US" sz="1050" dirty="0">
                <a:solidFill>
                  <a:srgbClr val="00807E"/>
                </a:solidFill>
                <a:latin typeface="Courier New" pitchFamily="34" charset="0"/>
                <a:ea typeface="Courier New" pitchFamily="34" charset="-122"/>
                <a:cs typeface="Courier New" pitchFamily="34" charset="-120"/>
              </a:rPr>
              <a:t>14 min</a:t>
            </a:r>
            <a:endParaRPr lang="en-US" sz="1050" dirty="0"/>
          </a:p>
        </p:txBody>
      </p:sp>
      <p:sp>
        <p:nvSpPr>
          <p:cNvPr id="33" name="Shape 30"/>
          <p:cNvSpPr/>
          <p:nvPr/>
        </p:nvSpPr>
        <p:spPr>
          <a:xfrm>
            <a:off x="566928" y="4736592"/>
            <a:ext cx="11057839" cy="640080"/>
          </a:xfrm>
          <a:prstGeom prst="roundRect">
            <a:avLst>
              <a:gd name="adj" fmla="val 12857"/>
            </a:avLst>
          </a:prstGeom>
          <a:solidFill>
            <a:srgbClr val="F1F6FC"/>
          </a:solidFill>
          <a:ln/>
        </p:spPr>
      </p:sp>
      <p:sp>
        <p:nvSpPr>
          <p:cNvPr id="34" name="Shape 31"/>
          <p:cNvSpPr/>
          <p:nvPr/>
        </p:nvSpPr>
        <p:spPr>
          <a:xfrm>
            <a:off x="768096" y="4809744"/>
            <a:ext cx="384048" cy="384048"/>
          </a:xfrm>
          <a:prstGeom prst="ellipse">
            <a:avLst/>
          </a:prstGeom>
          <a:solidFill>
            <a:srgbClr val="003781"/>
          </a:solidFill>
          <a:ln/>
        </p:spPr>
      </p:sp>
      <p:sp>
        <p:nvSpPr>
          <p:cNvPr id="35" name="Text 32"/>
          <p:cNvSpPr txBox="1"/>
          <p:nvPr/>
        </p:nvSpPr>
        <p:spPr>
          <a:xfrm>
            <a:off x="768096" y="4882896"/>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05</a:t>
            </a:r>
            <a:endParaRPr lang="en-US" sz="1200" dirty="0"/>
          </a:p>
        </p:txBody>
      </p:sp>
      <p:sp>
        <p:nvSpPr>
          <p:cNvPr id="36" name="Text 33"/>
          <p:cNvSpPr txBox="1"/>
          <p:nvPr/>
        </p:nvSpPr>
        <p:spPr>
          <a:xfrm>
            <a:off x="1335024" y="4809744"/>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Evaluación y límites</a:t>
            </a:r>
            <a:endParaRPr lang="en-US" sz="1450" dirty="0"/>
          </a:p>
        </p:txBody>
      </p:sp>
      <p:sp>
        <p:nvSpPr>
          <p:cNvPr id="37" name="Text 34"/>
          <p:cNvSpPr txBox="1"/>
          <p:nvPr/>
        </p:nvSpPr>
        <p:spPr>
          <a:xfrm>
            <a:off x="3858768" y="4818888"/>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Golden set de 110 casos, protocolo de medida, lo que el sistema no hace y la siguiente iteración.</a:t>
            </a:r>
            <a:endParaRPr lang="en-US" sz="1200" dirty="0"/>
          </a:p>
        </p:txBody>
      </p:sp>
      <p:sp>
        <p:nvSpPr>
          <p:cNvPr id="38" name="Shape 35"/>
          <p:cNvSpPr/>
          <p:nvPr/>
        </p:nvSpPr>
        <p:spPr>
          <a:xfrm>
            <a:off x="10692079" y="4855464"/>
            <a:ext cx="841248" cy="274320"/>
          </a:xfrm>
          <a:prstGeom prst="roundRect">
            <a:avLst>
              <a:gd name="adj" fmla="val 50000"/>
            </a:avLst>
          </a:prstGeom>
          <a:solidFill>
            <a:srgbClr val="E6F0F9"/>
          </a:solidFill>
          <a:ln/>
        </p:spPr>
      </p:sp>
      <p:sp>
        <p:nvSpPr>
          <p:cNvPr id="39" name="Text 36"/>
          <p:cNvSpPr txBox="1"/>
          <p:nvPr/>
        </p:nvSpPr>
        <p:spPr>
          <a:xfrm>
            <a:off x="10692079" y="4882896"/>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5 min</a:t>
            </a:r>
            <a:endParaRPr lang="en-US" sz="1050" dirty="0"/>
          </a:p>
        </p:txBody>
      </p:sp>
      <p:sp>
        <p:nvSpPr>
          <p:cNvPr id="40" name="Shape 37"/>
          <p:cNvSpPr/>
          <p:nvPr/>
        </p:nvSpPr>
        <p:spPr>
          <a:xfrm>
            <a:off x="768096" y="5440680"/>
            <a:ext cx="384048" cy="384048"/>
          </a:xfrm>
          <a:prstGeom prst="ellipse">
            <a:avLst/>
          </a:prstGeom>
          <a:solidFill>
            <a:srgbClr val="003781"/>
          </a:solidFill>
          <a:ln/>
        </p:spPr>
      </p:sp>
      <p:sp>
        <p:nvSpPr>
          <p:cNvPr id="41" name="Text 38"/>
          <p:cNvSpPr txBox="1"/>
          <p:nvPr/>
        </p:nvSpPr>
        <p:spPr>
          <a:xfrm>
            <a:off x="768096" y="5513832"/>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06</a:t>
            </a:r>
            <a:endParaRPr lang="en-US" sz="1200" dirty="0"/>
          </a:p>
        </p:txBody>
      </p:sp>
      <p:sp>
        <p:nvSpPr>
          <p:cNvPr id="42" name="Text 39"/>
          <p:cNvSpPr txBox="1"/>
          <p:nvPr/>
        </p:nvSpPr>
        <p:spPr>
          <a:xfrm>
            <a:off x="1335024" y="5440680"/>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Preguntas</a:t>
            </a:r>
            <a:endParaRPr lang="en-US" sz="1450" dirty="0"/>
          </a:p>
        </p:txBody>
      </p:sp>
      <p:sp>
        <p:nvSpPr>
          <p:cNvPr id="43" name="Text 40"/>
          <p:cNvSpPr txBox="1"/>
          <p:nvPr/>
        </p:nvSpPr>
        <p:spPr>
          <a:xfrm>
            <a:off x="3858768" y="5449824"/>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Con el código, el manual, las trazas y el estado verificado delante.</a:t>
            </a:r>
            <a:endParaRPr lang="en-US" sz="1200" dirty="0"/>
          </a:p>
        </p:txBody>
      </p:sp>
      <p:sp>
        <p:nvSpPr>
          <p:cNvPr id="44" name="Shape 41"/>
          <p:cNvSpPr/>
          <p:nvPr/>
        </p:nvSpPr>
        <p:spPr>
          <a:xfrm>
            <a:off x="10692079" y="5486400"/>
            <a:ext cx="841248" cy="274320"/>
          </a:xfrm>
          <a:prstGeom prst="roundRect">
            <a:avLst>
              <a:gd name="adj" fmla="val 50000"/>
            </a:avLst>
          </a:prstGeom>
          <a:solidFill>
            <a:srgbClr val="E6F0F9"/>
          </a:solidFill>
          <a:ln/>
        </p:spPr>
      </p:sp>
      <p:sp>
        <p:nvSpPr>
          <p:cNvPr id="45" name="Text 42"/>
          <p:cNvSpPr txBox="1"/>
          <p:nvPr/>
        </p:nvSpPr>
        <p:spPr>
          <a:xfrm>
            <a:off x="10692079" y="5513832"/>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8 min</a:t>
            </a:r>
            <a:endParaRPr lang="en-US" sz="1050" dirty="0"/>
          </a:p>
        </p:txBody>
      </p:sp>
      <p:sp>
        <p:nvSpPr>
          <p:cNvPr id="46" name="Shape 43"/>
          <p:cNvSpPr/>
          <p:nvPr/>
        </p:nvSpPr>
        <p:spPr>
          <a:xfrm>
            <a:off x="566928" y="5852160"/>
            <a:ext cx="11057839" cy="493776"/>
          </a:xfrm>
          <a:prstGeom prst="roundRect">
            <a:avLst>
              <a:gd name="adj" fmla="val 16667"/>
            </a:avLst>
          </a:prstGeom>
          <a:solidFill>
            <a:srgbClr val="003781"/>
          </a:solidFill>
          <a:ln/>
        </p:spPr>
      </p:sp>
      <p:sp>
        <p:nvSpPr>
          <p:cNvPr id="47" name="Text 4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 demo ocupa un tercio del tiempo a propósito: lo que hay que creerse no son las láminas, es el sistema corriendo.</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03</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01</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El problema</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El enunciado parece pedir un buscador sobre un PDF.</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Los cinco accidentes que adjunta piden otra cosa.</a:t>
            </a:r>
            <a:endParaRPr lang="en-US" sz="1500" dirty="0"/>
          </a:p>
        </p:txBody>
      </p:sp>
      <p:sp>
        <p:nvSpPr>
          <p:cNvPr id="10" name="Shape 7"/>
          <p:cNvSpPr/>
          <p:nvPr/>
        </p:nvSpPr>
        <p:spPr>
          <a:xfrm>
            <a:off x="566928" y="5431536"/>
            <a:ext cx="2065264" cy="566928"/>
          </a:xfrm>
          <a:prstGeom prst="roundRect">
            <a:avLst>
              <a:gd name="adj" fmla="val 14516"/>
            </a:avLst>
          </a:prstGeom>
          <a:solidFill>
            <a:srgbClr val="0A3E7A"/>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01 · EL PROBLEMA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enunciado pide un RAG sobre el manual; los cinco accidentes que adjunta piden criterio.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Los dos encargos son reales, pero sólo el primero se resuelve con recuperación. El segundo exige aplicar un Convenio con reglas propias.</a:t>
            </a:r>
            <a:endParaRPr lang="en-US" sz="1350" dirty="0"/>
          </a:p>
        </p:txBody>
      </p:sp>
      <p:sp>
        <p:nvSpPr>
          <p:cNvPr id="7" name="Shape 4"/>
          <p:cNvSpPr/>
          <p:nvPr/>
        </p:nvSpPr>
        <p:spPr>
          <a:xfrm>
            <a:off x="566928" y="2286000"/>
            <a:ext cx="5363870" cy="3346704"/>
          </a:xfrm>
          <a:prstGeom prst="roundRect">
            <a:avLst>
              <a:gd name="adj" fmla="val 273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77824" y="2560320"/>
            <a:ext cx="4742078" cy="237744"/>
          </a:xfrm>
          <a:prstGeom prst="rect">
            <a:avLst/>
          </a:prstGeom>
          <a:noFill/>
          <a:ln/>
        </p:spPr>
        <p:txBody>
          <a:bodyPr wrap="square" lIns="0" tIns="0" rIns="0" bIns="0" rtlCol="0" anchor="t"/>
          <a:lstStyle/>
          <a:p>
            <a:pPr indent="0" marL="0">
              <a:buNone/>
            </a:pPr>
            <a:r>
              <a:rPr lang="en-US" sz="1100" b="1" spc="120" kern="0" dirty="0">
                <a:solidFill>
                  <a:srgbClr val="0079C1"/>
                </a:solidFill>
                <a:latin typeface="Arial" pitchFamily="34" charset="0"/>
                <a:ea typeface="Arial" pitchFamily="34" charset="-122"/>
                <a:cs typeface="Arial" pitchFamily="34" charset="-120"/>
              </a:rPr>
              <a:t>LO QUE PIDE EL ENUNCIADO</a:t>
            </a:r>
            <a:endParaRPr lang="en-US" sz="1100" dirty="0"/>
          </a:p>
        </p:txBody>
      </p:sp>
      <p:sp>
        <p:nvSpPr>
          <p:cNvPr id="9" name="Shape 6"/>
          <p:cNvSpPr/>
          <p:nvPr/>
        </p:nvSpPr>
        <p:spPr>
          <a:xfrm>
            <a:off x="896112" y="3026664"/>
            <a:ext cx="109728" cy="109728"/>
          </a:xfrm>
          <a:prstGeom prst="ellipse">
            <a:avLst/>
          </a:prstGeom>
          <a:solidFill>
            <a:srgbClr val="0079C1"/>
          </a:solidFill>
          <a:ln/>
        </p:spPr>
      </p:sp>
      <p:sp>
        <p:nvSpPr>
          <p:cNvPr id="10" name="Text 7"/>
          <p:cNvSpPr txBox="1"/>
          <p:nvPr/>
        </p:nvSpPr>
        <p:spPr>
          <a:xfrm>
            <a:off x="1170432" y="2944368"/>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Un sistema RAG con un LLM</a:t>
            </a:r>
            <a:endParaRPr lang="en-US" sz="1300" dirty="0"/>
          </a:p>
        </p:txBody>
      </p:sp>
      <p:sp>
        <p:nvSpPr>
          <p:cNvPr id="11" name="Text 8"/>
          <p:cNvSpPr txBox="1"/>
          <p:nvPr/>
        </p:nvSpPr>
        <p:spPr>
          <a:xfrm>
            <a:off x="1170432" y="3182112"/>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sobre el manual de las comisiones CIDE, ASCIDE y CICOS.</a:t>
            </a:r>
            <a:endParaRPr lang="en-US" sz="1150" dirty="0"/>
          </a:p>
        </p:txBody>
      </p:sp>
      <p:sp>
        <p:nvSpPr>
          <p:cNvPr id="12" name="Shape 9"/>
          <p:cNvSpPr/>
          <p:nvPr/>
        </p:nvSpPr>
        <p:spPr>
          <a:xfrm>
            <a:off x="896112" y="3721608"/>
            <a:ext cx="109728" cy="109728"/>
          </a:xfrm>
          <a:prstGeom prst="ellipse">
            <a:avLst/>
          </a:prstGeom>
          <a:solidFill>
            <a:srgbClr val="0079C1"/>
          </a:solidFill>
          <a:ln/>
        </p:spPr>
      </p:sp>
      <p:sp>
        <p:nvSpPr>
          <p:cNvPr id="13" name="Text 10"/>
          <p:cNvSpPr txBox="1"/>
          <p:nvPr/>
        </p:nvSpPr>
        <p:spPr>
          <a:xfrm>
            <a:off x="1170432" y="3639312"/>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Responder preguntas del manual</a:t>
            </a:r>
            <a:endParaRPr lang="en-US" sz="1300" dirty="0"/>
          </a:p>
        </p:txBody>
      </p:sp>
      <p:sp>
        <p:nvSpPr>
          <p:cNvPr id="14" name="Text 11"/>
          <p:cNvSpPr txBox="1"/>
          <p:nvPr/>
        </p:nvSpPr>
        <p:spPr>
          <a:xfrm>
            <a:off x="1170432" y="3877056"/>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y analizar relatos de accidentes: partes implicadas, responsabilidad y circunstancias de la colisión.</a:t>
            </a:r>
            <a:endParaRPr lang="en-US" sz="1150" dirty="0"/>
          </a:p>
        </p:txBody>
      </p:sp>
      <p:sp>
        <p:nvSpPr>
          <p:cNvPr id="15" name="Shape 12"/>
          <p:cNvSpPr/>
          <p:nvPr/>
        </p:nvSpPr>
        <p:spPr>
          <a:xfrm>
            <a:off x="896112" y="4416552"/>
            <a:ext cx="109728" cy="109728"/>
          </a:xfrm>
          <a:prstGeom prst="ellipse">
            <a:avLst/>
          </a:prstGeom>
          <a:solidFill>
            <a:srgbClr val="0079C1"/>
          </a:solidFill>
          <a:ln/>
        </p:spPr>
      </p:sp>
      <p:sp>
        <p:nvSpPr>
          <p:cNvPr id="16" name="Text 13"/>
          <p:cNvSpPr txBox="1"/>
          <p:nvPr/>
        </p:nvSpPr>
        <p:spPr>
          <a:xfrm>
            <a:off x="1170432" y="4334256"/>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Una evaluación de la calidad</a:t>
            </a:r>
            <a:endParaRPr lang="en-US" sz="1300" dirty="0"/>
          </a:p>
        </p:txBody>
      </p:sp>
      <p:sp>
        <p:nvSpPr>
          <p:cNvPr id="17" name="Text 14"/>
          <p:cNvSpPr txBox="1"/>
          <p:nvPr/>
        </p:nvSpPr>
        <p:spPr>
          <a:xfrm>
            <a:off x="1170432" y="4572000"/>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de las respuestas, no una demostración anecdótica.</a:t>
            </a:r>
            <a:endParaRPr lang="en-US" sz="1150" dirty="0"/>
          </a:p>
        </p:txBody>
      </p:sp>
      <p:sp>
        <p:nvSpPr>
          <p:cNvPr id="18" name="Shape 15"/>
          <p:cNvSpPr/>
          <p:nvPr/>
        </p:nvSpPr>
        <p:spPr>
          <a:xfrm>
            <a:off x="896112" y="5111496"/>
            <a:ext cx="109728" cy="109728"/>
          </a:xfrm>
          <a:prstGeom prst="ellipse">
            <a:avLst/>
          </a:prstGeom>
          <a:solidFill>
            <a:srgbClr val="0079C1"/>
          </a:solidFill>
          <a:ln/>
        </p:spPr>
      </p:sp>
      <p:sp>
        <p:nvSpPr>
          <p:cNvPr id="19" name="Text 16"/>
          <p:cNvSpPr txBox="1"/>
          <p:nvPr/>
        </p:nvSpPr>
        <p:spPr>
          <a:xfrm>
            <a:off x="1170432" y="5029200"/>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Plan, arquitectura y código</a:t>
            </a:r>
            <a:endParaRPr lang="en-US" sz="1300" dirty="0"/>
          </a:p>
        </p:txBody>
      </p:sp>
      <p:sp>
        <p:nvSpPr>
          <p:cNvPr id="20" name="Text 17"/>
          <p:cNvSpPr txBox="1"/>
          <p:nvPr/>
        </p:nvSpPr>
        <p:spPr>
          <a:xfrm>
            <a:off x="1170432" y="5266944"/>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con hitos, supuestos, riesgos y el porqué de cada decisión técnica.</a:t>
            </a:r>
            <a:endParaRPr lang="en-US" sz="1150" dirty="0"/>
          </a:p>
        </p:txBody>
      </p:sp>
      <p:sp>
        <p:nvSpPr>
          <p:cNvPr id="21" name="Shape 18"/>
          <p:cNvSpPr/>
          <p:nvPr/>
        </p:nvSpPr>
        <p:spPr>
          <a:xfrm>
            <a:off x="6259982" y="2286000"/>
            <a:ext cx="5363870" cy="3346704"/>
          </a:xfrm>
          <a:prstGeom prst="roundRect">
            <a:avLst>
              <a:gd name="adj" fmla="val 2732"/>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6570878" y="2560320"/>
            <a:ext cx="4742078" cy="237744"/>
          </a:xfrm>
          <a:prstGeom prst="rect">
            <a:avLst/>
          </a:prstGeom>
          <a:noFill/>
          <a:ln/>
        </p:spPr>
        <p:txBody>
          <a:bodyPr wrap="square" lIns="0" tIns="0" rIns="0" bIns="0" rtlCol="0" anchor="t"/>
          <a:lstStyle/>
          <a:p>
            <a:pPr indent="0" marL="0">
              <a:buNone/>
            </a:pPr>
            <a:r>
              <a:rPr lang="en-US" sz="1100" b="1" spc="120" kern="0" dirty="0">
                <a:solidFill>
                  <a:srgbClr val="003781"/>
                </a:solidFill>
                <a:latin typeface="Arial" pitchFamily="34" charset="0"/>
                <a:ea typeface="Arial" pitchFamily="34" charset="-122"/>
                <a:cs typeface="Arial" pitchFamily="34" charset="-120"/>
              </a:rPr>
              <a:t>LOS CINCO ACCIDENTES DE MUESTRA</a:t>
            </a:r>
            <a:endParaRPr lang="en-US" sz="1100" dirty="0"/>
          </a:p>
        </p:txBody>
      </p:sp>
      <p:sp>
        <p:nvSpPr>
          <p:cNvPr id="23" name="Shape 20"/>
          <p:cNvSpPr/>
          <p:nvPr/>
        </p:nvSpPr>
        <p:spPr>
          <a:xfrm>
            <a:off x="6570878" y="2962656"/>
            <a:ext cx="310896" cy="310896"/>
          </a:xfrm>
          <a:prstGeom prst="ellipse">
            <a:avLst/>
          </a:prstGeom>
          <a:solidFill>
            <a:srgbClr val="003781"/>
          </a:solidFill>
          <a:ln/>
        </p:spPr>
      </p:sp>
      <p:sp>
        <p:nvSpPr>
          <p:cNvPr id="24" name="Text 21"/>
          <p:cNvSpPr txBox="1"/>
          <p:nvPr/>
        </p:nvSpPr>
        <p:spPr>
          <a:xfrm>
            <a:off x="6570878" y="299923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25" name="Text 22"/>
          <p:cNvSpPr txBox="1"/>
          <p:nvPr/>
        </p:nvSpPr>
        <p:spPr>
          <a:xfrm>
            <a:off x="7028078" y="299923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Alcance en semáforo; ambos conductores dicen ir atentos.</a:t>
            </a:r>
            <a:endParaRPr lang="en-US" sz="1250" dirty="0"/>
          </a:p>
        </p:txBody>
      </p:sp>
      <p:sp>
        <p:nvSpPr>
          <p:cNvPr id="26" name="Shape 23"/>
          <p:cNvSpPr/>
          <p:nvPr/>
        </p:nvSpPr>
        <p:spPr>
          <a:xfrm>
            <a:off x="6570878" y="3511296"/>
            <a:ext cx="310896" cy="310896"/>
          </a:xfrm>
          <a:prstGeom prst="ellipse">
            <a:avLst/>
          </a:prstGeom>
          <a:solidFill>
            <a:srgbClr val="003781"/>
          </a:solidFill>
          <a:ln/>
        </p:spPr>
      </p:sp>
      <p:sp>
        <p:nvSpPr>
          <p:cNvPr id="27" name="Text 24"/>
          <p:cNvSpPr txBox="1"/>
          <p:nvPr/>
        </p:nvSpPr>
        <p:spPr>
          <a:xfrm>
            <a:off x="6570878" y="354787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28" name="Text 25"/>
          <p:cNvSpPr txBox="1"/>
          <p:nvPr/>
        </p:nvSpPr>
        <p:spPr>
          <a:xfrm>
            <a:off x="7028078" y="354787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Colisión múltiple con lluvia, cinco vehículos y heridos.</a:t>
            </a:r>
            <a:endParaRPr lang="en-US" sz="1250" dirty="0"/>
          </a:p>
        </p:txBody>
      </p:sp>
      <p:sp>
        <p:nvSpPr>
          <p:cNvPr id="29" name="Shape 26"/>
          <p:cNvSpPr/>
          <p:nvPr/>
        </p:nvSpPr>
        <p:spPr>
          <a:xfrm>
            <a:off x="6570878" y="4059936"/>
            <a:ext cx="310896" cy="310896"/>
          </a:xfrm>
          <a:prstGeom prst="ellipse">
            <a:avLst/>
          </a:prstGeom>
          <a:solidFill>
            <a:srgbClr val="003781"/>
          </a:solidFill>
          <a:ln/>
        </p:spPr>
      </p:sp>
      <p:sp>
        <p:nvSpPr>
          <p:cNvPr id="30" name="Text 27"/>
          <p:cNvSpPr txBox="1"/>
          <p:nvPr/>
        </p:nvSpPr>
        <p:spPr>
          <a:xfrm>
            <a:off x="6570878" y="409651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31" name="Text 28"/>
          <p:cNvSpPr txBox="1"/>
          <p:nvPr/>
        </p:nvSpPr>
        <p:spPr>
          <a:xfrm>
            <a:off x="7028078" y="409651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Vehículo aparcado, daños y fuga sin identificar al causante.</a:t>
            </a:r>
            <a:endParaRPr lang="en-US" sz="1250" dirty="0"/>
          </a:p>
        </p:txBody>
      </p:sp>
      <p:sp>
        <p:nvSpPr>
          <p:cNvPr id="32" name="Shape 29"/>
          <p:cNvSpPr/>
          <p:nvPr/>
        </p:nvSpPr>
        <p:spPr>
          <a:xfrm>
            <a:off x="6570878" y="4608576"/>
            <a:ext cx="310896" cy="310896"/>
          </a:xfrm>
          <a:prstGeom prst="ellipse">
            <a:avLst/>
          </a:prstGeom>
          <a:solidFill>
            <a:srgbClr val="003781"/>
          </a:solidFill>
          <a:ln/>
        </p:spPr>
      </p:sp>
      <p:sp>
        <p:nvSpPr>
          <p:cNvPr id="33" name="Text 30"/>
          <p:cNvSpPr txBox="1"/>
          <p:nvPr/>
        </p:nvSpPr>
        <p:spPr>
          <a:xfrm>
            <a:off x="6570878" y="464515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34" name="Text 31"/>
          <p:cNvSpPr txBox="1"/>
          <p:nvPr/>
        </p:nvSpPr>
        <p:spPr>
          <a:xfrm>
            <a:off x="7028078" y="464515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Cambio de carril con roce lateral y versiones opuestas.</a:t>
            </a:r>
            <a:endParaRPr lang="en-US" sz="1250" dirty="0"/>
          </a:p>
        </p:txBody>
      </p:sp>
      <p:sp>
        <p:nvSpPr>
          <p:cNvPr id="35" name="Shape 32"/>
          <p:cNvSpPr/>
          <p:nvPr/>
        </p:nvSpPr>
        <p:spPr>
          <a:xfrm>
            <a:off x="6570878" y="5157216"/>
            <a:ext cx="310896" cy="310896"/>
          </a:xfrm>
          <a:prstGeom prst="ellipse">
            <a:avLst/>
          </a:prstGeom>
          <a:solidFill>
            <a:srgbClr val="003781"/>
          </a:solidFill>
          <a:ln/>
        </p:spPr>
      </p:sp>
      <p:sp>
        <p:nvSpPr>
          <p:cNvPr id="36" name="Text 33"/>
          <p:cNvSpPr txBox="1"/>
          <p:nvPr/>
        </p:nvSpPr>
        <p:spPr>
          <a:xfrm>
            <a:off x="6570878" y="519379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7" name="Text 34"/>
          <p:cNvSpPr txBox="1"/>
          <p:nvPr/>
        </p:nvSpPr>
        <p:spPr>
          <a:xfrm>
            <a:off x="7028078" y="519379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Conductor bajo los efectos del alcohol y lesiones graves.</a:t>
            </a:r>
            <a:endParaRPr lang="en-US" sz="125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Ninguno de los cinco se responde con una búsqueda semántica. Los cinco exigen decidir si el Convenio aplica, y sólo entonces quién responde.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01 · EL PROBLEMA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En cuatro de los cinco casos, la respuesta correcta del manual es no concluir.</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Resueltos a mano contra el manual y verificados después contra el sistema en ejecución.</a:t>
            </a:r>
            <a:endParaRPr lang="en-US" sz="1350" dirty="0"/>
          </a:p>
        </p:txBody>
      </p:sp>
      <p:sp>
        <p:nvSpPr>
          <p:cNvPr id="7" name="Text 4"/>
          <p:cNvSpPr txBox="1"/>
          <p:nvPr/>
        </p:nvSpPr>
        <p:spPr>
          <a:xfrm>
            <a:off x="1024128" y="2157984"/>
            <a:ext cx="260604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CASO DEL ENUNCIADO</a:t>
            </a:r>
            <a:endParaRPr lang="en-US" sz="950" dirty="0"/>
          </a:p>
        </p:txBody>
      </p:sp>
      <p:sp>
        <p:nvSpPr>
          <p:cNvPr id="8" name="Text 5"/>
          <p:cNvSpPr txBox="1"/>
          <p:nvPr/>
        </p:nvSpPr>
        <p:spPr>
          <a:xfrm>
            <a:off x="3767328" y="2157984"/>
            <a:ext cx="27432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VEREDICTO DEL SISTEMA</a:t>
            </a:r>
            <a:endParaRPr lang="en-US" sz="950" dirty="0"/>
          </a:p>
        </p:txBody>
      </p:sp>
      <p:sp>
        <p:nvSpPr>
          <p:cNvPr id="9" name="Text 6"/>
          <p:cNvSpPr txBox="1"/>
          <p:nvPr/>
        </p:nvSpPr>
        <p:spPr>
          <a:xfrm>
            <a:off x="6675120" y="2157984"/>
            <a:ext cx="4858207"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FUNDAMENTO EN EL MANUAL</a:t>
            </a:r>
            <a:endParaRPr lang="en-US" sz="950" dirty="0"/>
          </a:p>
        </p:txBody>
      </p:sp>
      <p:sp>
        <p:nvSpPr>
          <p:cNvPr id="10" name="Shape 7"/>
          <p:cNvSpPr/>
          <p:nvPr/>
        </p:nvSpPr>
        <p:spPr>
          <a:xfrm>
            <a:off x="566928" y="2450592"/>
            <a:ext cx="11057839" cy="612648"/>
          </a:xfrm>
          <a:prstGeom prst="roundRect">
            <a:avLst>
              <a:gd name="adj" fmla="val 13433"/>
            </a:avLst>
          </a:prstGeom>
          <a:solidFill>
            <a:srgbClr val="F1F6FC"/>
          </a:solidFill>
          <a:ln/>
        </p:spPr>
      </p:sp>
      <p:sp>
        <p:nvSpPr>
          <p:cNvPr id="11" name="Shape 8"/>
          <p:cNvSpPr/>
          <p:nvPr/>
        </p:nvSpPr>
        <p:spPr>
          <a:xfrm>
            <a:off x="658368" y="2606040"/>
            <a:ext cx="292608" cy="292608"/>
          </a:xfrm>
          <a:prstGeom prst="ellipse">
            <a:avLst/>
          </a:prstGeom>
          <a:solidFill>
            <a:srgbClr val="003781"/>
          </a:solidFill>
          <a:ln/>
        </p:spPr>
      </p:sp>
      <p:sp>
        <p:nvSpPr>
          <p:cNvPr id="12" name="Text 9"/>
          <p:cNvSpPr txBox="1"/>
          <p:nvPr/>
        </p:nvSpPr>
        <p:spPr>
          <a:xfrm>
            <a:off x="658368" y="2633472"/>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1</a:t>
            </a:r>
            <a:endParaRPr lang="en-US" sz="1050" dirty="0"/>
          </a:p>
        </p:txBody>
      </p:sp>
      <p:sp>
        <p:nvSpPr>
          <p:cNvPr id="13" name="Text 10"/>
          <p:cNvSpPr txBox="1"/>
          <p:nvPr/>
        </p:nvSpPr>
        <p:spPr>
          <a:xfrm>
            <a:off x="1024128" y="2633472"/>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Alcance en semáforo</a:t>
            </a:r>
            <a:endParaRPr lang="en-US" sz="1300" dirty="0"/>
          </a:p>
        </p:txBody>
      </p:sp>
      <p:sp>
        <p:nvSpPr>
          <p:cNvPr id="14" name="Shape 11"/>
          <p:cNvSpPr/>
          <p:nvPr/>
        </p:nvSpPr>
        <p:spPr>
          <a:xfrm>
            <a:off x="3767328" y="2596896"/>
            <a:ext cx="2743200" cy="310896"/>
          </a:xfrm>
          <a:prstGeom prst="roundRect">
            <a:avLst>
              <a:gd name="adj" fmla="val 50000"/>
            </a:avLst>
          </a:prstGeom>
          <a:solidFill>
            <a:srgbClr val="FBF1DF"/>
          </a:solidFill>
          <a:ln/>
        </p:spPr>
      </p:sp>
      <p:sp>
        <p:nvSpPr>
          <p:cNvPr id="15" name="Text 12"/>
          <p:cNvSpPr txBox="1"/>
          <p:nvPr/>
        </p:nvSpPr>
        <p:spPr>
          <a:xfrm>
            <a:off x="3767328" y="2651760"/>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Aplicable · culpa indeterminada</a:t>
            </a:r>
            <a:endParaRPr lang="en-US" sz="1100" dirty="0"/>
          </a:p>
        </p:txBody>
      </p:sp>
      <p:sp>
        <p:nvSpPr>
          <p:cNvPr id="16" name="Text 13"/>
          <p:cNvSpPr txBox="1"/>
          <p:nvPr/>
        </p:nvSpPr>
        <p:spPr>
          <a:xfrm>
            <a:off x="6675120" y="2551176"/>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Faltan las casillas del apartado 12 de la D.A.A. que activan la tabla de culpabilidad · pág. 101</a:t>
            </a:r>
            <a:endParaRPr lang="en-US" sz="1150" dirty="0"/>
          </a:p>
        </p:txBody>
      </p:sp>
      <p:sp>
        <p:nvSpPr>
          <p:cNvPr id="17" name="Shape 14"/>
          <p:cNvSpPr/>
          <p:nvPr/>
        </p:nvSpPr>
        <p:spPr>
          <a:xfrm>
            <a:off x="658368" y="3273552"/>
            <a:ext cx="292608" cy="292608"/>
          </a:xfrm>
          <a:prstGeom prst="ellipse">
            <a:avLst/>
          </a:prstGeom>
          <a:solidFill>
            <a:srgbClr val="003781"/>
          </a:solidFill>
          <a:ln/>
        </p:spPr>
      </p:sp>
      <p:sp>
        <p:nvSpPr>
          <p:cNvPr id="18" name="Text 15"/>
          <p:cNvSpPr txBox="1"/>
          <p:nvPr/>
        </p:nvSpPr>
        <p:spPr>
          <a:xfrm>
            <a:off x="658368" y="3300984"/>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2</a:t>
            </a:r>
            <a:endParaRPr lang="en-US" sz="1050" dirty="0"/>
          </a:p>
        </p:txBody>
      </p:sp>
      <p:sp>
        <p:nvSpPr>
          <p:cNvPr id="19" name="Text 16"/>
          <p:cNvSpPr txBox="1"/>
          <p:nvPr/>
        </p:nvSpPr>
        <p:spPr>
          <a:xfrm>
            <a:off x="1024128" y="3300984"/>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Colisión múltiple (5 vehículos)</a:t>
            </a:r>
            <a:endParaRPr lang="en-US" sz="1300" dirty="0"/>
          </a:p>
        </p:txBody>
      </p:sp>
      <p:sp>
        <p:nvSpPr>
          <p:cNvPr id="20" name="Shape 17"/>
          <p:cNvSpPr/>
          <p:nvPr/>
        </p:nvSpPr>
        <p:spPr>
          <a:xfrm>
            <a:off x="3767328" y="3264408"/>
            <a:ext cx="2743200" cy="310896"/>
          </a:xfrm>
          <a:prstGeom prst="roundRect">
            <a:avLst>
              <a:gd name="adj" fmla="val 50000"/>
            </a:avLst>
          </a:prstGeom>
          <a:solidFill>
            <a:srgbClr val="FAEDEC"/>
          </a:solidFill>
          <a:ln/>
        </p:spPr>
      </p:sp>
      <p:sp>
        <p:nvSpPr>
          <p:cNvPr id="21" name="Text 18"/>
          <p:cNvSpPr txBox="1"/>
          <p:nvPr/>
        </p:nvSpPr>
        <p:spPr>
          <a:xfrm>
            <a:off x="3767328" y="3319272"/>
            <a:ext cx="2743200" cy="219456"/>
          </a:xfrm>
          <a:prstGeom prst="rect">
            <a:avLst/>
          </a:prstGeom>
          <a:noFill/>
          <a:ln/>
        </p:spPr>
        <p:txBody>
          <a:bodyPr wrap="square" lIns="0" tIns="0" rIns="0" bIns="0" rtlCol="0" anchor="t"/>
          <a:lstStyle/>
          <a:p>
            <a:pPr algn="ctr" indent="0" marL="0">
              <a:buNone/>
            </a:pPr>
            <a:r>
              <a:rPr lang="en-US" sz="1100" b="1" dirty="0">
                <a:solidFill>
                  <a:srgbClr val="A63F38"/>
                </a:solidFill>
                <a:latin typeface="Calibri" pitchFamily="34" charset="0"/>
                <a:ea typeface="Calibri" pitchFamily="34" charset="-122"/>
                <a:cs typeface="Calibri" pitchFamily="34" charset="-120"/>
              </a:rPr>
              <a:t>Fuera del Convenio</a:t>
            </a:r>
            <a:endParaRPr lang="en-US" sz="1100" dirty="0"/>
          </a:p>
        </p:txBody>
      </p:sp>
      <p:sp>
        <p:nvSpPr>
          <p:cNvPr id="22" name="Text 19"/>
          <p:cNvSpPr txBox="1"/>
          <p:nvPr/>
        </p:nvSpPr>
        <p:spPr>
          <a:xfrm>
            <a:off x="6675120" y="3218688"/>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Exige dos vehículos en colisión directa · pág. 56 — y excluye la colisión en cadena · pág. 57</a:t>
            </a:r>
            <a:endParaRPr lang="en-US" sz="1150" dirty="0"/>
          </a:p>
        </p:txBody>
      </p:sp>
      <p:sp>
        <p:nvSpPr>
          <p:cNvPr id="23" name="Shape 20"/>
          <p:cNvSpPr/>
          <p:nvPr/>
        </p:nvSpPr>
        <p:spPr>
          <a:xfrm>
            <a:off x="566928" y="3785616"/>
            <a:ext cx="11057839" cy="612648"/>
          </a:xfrm>
          <a:prstGeom prst="roundRect">
            <a:avLst>
              <a:gd name="adj" fmla="val 13433"/>
            </a:avLst>
          </a:prstGeom>
          <a:solidFill>
            <a:srgbClr val="F1F6FC"/>
          </a:solidFill>
          <a:ln/>
        </p:spPr>
      </p:sp>
      <p:sp>
        <p:nvSpPr>
          <p:cNvPr id="24" name="Shape 21"/>
          <p:cNvSpPr/>
          <p:nvPr/>
        </p:nvSpPr>
        <p:spPr>
          <a:xfrm>
            <a:off x="658368" y="3941064"/>
            <a:ext cx="292608" cy="292608"/>
          </a:xfrm>
          <a:prstGeom prst="ellipse">
            <a:avLst/>
          </a:prstGeom>
          <a:solidFill>
            <a:srgbClr val="003781"/>
          </a:solidFill>
          <a:ln/>
        </p:spPr>
      </p:sp>
      <p:sp>
        <p:nvSpPr>
          <p:cNvPr id="25" name="Text 22"/>
          <p:cNvSpPr txBox="1"/>
          <p:nvPr/>
        </p:nvSpPr>
        <p:spPr>
          <a:xfrm>
            <a:off x="658368" y="3968496"/>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3</a:t>
            </a:r>
            <a:endParaRPr lang="en-US" sz="1050" dirty="0"/>
          </a:p>
        </p:txBody>
      </p:sp>
      <p:sp>
        <p:nvSpPr>
          <p:cNvPr id="26" name="Text 23"/>
          <p:cNvSpPr txBox="1"/>
          <p:nvPr/>
        </p:nvSpPr>
        <p:spPr>
          <a:xfrm>
            <a:off x="1024128" y="3968496"/>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Aparcado con daños y fuga</a:t>
            </a:r>
            <a:endParaRPr lang="en-US" sz="1300" dirty="0"/>
          </a:p>
        </p:txBody>
      </p:sp>
      <p:sp>
        <p:nvSpPr>
          <p:cNvPr id="27" name="Shape 24"/>
          <p:cNvSpPr/>
          <p:nvPr/>
        </p:nvSpPr>
        <p:spPr>
          <a:xfrm>
            <a:off x="3767328" y="3931920"/>
            <a:ext cx="2743200" cy="310896"/>
          </a:xfrm>
          <a:prstGeom prst="roundRect">
            <a:avLst>
              <a:gd name="adj" fmla="val 50000"/>
            </a:avLst>
          </a:prstGeom>
          <a:solidFill>
            <a:srgbClr val="FBF1DF"/>
          </a:solidFill>
          <a:ln/>
        </p:spPr>
      </p:sp>
      <p:sp>
        <p:nvSpPr>
          <p:cNvPr id="28" name="Text 25"/>
          <p:cNvSpPr txBox="1"/>
          <p:nvPr/>
        </p:nvSpPr>
        <p:spPr>
          <a:xfrm>
            <a:off x="3767328" y="3986784"/>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Indeterminado · condicionado</a:t>
            </a:r>
            <a:endParaRPr lang="en-US" sz="1100" dirty="0"/>
          </a:p>
        </p:txBody>
      </p:sp>
      <p:sp>
        <p:nvSpPr>
          <p:cNvPr id="29" name="Text 26"/>
          <p:cNvSpPr txBox="1"/>
          <p:nvPr/>
        </p:nvSpPr>
        <p:spPr>
          <a:xfrm>
            <a:off x="6675120" y="3886200"/>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Sin identificar al causante no hay segunda parte: la norma del vehículo aparcado exige conocerla · pág. 73</a:t>
            </a:r>
            <a:endParaRPr lang="en-US" sz="1150" dirty="0"/>
          </a:p>
        </p:txBody>
      </p:sp>
      <p:sp>
        <p:nvSpPr>
          <p:cNvPr id="30" name="Shape 27"/>
          <p:cNvSpPr/>
          <p:nvPr/>
        </p:nvSpPr>
        <p:spPr>
          <a:xfrm>
            <a:off x="658368" y="4608576"/>
            <a:ext cx="292608" cy="292608"/>
          </a:xfrm>
          <a:prstGeom prst="ellipse">
            <a:avLst/>
          </a:prstGeom>
          <a:solidFill>
            <a:srgbClr val="003781"/>
          </a:solidFill>
          <a:ln/>
        </p:spPr>
      </p:sp>
      <p:sp>
        <p:nvSpPr>
          <p:cNvPr id="31" name="Text 28"/>
          <p:cNvSpPr txBox="1"/>
          <p:nvPr/>
        </p:nvSpPr>
        <p:spPr>
          <a:xfrm>
            <a:off x="658368" y="4636008"/>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4</a:t>
            </a:r>
            <a:endParaRPr lang="en-US" sz="1050" dirty="0"/>
          </a:p>
        </p:txBody>
      </p:sp>
      <p:sp>
        <p:nvSpPr>
          <p:cNvPr id="32" name="Text 29"/>
          <p:cNvSpPr txBox="1"/>
          <p:nvPr/>
        </p:nvSpPr>
        <p:spPr>
          <a:xfrm>
            <a:off x="1024128" y="4636008"/>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Cambio de carril</a:t>
            </a:r>
            <a:endParaRPr lang="en-US" sz="1300" dirty="0"/>
          </a:p>
        </p:txBody>
      </p:sp>
      <p:sp>
        <p:nvSpPr>
          <p:cNvPr id="33" name="Shape 30"/>
          <p:cNvSpPr/>
          <p:nvPr/>
        </p:nvSpPr>
        <p:spPr>
          <a:xfrm>
            <a:off x="3767328" y="4599432"/>
            <a:ext cx="2743200" cy="310896"/>
          </a:xfrm>
          <a:prstGeom prst="roundRect">
            <a:avLst>
              <a:gd name="adj" fmla="val 50000"/>
            </a:avLst>
          </a:prstGeom>
          <a:solidFill>
            <a:srgbClr val="E2F3F2"/>
          </a:solidFill>
          <a:ln/>
        </p:spPr>
      </p:sp>
      <p:sp>
        <p:nvSpPr>
          <p:cNvPr id="34" name="Text 31"/>
          <p:cNvSpPr txBox="1"/>
          <p:nvPr/>
        </p:nvSpPr>
        <p:spPr>
          <a:xfrm>
            <a:off x="3767328" y="4654296"/>
            <a:ext cx="2743200" cy="219456"/>
          </a:xfrm>
          <a:prstGeom prst="rect">
            <a:avLst/>
          </a:prstGeom>
          <a:noFill/>
          <a:ln/>
        </p:spPr>
        <p:txBody>
          <a:bodyPr wrap="square" lIns="0" tIns="0" rIns="0" bIns="0" rtlCol="0" anchor="t"/>
          <a:lstStyle/>
          <a:p>
            <a:pPr algn="ctr" indent="0" marL="0">
              <a:buNone/>
            </a:pPr>
            <a:r>
              <a:rPr lang="en-US" sz="1100" b="1" dirty="0">
                <a:solidFill>
                  <a:srgbClr val="00807E"/>
                </a:solidFill>
                <a:latin typeface="Calibri" pitchFamily="34" charset="0"/>
                <a:ea typeface="Calibri" pitchFamily="34" charset="-122"/>
                <a:cs typeface="Calibri" pitchFamily="34" charset="-120"/>
              </a:rPr>
              <a:t>Resuelto · ASCIDE b.10 · culpable A</a:t>
            </a:r>
            <a:endParaRPr lang="en-US" sz="1100" dirty="0"/>
          </a:p>
        </p:txBody>
      </p:sp>
      <p:sp>
        <p:nvSpPr>
          <p:cNvPr id="35" name="Text 32"/>
          <p:cNvSpPr txBox="1"/>
          <p:nvPr/>
        </p:nvSpPr>
        <p:spPr>
          <a:xfrm>
            <a:off x="6675120" y="4553712"/>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Norma subsidiaria: si ambos reconocen el cambio de carril, responde quien lo efectúa · págs. 75 y 111</a:t>
            </a:r>
            <a:endParaRPr lang="en-US" sz="1150" dirty="0"/>
          </a:p>
        </p:txBody>
      </p:sp>
      <p:sp>
        <p:nvSpPr>
          <p:cNvPr id="36" name="Shape 33"/>
          <p:cNvSpPr/>
          <p:nvPr/>
        </p:nvSpPr>
        <p:spPr>
          <a:xfrm>
            <a:off x="566928" y="5120640"/>
            <a:ext cx="11057839" cy="612648"/>
          </a:xfrm>
          <a:prstGeom prst="roundRect">
            <a:avLst>
              <a:gd name="adj" fmla="val 13433"/>
            </a:avLst>
          </a:prstGeom>
          <a:solidFill>
            <a:srgbClr val="F1F6FC"/>
          </a:solidFill>
          <a:ln/>
        </p:spPr>
      </p:sp>
      <p:sp>
        <p:nvSpPr>
          <p:cNvPr id="37" name="Shape 34"/>
          <p:cNvSpPr/>
          <p:nvPr/>
        </p:nvSpPr>
        <p:spPr>
          <a:xfrm>
            <a:off x="658368" y="5276088"/>
            <a:ext cx="292608" cy="292608"/>
          </a:xfrm>
          <a:prstGeom prst="ellipse">
            <a:avLst/>
          </a:prstGeom>
          <a:solidFill>
            <a:srgbClr val="003781"/>
          </a:solidFill>
          <a:ln/>
        </p:spPr>
      </p:sp>
      <p:sp>
        <p:nvSpPr>
          <p:cNvPr id="38" name="Text 35"/>
          <p:cNvSpPr txBox="1"/>
          <p:nvPr/>
        </p:nvSpPr>
        <p:spPr>
          <a:xfrm>
            <a:off x="658368" y="5303520"/>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5</a:t>
            </a:r>
            <a:endParaRPr lang="en-US" sz="1050" dirty="0"/>
          </a:p>
        </p:txBody>
      </p:sp>
      <p:sp>
        <p:nvSpPr>
          <p:cNvPr id="39" name="Text 36"/>
          <p:cNvSpPr txBox="1"/>
          <p:nvPr/>
        </p:nvSpPr>
        <p:spPr>
          <a:xfrm>
            <a:off x="1024128" y="5303520"/>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Alcohol y lesiones graves</a:t>
            </a:r>
            <a:endParaRPr lang="en-US" sz="1300" dirty="0"/>
          </a:p>
        </p:txBody>
      </p:sp>
      <p:sp>
        <p:nvSpPr>
          <p:cNvPr id="40" name="Shape 37"/>
          <p:cNvSpPr/>
          <p:nvPr/>
        </p:nvSpPr>
        <p:spPr>
          <a:xfrm>
            <a:off x="3767328" y="5266944"/>
            <a:ext cx="2743200" cy="310896"/>
          </a:xfrm>
          <a:prstGeom prst="roundRect">
            <a:avLst>
              <a:gd name="adj" fmla="val 50000"/>
            </a:avLst>
          </a:prstGeom>
          <a:solidFill>
            <a:srgbClr val="FBF1DF"/>
          </a:solidFill>
          <a:ln/>
        </p:spPr>
      </p:sp>
      <p:sp>
        <p:nvSpPr>
          <p:cNvPr id="41" name="Text 38"/>
          <p:cNvSpPr txBox="1"/>
          <p:nvPr/>
        </p:nvSpPr>
        <p:spPr>
          <a:xfrm>
            <a:off x="3767328" y="5321808"/>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Aplicable · culpa indeterminada</a:t>
            </a:r>
            <a:endParaRPr lang="en-US" sz="1100" dirty="0"/>
          </a:p>
        </p:txBody>
      </p:sp>
      <p:sp>
        <p:nvSpPr>
          <p:cNvPr id="42" name="Text 39"/>
          <p:cNvSpPr txBox="1"/>
          <p:nvPr/>
        </p:nvSpPr>
        <p:spPr>
          <a:xfrm>
            <a:off x="6675120" y="5221224"/>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El alcohol no excluye el Convenio · pág. 9 — pero lesiones y vía penal quedan fuera de su alcance · págs. 27 y 62</a:t>
            </a:r>
            <a:endParaRPr lang="en-US" sz="1150" dirty="0"/>
          </a:p>
        </p:txBody>
      </p:sp>
      <p:sp>
        <p:nvSpPr>
          <p:cNvPr id="43" name="Shape 40"/>
          <p:cNvSpPr/>
          <p:nvPr/>
        </p:nvSpPr>
        <p:spPr>
          <a:xfrm>
            <a:off x="566928" y="5852160"/>
            <a:ext cx="11057839" cy="493776"/>
          </a:xfrm>
          <a:prstGeom prst="roundRect">
            <a:avLst>
              <a:gd name="adj" fmla="val 16667"/>
            </a:avLst>
          </a:prstGeom>
          <a:solidFill>
            <a:srgbClr val="003781"/>
          </a:solidFill>
          <a:ln/>
        </p:spPr>
      </p:sp>
      <p:sp>
        <p:nvSpPr>
          <p:cNvPr id="44" name="Text 4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Un asistente que resolviera los cinco estaría inventando cuatro. Esto no es una limitación del sistema: es lo que el manual sostiene, y el sistema llega ahí solo y con la cita delante.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01 · EL PROBLEMA</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06</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Todo el sistema descansa sobre una sola regla:</a:t>
            </a:r>
            <a:endParaRPr lang="en-US" sz="3000" dirty="0"/>
          </a:p>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nada se afirma sin poder demostrarlo.</a:t>
            </a:r>
            <a:endParaRPr lang="en-US" sz="3000" dirty="0"/>
          </a:p>
        </p:txBody>
      </p:sp>
      <p:sp>
        <p:nvSpPr>
          <p:cNvPr id="7" name="Text 4"/>
          <p:cNvSpPr txBox="1"/>
          <p:nvPr/>
        </p:nvSpPr>
        <p:spPr>
          <a:xfrm>
            <a:off x="566928" y="1883664"/>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De ahí salen las tres garantías que atraviesan la arquitectura entera, y también las que la hacen más incómoda de construir.</a:t>
            </a:r>
            <a:endParaRPr lang="en-US" sz="1350" dirty="0"/>
          </a:p>
        </p:txBody>
      </p:sp>
      <p:sp>
        <p:nvSpPr>
          <p:cNvPr id="8" name="Shape 5"/>
          <p:cNvSpPr/>
          <p:nvPr/>
        </p:nvSpPr>
        <p:spPr>
          <a:xfrm>
            <a:off x="566928" y="2670048"/>
            <a:ext cx="3503066" cy="2651760"/>
          </a:xfrm>
          <a:prstGeom prst="roundRect">
            <a:avLst>
              <a:gd name="adj" fmla="val 3448"/>
            </a:avLst>
          </a:prstGeom>
          <a:solidFill>
            <a:srgbClr val="0A3E7A"/>
          </a:solidFill>
          <a:ln w="12700">
            <a:solidFill>
              <a:srgbClr val="2D639F"/>
            </a:solidFill>
            <a:prstDash val="solid"/>
          </a:ln>
        </p:spPr>
      </p:sp>
      <p:sp>
        <p:nvSpPr>
          <p:cNvPr id="9" name="Shape 6"/>
          <p:cNvSpPr/>
          <p:nvPr/>
        </p:nvSpPr>
        <p:spPr>
          <a:xfrm>
            <a:off x="896112" y="2999232"/>
            <a:ext cx="402336" cy="402336"/>
          </a:xfrm>
          <a:prstGeom prst="ellipse">
            <a:avLst/>
          </a:prstGeom>
          <a:solidFill>
            <a:srgbClr val="5AB6E8"/>
          </a:solidFill>
          <a:ln/>
        </p:spPr>
      </p:sp>
      <p:sp>
        <p:nvSpPr>
          <p:cNvPr id="10" name="Text 7"/>
          <p:cNvSpPr txBox="1"/>
          <p:nvPr/>
        </p:nvSpPr>
        <p:spPr>
          <a:xfrm>
            <a:off x="896112"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896112"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EVIDENCIA</a:t>
            </a:r>
            <a:endParaRPr lang="en-US" sz="1800" dirty="0"/>
          </a:p>
        </p:txBody>
      </p:sp>
      <p:sp>
        <p:nvSpPr>
          <p:cNvPr id="12" name="Text 9"/>
          <p:cNvSpPr txBox="1"/>
          <p:nvPr/>
        </p:nvSpPr>
        <p:spPr>
          <a:xfrm>
            <a:off x="896112"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Cada afirmación arrastra su cita: documento, hash, página física del PDF y versión de extracción. Al pulsarla se abre el manual original por esa página.</a:t>
            </a:r>
            <a:endParaRPr lang="en-US" sz="1250" dirty="0"/>
          </a:p>
        </p:txBody>
      </p:sp>
      <p:sp>
        <p:nvSpPr>
          <p:cNvPr id="13" name="Shape 10"/>
          <p:cNvSpPr/>
          <p:nvPr/>
        </p:nvSpPr>
        <p:spPr>
          <a:xfrm>
            <a:off x="4344314" y="2670048"/>
            <a:ext cx="3503066" cy="2651760"/>
          </a:xfrm>
          <a:prstGeom prst="roundRect">
            <a:avLst>
              <a:gd name="adj" fmla="val 3448"/>
            </a:avLst>
          </a:prstGeom>
          <a:solidFill>
            <a:srgbClr val="0A3E7A"/>
          </a:solidFill>
          <a:ln w="12700">
            <a:solidFill>
              <a:srgbClr val="2D639F"/>
            </a:solidFill>
            <a:prstDash val="solid"/>
          </a:ln>
        </p:spPr>
      </p:sp>
      <p:sp>
        <p:nvSpPr>
          <p:cNvPr id="14" name="Shape 11"/>
          <p:cNvSpPr/>
          <p:nvPr/>
        </p:nvSpPr>
        <p:spPr>
          <a:xfrm>
            <a:off x="4673498" y="2999232"/>
            <a:ext cx="402336" cy="402336"/>
          </a:xfrm>
          <a:prstGeom prst="ellipse">
            <a:avLst/>
          </a:prstGeom>
          <a:solidFill>
            <a:srgbClr val="5AB6E8"/>
          </a:solidFill>
          <a:ln/>
        </p:spPr>
      </p:sp>
      <p:sp>
        <p:nvSpPr>
          <p:cNvPr id="15" name="Text 12"/>
          <p:cNvSpPr txBox="1"/>
          <p:nvPr/>
        </p:nvSpPr>
        <p:spPr>
          <a:xfrm>
            <a:off x="4673498"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4673498"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DECISIÓN</a:t>
            </a:r>
            <a:endParaRPr lang="en-US" sz="1800" dirty="0"/>
          </a:p>
        </p:txBody>
      </p:sp>
      <p:sp>
        <p:nvSpPr>
          <p:cNvPr id="17" name="Text 14"/>
          <p:cNvSpPr txBox="1"/>
          <p:nvPr/>
        </p:nvSpPr>
        <p:spPr>
          <a:xfrm>
            <a:off x="4673498"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El LLM interpreta el relato y rellena un vocabulario cerrado de hechos. Quien decide es un motor determinista sobre reglas firmadas. Nunca al revés.</a:t>
            </a:r>
            <a:endParaRPr lang="en-US" sz="1250" dirty="0"/>
          </a:p>
        </p:txBody>
      </p:sp>
      <p:sp>
        <p:nvSpPr>
          <p:cNvPr id="18" name="Shape 15"/>
          <p:cNvSpPr/>
          <p:nvPr/>
        </p:nvSpPr>
        <p:spPr>
          <a:xfrm>
            <a:off x="8121701" y="2670048"/>
            <a:ext cx="3503066" cy="2651760"/>
          </a:xfrm>
          <a:prstGeom prst="roundRect">
            <a:avLst>
              <a:gd name="adj" fmla="val 3448"/>
            </a:avLst>
          </a:prstGeom>
          <a:solidFill>
            <a:srgbClr val="0A3E7A"/>
          </a:solidFill>
          <a:ln w="12700">
            <a:solidFill>
              <a:srgbClr val="2D639F"/>
            </a:solidFill>
            <a:prstDash val="solid"/>
          </a:ln>
        </p:spPr>
      </p:sp>
      <p:sp>
        <p:nvSpPr>
          <p:cNvPr id="19" name="Shape 16"/>
          <p:cNvSpPr/>
          <p:nvPr/>
        </p:nvSpPr>
        <p:spPr>
          <a:xfrm>
            <a:off x="8450885" y="2999232"/>
            <a:ext cx="402336" cy="402336"/>
          </a:xfrm>
          <a:prstGeom prst="ellipse">
            <a:avLst/>
          </a:prstGeom>
          <a:solidFill>
            <a:srgbClr val="5AB6E8"/>
          </a:solidFill>
          <a:ln/>
        </p:spPr>
      </p:sp>
      <p:sp>
        <p:nvSpPr>
          <p:cNvPr id="20" name="Text 17"/>
          <p:cNvSpPr txBox="1"/>
          <p:nvPr/>
        </p:nvSpPr>
        <p:spPr>
          <a:xfrm>
            <a:off x="8450885"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450885"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ABSTENCIÓN</a:t>
            </a:r>
            <a:endParaRPr lang="en-US" sz="1800" dirty="0"/>
          </a:p>
        </p:txBody>
      </p:sp>
      <p:sp>
        <p:nvSpPr>
          <p:cNvPr id="22" name="Text 19"/>
          <p:cNvSpPr txBox="1"/>
          <p:nvPr/>
        </p:nvSpPr>
        <p:spPr>
          <a:xfrm>
            <a:off x="8450885"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Si falta un hecho, el sistema dice cuál falta y por qué importa. La incertidumbre no se convierte en una responsabilidad atribuida.</a:t>
            </a:r>
            <a:endParaRPr lang="en-US" sz="1250" dirty="0"/>
          </a:p>
        </p:txBody>
      </p:sp>
      <p:sp>
        <p:nvSpPr>
          <p:cNvPr id="23" name="Shape 20"/>
          <p:cNvSpPr/>
          <p:nvPr/>
        </p:nvSpPr>
        <p:spPr>
          <a:xfrm>
            <a:off x="566928" y="5705856"/>
            <a:ext cx="11057839" cy="493776"/>
          </a:xfrm>
          <a:prstGeom prst="roundRect">
            <a:avLst>
              <a:gd name="adj" fmla="val 16667"/>
            </a:avLst>
          </a:prstGeom>
          <a:solidFill>
            <a:srgbClr val="0A3E7A"/>
          </a:solidFill>
          <a:ln/>
        </p:spPr>
      </p:sp>
      <p:sp>
        <p:nvSpPr>
          <p:cNvPr id="24" name="Text 21"/>
          <p:cNvSpPr txBox="1"/>
          <p:nvPr/>
        </p:nvSpPr>
        <p:spPr>
          <a:xfrm>
            <a:off x="841248" y="579729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 lo único que separa un asistente demostrable de uno meramente convincente. Cuesta más construirlo; es la diferencia entre un piloto y un producto.</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07</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02</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Plan, supuestos y riesgos</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Cinco días, cinco hitos comprobables.</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Ningún atajo que no esté escrito.</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A3E7A"/>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PLAN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Cinco días construidos de abajo arriba: primero la evidencia, después la inteligencia.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Cada día cierra con un hito comprobable por un comando, no con una demostración. Si un día no cerraba, el siguiente no empezaba.</a:t>
            </a:r>
            <a:endParaRPr lang="en-US" sz="1350" dirty="0"/>
          </a:p>
        </p:txBody>
      </p:sp>
      <p:sp>
        <p:nvSpPr>
          <p:cNvPr id="7" name="Shape 4"/>
          <p:cNvSpPr/>
          <p:nvPr/>
        </p:nvSpPr>
        <p:spPr>
          <a:xfrm>
            <a:off x="566928"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786384" y="2542032"/>
            <a:ext cx="786384" cy="256032"/>
          </a:xfrm>
          <a:prstGeom prst="roundRect">
            <a:avLst>
              <a:gd name="adj" fmla="val 50000"/>
            </a:avLst>
          </a:prstGeom>
          <a:solidFill>
            <a:srgbClr val="003781"/>
          </a:solidFill>
          <a:ln/>
        </p:spPr>
      </p:sp>
      <p:sp>
        <p:nvSpPr>
          <p:cNvPr id="9" name="Text 6"/>
          <p:cNvSpPr txBox="1"/>
          <p:nvPr/>
        </p:nvSpPr>
        <p:spPr>
          <a:xfrm>
            <a:off x="786384"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1</a:t>
            </a:r>
            <a:endParaRPr lang="en-US" sz="950" dirty="0"/>
          </a:p>
        </p:txBody>
      </p:sp>
      <p:sp>
        <p:nvSpPr>
          <p:cNvPr id="10" name="Text 7"/>
          <p:cNvSpPr txBox="1"/>
          <p:nvPr/>
        </p:nvSpPr>
        <p:spPr>
          <a:xfrm>
            <a:off x="786384"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Cimientos</a:t>
            </a:r>
            <a:endParaRPr lang="en-US" sz="1450" dirty="0"/>
          </a:p>
        </p:txBody>
      </p:sp>
      <p:sp>
        <p:nvSpPr>
          <p:cNvPr id="11" name="Text 8"/>
          <p:cNvSpPr txBox="1"/>
          <p:nvPr/>
        </p:nvSpPr>
        <p:spPr>
          <a:xfrm>
            <a:off x="786384"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Arquitectura hexagonal, contratos de API, servicios locales y puertas de calidad en marcha.</a:t>
            </a:r>
            <a:endParaRPr lang="en-US" sz="1150" dirty="0"/>
          </a:p>
        </p:txBody>
      </p:sp>
      <p:sp>
        <p:nvSpPr>
          <p:cNvPr id="12" name="Text 9"/>
          <p:cNvSpPr txBox="1"/>
          <p:nvPr/>
        </p:nvSpPr>
        <p:spPr>
          <a:xfrm>
            <a:off x="786384"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13" name="Text 10"/>
          <p:cNvSpPr txBox="1"/>
          <p:nvPr/>
        </p:nvSpPr>
        <p:spPr>
          <a:xfrm>
            <a:off x="786384"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make check en verde</a:t>
            </a:r>
            <a:endParaRPr lang="en-US" sz="1100" dirty="0"/>
          </a:p>
        </p:txBody>
      </p:sp>
      <p:sp>
        <p:nvSpPr>
          <p:cNvPr id="14" name="Text 11"/>
          <p:cNvSpPr txBox="1"/>
          <p:nvPr/>
        </p:nvSpPr>
        <p:spPr>
          <a:xfrm>
            <a:off x="2670048"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5" name="Shape 12"/>
          <p:cNvSpPr/>
          <p:nvPr/>
        </p:nvSpPr>
        <p:spPr>
          <a:xfrm>
            <a:off x="2779776"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Shape 13"/>
          <p:cNvSpPr/>
          <p:nvPr/>
        </p:nvSpPr>
        <p:spPr>
          <a:xfrm>
            <a:off x="2999232" y="2542032"/>
            <a:ext cx="786384" cy="256032"/>
          </a:xfrm>
          <a:prstGeom prst="roundRect">
            <a:avLst>
              <a:gd name="adj" fmla="val 50000"/>
            </a:avLst>
          </a:prstGeom>
          <a:solidFill>
            <a:srgbClr val="003781"/>
          </a:solidFill>
          <a:ln/>
        </p:spPr>
      </p:sp>
      <p:sp>
        <p:nvSpPr>
          <p:cNvPr id="17" name="Text 14"/>
          <p:cNvSpPr txBox="1"/>
          <p:nvPr/>
        </p:nvSpPr>
        <p:spPr>
          <a:xfrm>
            <a:off x="2999232"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2</a:t>
            </a:r>
            <a:endParaRPr lang="en-US" sz="950" dirty="0"/>
          </a:p>
        </p:txBody>
      </p:sp>
      <p:sp>
        <p:nvSpPr>
          <p:cNvPr id="18" name="Text 15"/>
          <p:cNvSpPr txBox="1"/>
          <p:nvPr/>
        </p:nvSpPr>
        <p:spPr>
          <a:xfrm>
            <a:off x="2999232"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Ingesta y evidencia</a:t>
            </a:r>
            <a:endParaRPr lang="en-US" sz="1450" dirty="0"/>
          </a:p>
        </p:txBody>
      </p:sp>
      <p:sp>
        <p:nvSpPr>
          <p:cNvPr id="19" name="Text 16"/>
          <p:cNvSpPr txBox="1"/>
          <p:nvPr/>
        </p:nvSpPr>
        <p:spPr>
          <a:xfrm>
            <a:off x="2999232"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Manual verificado por hash, extracción página a página, publicación atómica e IDs de evidencia.</a:t>
            </a:r>
            <a:endParaRPr lang="en-US" sz="1150" dirty="0"/>
          </a:p>
        </p:txBody>
      </p:sp>
      <p:sp>
        <p:nvSpPr>
          <p:cNvPr id="20" name="Text 17"/>
          <p:cNvSpPr txBox="1"/>
          <p:nvPr/>
        </p:nvSpPr>
        <p:spPr>
          <a:xfrm>
            <a:off x="2999232"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21" name="Text 18"/>
          <p:cNvSpPr txBox="1"/>
          <p:nvPr/>
        </p:nvSpPr>
        <p:spPr>
          <a:xfrm>
            <a:off x="2999232"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111 páginas publicadas</a:t>
            </a:r>
            <a:endParaRPr lang="en-US" sz="1100" dirty="0"/>
          </a:p>
        </p:txBody>
      </p:sp>
      <p:sp>
        <p:nvSpPr>
          <p:cNvPr id="22" name="Text 19"/>
          <p:cNvSpPr txBox="1"/>
          <p:nvPr/>
        </p:nvSpPr>
        <p:spPr>
          <a:xfrm>
            <a:off x="4882896"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3" name="Shape 20"/>
          <p:cNvSpPr/>
          <p:nvPr/>
        </p:nvSpPr>
        <p:spPr>
          <a:xfrm>
            <a:off x="4992624"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Shape 21"/>
          <p:cNvSpPr/>
          <p:nvPr/>
        </p:nvSpPr>
        <p:spPr>
          <a:xfrm>
            <a:off x="5212080" y="2542032"/>
            <a:ext cx="786384" cy="256032"/>
          </a:xfrm>
          <a:prstGeom prst="roundRect">
            <a:avLst>
              <a:gd name="adj" fmla="val 50000"/>
            </a:avLst>
          </a:prstGeom>
          <a:solidFill>
            <a:srgbClr val="003781"/>
          </a:solidFill>
          <a:ln/>
        </p:spPr>
      </p:sp>
      <p:sp>
        <p:nvSpPr>
          <p:cNvPr id="25" name="Text 22"/>
          <p:cNvSpPr txBox="1"/>
          <p:nvPr/>
        </p:nvSpPr>
        <p:spPr>
          <a:xfrm>
            <a:off x="5212080"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3</a:t>
            </a:r>
            <a:endParaRPr lang="en-US" sz="950" dirty="0"/>
          </a:p>
        </p:txBody>
      </p:sp>
      <p:sp>
        <p:nvSpPr>
          <p:cNvPr id="26" name="Text 23"/>
          <p:cNvSpPr txBox="1"/>
          <p:nvPr/>
        </p:nvSpPr>
        <p:spPr>
          <a:xfrm>
            <a:off x="5212080"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Recuperación y respuesta</a:t>
            </a:r>
            <a:endParaRPr lang="en-US" sz="1450" dirty="0"/>
          </a:p>
        </p:txBody>
      </p:sp>
      <p:sp>
        <p:nvSpPr>
          <p:cNvPr id="27" name="Text 24"/>
          <p:cNvSpPr txBox="1"/>
          <p:nvPr/>
        </p:nvSpPr>
        <p:spPr>
          <a:xfrm>
            <a:off x="5212080"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Índice híbrido en Qdrant y grafo documental recuperar → generar → validar con citas ancladas.</a:t>
            </a:r>
            <a:endParaRPr lang="en-US" sz="1150" dirty="0"/>
          </a:p>
        </p:txBody>
      </p:sp>
      <p:sp>
        <p:nvSpPr>
          <p:cNvPr id="28" name="Text 25"/>
          <p:cNvSpPr txBox="1"/>
          <p:nvPr/>
        </p:nvSpPr>
        <p:spPr>
          <a:xfrm>
            <a:off x="5212080"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29" name="Text 26"/>
          <p:cNvSpPr txBox="1"/>
          <p:nvPr/>
        </p:nvSpPr>
        <p:spPr>
          <a:xfrm>
            <a:off x="5212080"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cita que abre el PDF</a:t>
            </a:r>
            <a:endParaRPr lang="en-US" sz="1100" dirty="0"/>
          </a:p>
        </p:txBody>
      </p:sp>
      <p:sp>
        <p:nvSpPr>
          <p:cNvPr id="30" name="Text 27"/>
          <p:cNvSpPr txBox="1"/>
          <p:nvPr/>
        </p:nvSpPr>
        <p:spPr>
          <a:xfrm>
            <a:off x="7095744"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1" name="Shape 28"/>
          <p:cNvSpPr/>
          <p:nvPr/>
        </p:nvSpPr>
        <p:spPr>
          <a:xfrm>
            <a:off x="7205472"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Shape 29"/>
          <p:cNvSpPr/>
          <p:nvPr/>
        </p:nvSpPr>
        <p:spPr>
          <a:xfrm>
            <a:off x="7424928" y="2542032"/>
            <a:ext cx="786384" cy="256032"/>
          </a:xfrm>
          <a:prstGeom prst="roundRect">
            <a:avLst>
              <a:gd name="adj" fmla="val 50000"/>
            </a:avLst>
          </a:prstGeom>
          <a:solidFill>
            <a:srgbClr val="003781"/>
          </a:solidFill>
          <a:ln/>
        </p:spPr>
      </p:sp>
      <p:sp>
        <p:nvSpPr>
          <p:cNvPr id="33" name="Text 30"/>
          <p:cNvSpPr txBox="1"/>
          <p:nvPr/>
        </p:nvSpPr>
        <p:spPr>
          <a:xfrm>
            <a:off x="7424928"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4</a:t>
            </a:r>
            <a:endParaRPr lang="en-US" sz="950" dirty="0"/>
          </a:p>
        </p:txBody>
      </p:sp>
      <p:sp>
        <p:nvSpPr>
          <p:cNvPr id="34" name="Text 31"/>
          <p:cNvSpPr txBox="1"/>
          <p:nvPr/>
        </p:nvSpPr>
        <p:spPr>
          <a:xfrm>
            <a:off x="7424928"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Reglas y siniestros</a:t>
            </a:r>
            <a:endParaRPr lang="en-US" sz="1450" dirty="0"/>
          </a:p>
        </p:txBody>
      </p:sp>
      <p:sp>
        <p:nvSpPr>
          <p:cNvPr id="35" name="Text 32"/>
          <p:cNvSpPr txBox="1"/>
          <p:nvPr/>
        </p:nvSpPr>
        <p:spPr>
          <a:xfrm>
            <a:off x="7424928"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Ruleset y tabla de culpabilidad transcritos y firmados; grafo de siniestros con interrupción humana.</a:t>
            </a:r>
            <a:endParaRPr lang="en-US" sz="1150" dirty="0"/>
          </a:p>
        </p:txBody>
      </p:sp>
      <p:sp>
        <p:nvSpPr>
          <p:cNvPr id="36" name="Text 33"/>
          <p:cNvSpPr txBox="1"/>
          <p:nvPr/>
        </p:nvSpPr>
        <p:spPr>
          <a:xfrm>
            <a:off x="7424928"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37" name="Text 34"/>
          <p:cNvSpPr txBox="1"/>
          <p:nvPr/>
        </p:nvSpPr>
        <p:spPr>
          <a:xfrm>
            <a:off x="7424928"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b.10 y matriz resolviendo</a:t>
            </a:r>
            <a:endParaRPr lang="en-US" sz="1100" dirty="0"/>
          </a:p>
        </p:txBody>
      </p:sp>
      <p:sp>
        <p:nvSpPr>
          <p:cNvPr id="38" name="Text 35"/>
          <p:cNvSpPr txBox="1"/>
          <p:nvPr/>
        </p:nvSpPr>
        <p:spPr>
          <a:xfrm>
            <a:off x="9308592"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9" name="Shape 36"/>
          <p:cNvSpPr/>
          <p:nvPr/>
        </p:nvSpPr>
        <p:spPr>
          <a:xfrm>
            <a:off x="9418320" y="2304288"/>
            <a:ext cx="2103120" cy="3108960"/>
          </a:xfrm>
          <a:prstGeom prst="roundRect">
            <a:avLst>
              <a:gd name="adj" fmla="val 434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40" name="Shape 37"/>
          <p:cNvSpPr/>
          <p:nvPr/>
        </p:nvSpPr>
        <p:spPr>
          <a:xfrm>
            <a:off x="9637776" y="2542032"/>
            <a:ext cx="786384" cy="256032"/>
          </a:xfrm>
          <a:prstGeom prst="roundRect">
            <a:avLst>
              <a:gd name="adj" fmla="val 50000"/>
            </a:avLst>
          </a:prstGeom>
          <a:solidFill>
            <a:srgbClr val="003781"/>
          </a:solidFill>
          <a:ln/>
        </p:spPr>
      </p:sp>
      <p:sp>
        <p:nvSpPr>
          <p:cNvPr id="41" name="Text 38"/>
          <p:cNvSpPr txBox="1"/>
          <p:nvPr/>
        </p:nvSpPr>
        <p:spPr>
          <a:xfrm>
            <a:off x="9637776"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5</a:t>
            </a:r>
            <a:endParaRPr lang="en-US" sz="950" dirty="0"/>
          </a:p>
        </p:txBody>
      </p:sp>
      <p:sp>
        <p:nvSpPr>
          <p:cNvPr id="42" name="Text 39"/>
          <p:cNvSpPr txBox="1"/>
          <p:nvPr/>
        </p:nvSpPr>
        <p:spPr>
          <a:xfrm>
            <a:off x="9637776"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Evaluación y entrega</a:t>
            </a:r>
            <a:endParaRPr lang="en-US" sz="1450" dirty="0"/>
          </a:p>
        </p:txBody>
      </p:sp>
      <p:sp>
        <p:nvSpPr>
          <p:cNvPr id="43" name="Text 40"/>
          <p:cNvSpPr txBox="1"/>
          <p:nvPr/>
        </p:nvSpPr>
        <p:spPr>
          <a:xfrm>
            <a:off x="9637776"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Golden set, congelación de release, trazas en Langfuse, documentación y guion de demo.</a:t>
            </a:r>
            <a:endParaRPr lang="en-US" sz="1150" dirty="0"/>
          </a:p>
        </p:txBody>
      </p:sp>
      <p:sp>
        <p:nvSpPr>
          <p:cNvPr id="44" name="Text 41"/>
          <p:cNvSpPr txBox="1"/>
          <p:nvPr/>
        </p:nvSpPr>
        <p:spPr>
          <a:xfrm>
            <a:off x="9637776"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45" name="Text 42"/>
          <p:cNvSpPr txBox="1"/>
          <p:nvPr/>
        </p:nvSpPr>
        <p:spPr>
          <a:xfrm>
            <a:off x="9637776"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release congelada</a:t>
            </a:r>
            <a:endParaRPr lang="en-US" sz="1100" dirty="0"/>
          </a:p>
        </p:txBody>
      </p:sp>
      <p:sp>
        <p:nvSpPr>
          <p:cNvPr id="46" name="Shape 43"/>
          <p:cNvSpPr/>
          <p:nvPr/>
        </p:nvSpPr>
        <p:spPr>
          <a:xfrm>
            <a:off x="566928" y="5852160"/>
            <a:ext cx="11057839" cy="493776"/>
          </a:xfrm>
          <a:prstGeom prst="roundRect">
            <a:avLst>
              <a:gd name="adj" fmla="val 16667"/>
            </a:avLst>
          </a:prstGeom>
          <a:solidFill>
            <a:srgbClr val="003781"/>
          </a:solidFill>
          <a:ln/>
        </p:spPr>
      </p:sp>
      <p:sp>
        <p:nvSpPr>
          <p:cNvPr id="47" name="Text 4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mayor riesgo se mitigó el día uno: si el dominio hubiera resultado irreducible a reglas verificables, el sistema seguiría siendo útil como RAG documental con citas.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SUPUESTOS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09</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Seis supuestos declarados por escrito; ninguno escondido dentro del código.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Un supuesto que no se escribe acaba siendo una sorpresa en producción. Éstos están además en la documentación de entrega y en los metadatos del golden set.</a:t>
            </a:r>
            <a:endParaRPr lang="en-US" sz="1350" dirty="0"/>
          </a:p>
        </p:txBody>
      </p:sp>
      <p:sp>
        <p:nvSpPr>
          <p:cNvPr id="7" name="Shape 4"/>
          <p:cNvSpPr/>
          <p:nvPr/>
        </p:nvSpPr>
        <p:spPr>
          <a:xfrm>
            <a:off x="566928"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841248" y="2633472"/>
            <a:ext cx="128016" cy="128016"/>
          </a:xfrm>
          <a:prstGeom prst="ellipse">
            <a:avLst/>
          </a:prstGeom>
          <a:solidFill>
            <a:srgbClr val="0079C1"/>
          </a:solidFill>
          <a:ln/>
        </p:spPr>
      </p:sp>
      <p:sp>
        <p:nvSpPr>
          <p:cNvPr id="9" name="Text 6"/>
          <p:cNvSpPr txBox="1"/>
          <p:nvPr/>
        </p:nvSpPr>
        <p:spPr>
          <a:xfrm>
            <a:off x="1078992"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manual es la única fuente de verdad</a:t>
            </a:r>
            <a:endParaRPr lang="en-US" sz="1300" dirty="0"/>
          </a:p>
        </p:txBody>
      </p:sp>
      <p:sp>
        <p:nvSpPr>
          <p:cNvPr id="10" name="Text 7"/>
          <p:cNvSpPr txBox="1"/>
          <p:nvPr/>
        </p:nvSpPr>
        <p:spPr>
          <a:xfrm>
            <a:off x="841248"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No se completa con derecho vigente ni con lo que el modelo crea recordar. Es la edición de noviembre de 2004.</a:t>
            </a:r>
            <a:endParaRPr lang="en-US" sz="1150" dirty="0"/>
          </a:p>
        </p:txBody>
      </p:sp>
      <p:sp>
        <p:nvSpPr>
          <p:cNvPr id="11" name="Shape 8"/>
          <p:cNvSpPr/>
          <p:nvPr/>
        </p:nvSpPr>
        <p:spPr>
          <a:xfrm>
            <a:off x="4344314"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2" name="Shape 9"/>
          <p:cNvSpPr/>
          <p:nvPr/>
        </p:nvSpPr>
        <p:spPr>
          <a:xfrm>
            <a:off x="4618634" y="2633472"/>
            <a:ext cx="128016" cy="128016"/>
          </a:xfrm>
          <a:prstGeom prst="ellipse">
            <a:avLst/>
          </a:prstGeom>
          <a:solidFill>
            <a:srgbClr val="0079C1"/>
          </a:solidFill>
          <a:ln/>
        </p:spPr>
      </p:sp>
      <p:sp>
        <p:nvSpPr>
          <p:cNvPr id="13" name="Text 10"/>
          <p:cNvSpPr txBox="1"/>
          <p:nvPr/>
        </p:nvSpPr>
        <p:spPr>
          <a:xfrm>
            <a:off x="4856378"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Las casillas A0–A17 son externas al manual</a:t>
            </a:r>
            <a:endParaRPr lang="en-US" sz="1300" dirty="0"/>
          </a:p>
        </p:txBody>
      </p:sp>
      <p:sp>
        <p:nvSpPr>
          <p:cNvPr id="14" name="Text 11"/>
          <p:cNvSpPr txBox="1"/>
          <p:nvPr/>
        </p:nvSpPr>
        <p:spPr>
          <a:xfrm>
            <a:off x="4618634"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apartado 12 de la declaración amistosa no está definido en el documento: vive en un catálogo aparte, versionado y validado.</a:t>
            </a:r>
            <a:endParaRPr lang="en-US" sz="1150" dirty="0"/>
          </a:p>
        </p:txBody>
      </p:sp>
      <p:sp>
        <p:nvSpPr>
          <p:cNvPr id="15" name="Shape 12"/>
          <p:cNvSpPr/>
          <p:nvPr/>
        </p:nvSpPr>
        <p:spPr>
          <a:xfrm>
            <a:off x="8121701"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Shape 13"/>
          <p:cNvSpPr/>
          <p:nvPr/>
        </p:nvSpPr>
        <p:spPr>
          <a:xfrm>
            <a:off x="8396021" y="2633472"/>
            <a:ext cx="128016" cy="128016"/>
          </a:xfrm>
          <a:prstGeom prst="ellipse">
            <a:avLst/>
          </a:prstGeom>
          <a:solidFill>
            <a:srgbClr val="0079C1"/>
          </a:solidFill>
          <a:ln/>
        </p:spPr>
      </p:sp>
      <p:sp>
        <p:nvSpPr>
          <p:cNvPr id="17" name="Text 14"/>
          <p:cNvSpPr txBox="1"/>
          <p:nvPr/>
        </p:nvSpPr>
        <p:spPr>
          <a:xfrm>
            <a:off x="8633765"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ámbito administrativo se da por bueno</a:t>
            </a:r>
            <a:endParaRPr lang="en-US" sz="1300" dirty="0"/>
          </a:p>
        </p:txBody>
      </p:sp>
      <p:sp>
        <p:nvSpPr>
          <p:cNvPr id="18" name="Text 15"/>
          <p:cNvSpPr txBox="1"/>
          <p:nvPr/>
        </p:nvSpPr>
        <p:spPr>
          <a:xfrm>
            <a:off x="8396021"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Matriculación española o del EEE y aseguradora adherida se asumen salvo que el relato diga lo contrario (art. 4, pág. 10).</a:t>
            </a:r>
            <a:endParaRPr lang="en-US" sz="1150" dirty="0"/>
          </a:p>
        </p:txBody>
      </p:sp>
      <p:sp>
        <p:nvSpPr>
          <p:cNvPr id="19" name="Shape 16"/>
          <p:cNvSpPr/>
          <p:nvPr/>
        </p:nvSpPr>
        <p:spPr>
          <a:xfrm>
            <a:off x="566928"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7"/>
          <p:cNvSpPr/>
          <p:nvPr/>
        </p:nvSpPr>
        <p:spPr>
          <a:xfrm>
            <a:off x="841248" y="4498848"/>
            <a:ext cx="128016" cy="128016"/>
          </a:xfrm>
          <a:prstGeom prst="ellipse">
            <a:avLst/>
          </a:prstGeom>
          <a:solidFill>
            <a:srgbClr val="0079C1"/>
          </a:solidFill>
          <a:ln/>
        </p:spPr>
      </p:sp>
      <p:sp>
        <p:nvSpPr>
          <p:cNvPr id="21" name="Text 18"/>
          <p:cNvSpPr txBox="1"/>
          <p:nvPr/>
        </p:nvSpPr>
        <p:spPr>
          <a:xfrm>
            <a:off x="1078992"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Un solo usuario, entorno local</a:t>
            </a:r>
            <a:endParaRPr lang="en-US" sz="1300" dirty="0"/>
          </a:p>
        </p:txBody>
      </p:sp>
      <p:sp>
        <p:nvSpPr>
          <p:cNvPr id="22" name="Text 19"/>
          <p:cNvSpPr txBox="1"/>
          <p:nvPr/>
        </p:nvSpPr>
        <p:spPr>
          <a:xfrm>
            <a:off x="841248"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Sin autenticación multiusuario ni alta disponibilidad: no es lo que la prueba evalúa, y fingirlo habría restado tiempo a lo que sí.</a:t>
            </a:r>
            <a:endParaRPr lang="en-US" sz="1150" dirty="0"/>
          </a:p>
        </p:txBody>
      </p:sp>
      <p:sp>
        <p:nvSpPr>
          <p:cNvPr id="23" name="Shape 20"/>
          <p:cNvSpPr/>
          <p:nvPr/>
        </p:nvSpPr>
        <p:spPr>
          <a:xfrm>
            <a:off x="4344314"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Shape 21"/>
          <p:cNvSpPr/>
          <p:nvPr/>
        </p:nvSpPr>
        <p:spPr>
          <a:xfrm>
            <a:off x="4618634" y="4498848"/>
            <a:ext cx="128016" cy="128016"/>
          </a:xfrm>
          <a:prstGeom prst="ellipse">
            <a:avLst/>
          </a:prstGeom>
          <a:solidFill>
            <a:srgbClr val="0079C1"/>
          </a:solidFill>
          <a:ln/>
        </p:spPr>
      </p:sp>
      <p:sp>
        <p:nvSpPr>
          <p:cNvPr id="25" name="Text 22"/>
          <p:cNvSpPr txBox="1"/>
          <p:nvPr/>
        </p:nvSpPr>
        <p:spPr>
          <a:xfrm>
            <a:off x="4856378"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Ningún dato real de siniestros</a:t>
            </a:r>
            <a:endParaRPr lang="en-US" sz="1300" dirty="0"/>
          </a:p>
        </p:txBody>
      </p:sp>
      <p:sp>
        <p:nvSpPr>
          <p:cNvPr id="26" name="Text 23"/>
          <p:cNvSpPr txBox="1"/>
          <p:nvPr/>
        </p:nvSpPr>
        <p:spPr>
          <a:xfrm>
            <a:off x="4618634"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Todo el material es el manual público, los cinco casos del enunciado y casos sintéticos derivados del propio manual.</a:t>
            </a:r>
            <a:endParaRPr lang="en-US" sz="1150" dirty="0"/>
          </a:p>
        </p:txBody>
      </p:sp>
      <p:sp>
        <p:nvSpPr>
          <p:cNvPr id="27" name="Shape 24"/>
          <p:cNvSpPr/>
          <p:nvPr/>
        </p:nvSpPr>
        <p:spPr>
          <a:xfrm>
            <a:off x="8121701"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Shape 25"/>
          <p:cNvSpPr/>
          <p:nvPr/>
        </p:nvSpPr>
        <p:spPr>
          <a:xfrm>
            <a:off x="8396021" y="4498848"/>
            <a:ext cx="128016" cy="128016"/>
          </a:xfrm>
          <a:prstGeom prst="ellipse">
            <a:avLst/>
          </a:prstGeom>
          <a:solidFill>
            <a:srgbClr val="0079C1"/>
          </a:solidFill>
          <a:ln/>
        </p:spPr>
      </p:sp>
      <p:sp>
        <p:nvSpPr>
          <p:cNvPr id="29" name="Text 26"/>
          <p:cNvSpPr txBox="1"/>
          <p:nvPr/>
        </p:nvSpPr>
        <p:spPr>
          <a:xfrm>
            <a:off x="8633765"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Lesiones y vía penal, fuera de alcance</a:t>
            </a:r>
            <a:endParaRPr lang="en-US" sz="1300" dirty="0"/>
          </a:p>
        </p:txBody>
      </p:sp>
      <p:sp>
        <p:nvSpPr>
          <p:cNvPr id="30" name="Text 27"/>
          <p:cNvSpPr txBox="1"/>
          <p:nvPr/>
        </p:nvSpPr>
        <p:spPr>
          <a:xfrm>
            <a:off x="8396021"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Convenio regula daños materiales entre aseguradoras. El sistema lo declara en lugar de opinar (págs. 27 y 62).</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Los seis se pueden discutir. Ése es el objetivo: un supuesto explícito es negociable, uno implícito es una avería esperando.</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RIESGOS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10</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Los cinco riesgos que podían hundir esta prueba, y qué se hizo con cada uno.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Ninguno se cerró con «tener cuidado»: los cinco tienen una contramedida en el código o en el proceso, y se puede señalar dónde está.</a:t>
            </a:r>
            <a:endParaRPr lang="en-US" sz="1350" dirty="0"/>
          </a:p>
        </p:txBody>
      </p:sp>
      <p:sp>
        <p:nvSpPr>
          <p:cNvPr id="7" name="Text 4"/>
          <p:cNvSpPr txBox="1"/>
          <p:nvPr/>
        </p:nvSpPr>
        <p:spPr>
          <a:xfrm>
            <a:off x="658368" y="2157984"/>
            <a:ext cx="301752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RIESGO</a:t>
            </a:r>
            <a:endParaRPr lang="en-US" sz="950" dirty="0"/>
          </a:p>
        </p:txBody>
      </p:sp>
      <p:sp>
        <p:nvSpPr>
          <p:cNvPr id="8" name="Text 5"/>
          <p:cNvSpPr txBox="1"/>
          <p:nvPr/>
        </p:nvSpPr>
        <p:spPr>
          <a:xfrm>
            <a:off x="3767328" y="2157984"/>
            <a:ext cx="914400" cy="201168"/>
          </a:xfrm>
          <a:prstGeom prst="rect">
            <a:avLst/>
          </a:prstGeom>
          <a:noFill/>
          <a:ln/>
        </p:spPr>
        <p:txBody>
          <a:bodyPr wrap="square" lIns="0" tIns="0" rIns="0" bIns="0" rtlCol="0" anchor="t"/>
          <a:lstStyle/>
          <a:p>
            <a:pPr algn="ctr" indent="0" marL="0">
              <a:buNone/>
            </a:pPr>
            <a:r>
              <a:rPr lang="en-US" sz="950" b="1" spc="110" kern="0" dirty="0">
                <a:solidFill>
                  <a:srgbClr val="8296AC"/>
                </a:solidFill>
                <a:latin typeface="Arial" pitchFamily="34" charset="0"/>
                <a:ea typeface="Arial" pitchFamily="34" charset="-122"/>
                <a:cs typeface="Arial" pitchFamily="34" charset="-120"/>
              </a:rPr>
              <a:t>IMPACTO</a:t>
            </a:r>
            <a:endParaRPr lang="en-US" sz="950" dirty="0"/>
          </a:p>
        </p:txBody>
      </p:sp>
      <p:sp>
        <p:nvSpPr>
          <p:cNvPr id="9" name="Text 6"/>
          <p:cNvSpPr txBox="1"/>
          <p:nvPr/>
        </p:nvSpPr>
        <p:spPr>
          <a:xfrm>
            <a:off x="4937760" y="2157984"/>
            <a:ext cx="6632143"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MITIGACIÓN APLICADA</a:t>
            </a:r>
            <a:endParaRPr lang="en-US" sz="950" dirty="0"/>
          </a:p>
        </p:txBody>
      </p:sp>
      <p:sp>
        <p:nvSpPr>
          <p:cNvPr id="10" name="Shape 7"/>
          <p:cNvSpPr/>
          <p:nvPr/>
        </p:nvSpPr>
        <p:spPr>
          <a:xfrm>
            <a:off x="566928" y="2450592"/>
            <a:ext cx="11057839" cy="612648"/>
          </a:xfrm>
          <a:prstGeom prst="roundRect">
            <a:avLst>
              <a:gd name="adj" fmla="val 13433"/>
            </a:avLst>
          </a:prstGeom>
          <a:solidFill>
            <a:srgbClr val="F1F6FC"/>
          </a:solidFill>
          <a:ln/>
        </p:spPr>
      </p:sp>
      <p:sp>
        <p:nvSpPr>
          <p:cNvPr id="11" name="Text 8"/>
          <p:cNvSpPr txBox="1"/>
          <p:nvPr/>
        </p:nvSpPr>
        <p:spPr>
          <a:xfrm>
            <a:off x="658368" y="2633472"/>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modelo alucina una responsabilidad</a:t>
            </a:r>
            <a:endParaRPr lang="en-US" sz="1300" dirty="0"/>
          </a:p>
        </p:txBody>
      </p:sp>
      <p:sp>
        <p:nvSpPr>
          <p:cNvPr id="12" name="Shape 9"/>
          <p:cNvSpPr/>
          <p:nvPr/>
        </p:nvSpPr>
        <p:spPr>
          <a:xfrm>
            <a:off x="3767328" y="2624328"/>
            <a:ext cx="914400" cy="274320"/>
          </a:xfrm>
          <a:prstGeom prst="roundRect">
            <a:avLst>
              <a:gd name="adj" fmla="val 50000"/>
            </a:avLst>
          </a:prstGeom>
          <a:solidFill>
            <a:srgbClr val="FAEDEC"/>
          </a:solidFill>
          <a:ln/>
        </p:spPr>
      </p:sp>
      <p:sp>
        <p:nvSpPr>
          <p:cNvPr id="13" name="Text 10"/>
          <p:cNvSpPr txBox="1"/>
          <p:nvPr/>
        </p:nvSpPr>
        <p:spPr>
          <a:xfrm>
            <a:off x="3767328" y="2670048"/>
            <a:ext cx="914400" cy="201168"/>
          </a:xfrm>
          <a:prstGeom prst="rect">
            <a:avLst/>
          </a:prstGeom>
          <a:noFill/>
          <a:ln/>
        </p:spPr>
        <p:txBody>
          <a:bodyPr wrap="square" lIns="0" tIns="0" rIns="0" bIns="0" rtlCol="0" anchor="t"/>
          <a:lstStyle/>
          <a:p>
            <a:pPr algn="ctr" indent="0" marL="0">
              <a:buNone/>
            </a:pPr>
            <a:r>
              <a:rPr lang="en-US" sz="1000" b="1" dirty="0">
                <a:solidFill>
                  <a:srgbClr val="A63F38"/>
                </a:solidFill>
                <a:latin typeface="Calibri" pitchFamily="34" charset="0"/>
                <a:ea typeface="Calibri" pitchFamily="34" charset="-122"/>
                <a:cs typeface="Calibri" pitchFamily="34" charset="-120"/>
              </a:rPr>
              <a:t>Crítico</a:t>
            </a:r>
            <a:endParaRPr lang="en-US" sz="1000" dirty="0"/>
          </a:p>
        </p:txBody>
      </p:sp>
      <p:sp>
        <p:nvSpPr>
          <p:cNvPr id="14" name="Text 11"/>
          <p:cNvSpPr txBox="1"/>
          <p:nvPr/>
        </p:nvSpPr>
        <p:spPr>
          <a:xfrm>
            <a:off x="4937760" y="2560320"/>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decisión no la emite el LLM. La emite un evaluador determinista sobre reglas firmadas, y una invariante del dominio impide publicar un culpable sin las reglas que lo sostienen.</a:t>
            </a:r>
            <a:endParaRPr lang="en-US" sz="1150" dirty="0"/>
          </a:p>
        </p:txBody>
      </p:sp>
      <p:sp>
        <p:nvSpPr>
          <p:cNvPr id="15" name="Text 12"/>
          <p:cNvSpPr txBox="1"/>
          <p:nvPr/>
        </p:nvSpPr>
        <p:spPr>
          <a:xfrm>
            <a:off x="658368" y="3300984"/>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 tabla 18×18 se transcribe mal</a:t>
            </a:r>
            <a:endParaRPr lang="en-US" sz="1300" dirty="0"/>
          </a:p>
        </p:txBody>
      </p:sp>
      <p:sp>
        <p:nvSpPr>
          <p:cNvPr id="16" name="Shape 13"/>
          <p:cNvSpPr/>
          <p:nvPr/>
        </p:nvSpPr>
        <p:spPr>
          <a:xfrm>
            <a:off x="3767328" y="3291840"/>
            <a:ext cx="914400" cy="274320"/>
          </a:xfrm>
          <a:prstGeom prst="roundRect">
            <a:avLst>
              <a:gd name="adj" fmla="val 50000"/>
            </a:avLst>
          </a:prstGeom>
          <a:solidFill>
            <a:srgbClr val="FAEDEC"/>
          </a:solidFill>
          <a:ln/>
        </p:spPr>
      </p:sp>
      <p:sp>
        <p:nvSpPr>
          <p:cNvPr id="17" name="Text 14"/>
          <p:cNvSpPr txBox="1"/>
          <p:nvPr/>
        </p:nvSpPr>
        <p:spPr>
          <a:xfrm>
            <a:off x="3767328" y="3337560"/>
            <a:ext cx="914400" cy="201168"/>
          </a:xfrm>
          <a:prstGeom prst="rect">
            <a:avLst/>
          </a:prstGeom>
          <a:noFill/>
          <a:ln/>
        </p:spPr>
        <p:txBody>
          <a:bodyPr wrap="square" lIns="0" tIns="0" rIns="0" bIns="0" rtlCol="0" anchor="t"/>
          <a:lstStyle/>
          <a:p>
            <a:pPr algn="ctr" indent="0" marL="0">
              <a:buNone/>
            </a:pPr>
            <a:r>
              <a:rPr lang="en-US" sz="1000" b="1" dirty="0">
                <a:solidFill>
                  <a:srgbClr val="A63F38"/>
                </a:solidFill>
                <a:latin typeface="Calibri" pitchFamily="34" charset="0"/>
                <a:ea typeface="Calibri" pitchFamily="34" charset="-122"/>
                <a:cs typeface="Calibri" pitchFamily="34" charset="-120"/>
              </a:rPr>
              <a:t>Crítico</a:t>
            </a:r>
            <a:endParaRPr lang="en-US" sz="1000" dirty="0"/>
          </a:p>
        </p:txBody>
      </p:sp>
      <p:sp>
        <p:nvSpPr>
          <p:cNvPr id="18" name="Text 15"/>
          <p:cNvSpPr txBox="1"/>
          <p:nvPr/>
        </p:nvSpPr>
        <p:spPr>
          <a:xfrm>
            <a:off x="4937760" y="3227832"/>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324 celdas transcritas dos veces de forma independiente, comparadas por un comando y atestadas con firma. Una celda no conciliada no decide.</a:t>
            </a:r>
            <a:endParaRPr lang="en-US" sz="1150" dirty="0"/>
          </a:p>
        </p:txBody>
      </p:sp>
      <p:sp>
        <p:nvSpPr>
          <p:cNvPr id="19" name="Shape 16"/>
          <p:cNvSpPr/>
          <p:nvPr/>
        </p:nvSpPr>
        <p:spPr>
          <a:xfrm>
            <a:off x="566928" y="3785616"/>
            <a:ext cx="11057839" cy="612648"/>
          </a:xfrm>
          <a:prstGeom prst="roundRect">
            <a:avLst>
              <a:gd name="adj" fmla="val 13433"/>
            </a:avLst>
          </a:prstGeom>
          <a:solidFill>
            <a:srgbClr val="F1F6FC"/>
          </a:solidFill>
          <a:ln/>
        </p:spPr>
      </p:sp>
      <p:sp>
        <p:nvSpPr>
          <p:cNvPr id="20" name="Text 17"/>
          <p:cNvSpPr txBox="1"/>
          <p:nvPr/>
        </p:nvSpPr>
        <p:spPr>
          <a:xfrm>
            <a:off x="658368" y="3968496"/>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 cita no sostiene la afirmación</a:t>
            </a:r>
            <a:endParaRPr lang="en-US" sz="1300" dirty="0"/>
          </a:p>
        </p:txBody>
      </p:sp>
      <p:sp>
        <p:nvSpPr>
          <p:cNvPr id="21" name="Shape 18"/>
          <p:cNvSpPr/>
          <p:nvPr/>
        </p:nvSpPr>
        <p:spPr>
          <a:xfrm>
            <a:off x="3767328" y="3959352"/>
            <a:ext cx="914400" cy="274320"/>
          </a:xfrm>
          <a:prstGeom prst="roundRect">
            <a:avLst>
              <a:gd name="adj" fmla="val 50000"/>
            </a:avLst>
          </a:prstGeom>
          <a:solidFill>
            <a:srgbClr val="FBF1DF"/>
          </a:solidFill>
          <a:ln/>
        </p:spPr>
      </p:sp>
      <p:sp>
        <p:nvSpPr>
          <p:cNvPr id="22" name="Text 19"/>
          <p:cNvSpPr txBox="1"/>
          <p:nvPr/>
        </p:nvSpPr>
        <p:spPr>
          <a:xfrm>
            <a:off x="3767328" y="4005072"/>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Alto</a:t>
            </a:r>
            <a:endParaRPr lang="en-US" sz="1000" dirty="0"/>
          </a:p>
        </p:txBody>
      </p:sp>
      <p:sp>
        <p:nvSpPr>
          <p:cNvPr id="23" name="Text 20"/>
          <p:cNvSpPr txBox="1"/>
          <p:nvPr/>
        </p:nvSpPr>
        <p:spPr>
          <a:xfrm>
            <a:off x="4937760" y="3895344"/>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Los identificadores de evidencia apuntan al documento y a la página física, no al fragmento del índice. El visor abre el PDF original por esa página y el revisor juzga.</a:t>
            </a:r>
            <a:endParaRPr lang="en-US" sz="1150" dirty="0"/>
          </a:p>
        </p:txBody>
      </p:sp>
      <p:sp>
        <p:nvSpPr>
          <p:cNvPr id="24" name="Text 21"/>
          <p:cNvSpPr txBox="1"/>
          <p:nvPr/>
        </p:nvSpPr>
        <p:spPr>
          <a:xfrm>
            <a:off x="658368" y="4636008"/>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golden set se ajusta al sistema</a:t>
            </a:r>
            <a:endParaRPr lang="en-US" sz="1300" dirty="0"/>
          </a:p>
        </p:txBody>
      </p:sp>
      <p:sp>
        <p:nvSpPr>
          <p:cNvPr id="25" name="Shape 22"/>
          <p:cNvSpPr/>
          <p:nvPr/>
        </p:nvSpPr>
        <p:spPr>
          <a:xfrm>
            <a:off x="3767328" y="4626864"/>
            <a:ext cx="914400" cy="274320"/>
          </a:xfrm>
          <a:prstGeom prst="roundRect">
            <a:avLst>
              <a:gd name="adj" fmla="val 50000"/>
            </a:avLst>
          </a:prstGeom>
          <a:solidFill>
            <a:srgbClr val="FBF1DF"/>
          </a:solidFill>
          <a:ln/>
        </p:spPr>
      </p:sp>
      <p:sp>
        <p:nvSpPr>
          <p:cNvPr id="26" name="Text 23"/>
          <p:cNvSpPr txBox="1"/>
          <p:nvPr/>
        </p:nvSpPr>
        <p:spPr>
          <a:xfrm>
            <a:off x="3767328" y="4672584"/>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Alto</a:t>
            </a:r>
            <a:endParaRPr lang="en-US" sz="1000" dirty="0"/>
          </a:p>
        </p:txBody>
      </p:sp>
      <p:sp>
        <p:nvSpPr>
          <p:cNvPr id="27" name="Text 24"/>
          <p:cNvSpPr txBox="1"/>
          <p:nvPr/>
        </p:nvSpPr>
        <p:spPr>
          <a:xfrm>
            <a:off x="4937760" y="4562856"/>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referencia se construyó contra el manual, con revisión adversarial independiente y prohibiciones explícitas. El holdout se abre una sola vez, tras congelar código y prompts.</a:t>
            </a:r>
            <a:endParaRPr lang="en-US" sz="1150" dirty="0"/>
          </a:p>
        </p:txBody>
      </p:sp>
      <p:sp>
        <p:nvSpPr>
          <p:cNvPr id="28" name="Shape 25"/>
          <p:cNvSpPr/>
          <p:nvPr/>
        </p:nvSpPr>
        <p:spPr>
          <a:xfrm>
            <a:off x="566928" y="5120640"/>
            <a:ext cx="11057839" cy="612648"/>
          </a:xfrm>
          <a:prstGeom prst="roundRect">
            <a:avLst>
              <a:gd name="adj" fmla="val 13433"/>
            </a:avLst>
          </a:prstGeom>
          <a:solidFill>
            <a:srgbClr val="F1F6FC"/>
          </a:solidFill>
          <a:ln/>
        </p:spPr>
      </p:sp>
      <p:sp>
        <p:nvSpPr>
          <p:cNvPr id="29" name="Text 26"/>
          <p:cNvSpPr txBox="1"/>
          <p:nvPr/>
        </p:nvSpPr>
        <p:spPr>
          <a:xfrm>
            <a:off x="658368" y="5303520"/>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Cinco días para catorce reglas</a:t>
            </a:r>
            <a:endParaRPr lang="en-US" sz="1300" dirty="0"/>
          </a:p>
        </p:txBody>
      </p:sp>
      <p:sp>
        <p:nvSpPr>
          <p:cNvPr id="30" name="Shape 27"/>
          <p:cNvSpPr/>
          <p:nvPr/>
        </p:nvSpPr>
        <p:spPr>
          <a:xfrm>
            <a:off x="3767328" y="5294376"/>
            <a:ext cx="914400" cy="274320"/>
          </a:xfrm>
          <a:prstGeom prst="roundRect">
            <a:avLst>
              <a:gd name="adj" fmla="val 50000"/>
            </a:avLst>
          </a:prstGeom>
          <a:solidFill>
            <a:srgbClr val="FBF1DF"/>
          </a:solidFill>
          <a:ln/>
        </p:spPr>
      </p:sp>
      <p:sp>
        <p:nvSpPr>
          <p:cNvPr id="31" name="Text 28"/>
          <p:cNvSpPr txBox="1"/>
          <p:nvPr/>
        </p:nvSpPr>
        <p:spPr>
          <a:xfrm>
            <a:off x="3767328" y="5340096"/>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Medio</a:t>
            </a:r>
            <a:endParaRPr lang="en-US" sz="1000" dirty="0"/>
          </a:p>
        </p:txBody>
      </p:sp>
      <p:sp>
        <p:nvSpPr>
          <p:cNvPr id="32" name="Text 29"/>
          <p:cNvSpPr txBox="1"/>
          <p:nvPr/>
        </p:nvSpPr>
        <p:spPr>
          <a:xfrm>
            <a:off x="4937760" y="5230368"/>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Se priorizó la puerta de aplicabilidad completa y el patrón de una norma subsidiaria, luego replicado a seis más y a la tabla. La que falta se declara, no se disimula.</a:t>
            </a:r>
            <a:endParaRPr lang="en-US" sz="1150" dirty="0"/>
          </a:p>
        </p:txBody>
      </p:sp>
      <p:sp>
        <p:nvSpPr>
          <p:cNvPr id="33" name="Shape 30"/>
          <p:cNvSpPr/>
          <p:nvPr/>
        </p:nvSpPr>
        <p:spPr>
          <a:xfrm>
            <a:off x="566928" y="5852160"/>
            <a:ext cx="11057839" cy="493776"/>
          </a:xfrm>
          <a:prstGeom prst="roundRect">
            <a:avLst>
              <a:gd name="adj" fmla="val 16667"/>
            </a:avLst>
          </a:prstGeom>
          <a:solidFill>
            <a:srgbClr val="003781"/>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patrón se repite: cada riesgo de generación se responde con una frontera de código, y cada riesgo de transcripción con una firma humana.</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DECISIONES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11</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Seis decisiones técnicas, con el motivo y el precio que se pagó por cada una.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Una decisión sin coste declarado no es una decisión: es una preferencia. Éstas son las seis que más condicionan el resto del sistema.</a:t>
            </a:r>
            <a:endParaRPr lang="en-US" sz="1350" dirty="0"/>
          </a:p>
        </p:txBody>
      </p:sp>
      <p:sp>
        <p:nvSpPr>
          <p:cNvPr id="7" name="Text 4"/>
          <p:cNvSpPr txBox="1"/>
          <p:nvPr/>
        </p:nvSpPr>
        <p:spPr>
          <a:xfrm>
            <a:off x="658368" y="2157984"/>
            <a:ext cx="320040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DECISIÓN</a:t>
            </a:r>
            <a:endParaRPr lang="en-US" sz="950" dirty="0"/>
          </a:p>
        </p:txBody>
      </p:sp>
      <p:sp>
        <p:nvSpPr>
          <p:cNvPr id="8" name="Text 5"/>
          <p:cNvSpPr txBox="1"/>
          <p:nvPr/>
        </p:nvSpPr>
        <p:spPr>
          <a:xfrm>
            <a:off x="3968496" y="2157984"/>
            <a:ext cx="420624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POR QUÉ</a:t>
            </a:r>
            <a:endParaRPr lang="en-US" sz="950" dirty="0"/>
          </a:p>
        </p:txBody>
      </p:sp>
      <p:sp>
        <p:nvSpPr>
          <p:cNvPr id="9" name="Text 6"/>
          <p:cNvSpPr txBox="1"/>
          <p:nvPr/>
        </p:nvSpPr>
        <p:spPr>
          <a:xfrm>
            <a:off x="8339328" y="2157984"/>
            <a:ext cx="3230575"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COSTE ACEPTADO</a:t>
            </a:r>
            <a:endParaRPr lang="en-US" sz="950" dirty="0"/>
          </a:p>
        </p:txBody>
      </p:sp>
      <p:sp>
        <p:nvSpPr>
          <p:cNvPr id="10" name="Shape 7"/>
          <p:cNvSpPr/>
          <p:nvPr/>
        </p:nvSpPr>
        <p:spPr>
          <a:xfrm>
            <a:off x="566928" y="2450592"/>
            <a:ext cx="11057839" cy="502920"/>
          </a:xfrm>
          <a:prstGeom prst="roundRect">
            <a:avLst>
              <a:gd name="adj" fmla="val 16364"/>
            </a:avLst>
          </a:prstGeom>
          <a:solidFill>
            <a:srgbClr val="F1F6FC"/>
          </a:solidFill>
          <a:ln/>
        </p:spPr>
      </p:sp>
      <p:sp>
        <p:nvSpPr>
          <p:cNvPr id="11" name="Text 8"/>
          <p:cNvSpPr txBox="1"/>
          <p:nvPr/>
        </p:nvSpPr>
        <p:spPr>
          <a:xfrm>
            <a:off x="658368" y="2542032"/>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Arquitectura hexagonal</a:t>
            </a:r>
            <a:endParaRPr lang="en-US" sz="1200" dirty="0"/>
          </a:p>
        </p:txBody>
      </p:sp>
      <p:sp>
        <p:nvSpPr>
          <p:cNvPr id="12" name="Text 9"/>
          <p:cNvSpPr txBox="1"/>
          <p:nvPr/>
        </p:nvSpPr>
        <p:spPr>
          <a:xfrm>
            <a:off x="3968496" y="2542032"/>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núcleo no puede depender de un SDK que cambia cada trimestre.</a:t>
            </a:r>
            <a:endParaRPr lang="en-US" sz="1100" dirty="0"/>
          </a:p>
        </p:txBody>
      </p:sp>
      <p:sp>
        <p:nvSpPr>
          <p:cNvPr id="13" name="Text 10"/>
          <p:cNvSpPr txBox="1"/>
          <p:nvPr/>
        </p:nvSpPr>
        <p:spPr>
          <a:xfrm>
            <a:off x="8339328" y="2542032"/>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Más módulos y más ceremonia en el arranque.</a:t>
            </a:r>
            <a:endParaRPr lang="en-US" sz="1100" dirty="0"/>
          </a:p>
        </p:txBody>
      </p:sp>
      <p:sp>
        <p:nvSpPr>
          <p:cNvPr id="14" name="Text 11"/>
          <p:cNvSpPr txBox="1"/>
          <p:nvPr/>
        </p:nvSpPr>
        <p:spPr>
          <a:xfrm>
            <a:off x="658368" y="3099816"/>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LangGraph como adaptador, no como marco</a:t>
            </a:r>
            <a:endParaRPr lang="en-US" sz="1200" dirty="0"/>
          </a:p>
        </p:txBody>
      </p:sp>
      <p:sp>
        <p:nvSpPr>
          <p:cNvPr id="15" name="Text 12"/>
          <p:cNvSpPr txBox="1"/>
          <p:nvPr/>
        </p:nvSpPr>
        <p:spPr>
          <a:xfrm>
            <a:off x="3968496" y="3099816"/>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La orquestación es un detalle: los casos de uso hablan con un puerto, no con el framework.</a:t>
            </a:r>
            <a:endParaRPr lang="en-US" sz="1100" dirty="0"/>
          </a:p>
        </p:txBody>
      </p:sp>
      <p:sp>
        <p:nvSpPr>
          <p:cNvPr id="16" name="Text 13"/>
          <p:cNvSpPr txBox="1"/>
          <p:nvPr/>
        </p:nvSpPr>
        <p:spPr>
          <a:xfrm>
            <a:off x="8339328" y="3099816"/>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Renunciar a los atajos del framework dentro del dominio.</a:t>
            </a:r>
            <a:endParaRPr lang="en-US" sz="1100" dirty="0"/>
          </a:p>
        </p:txBody>
      </p:sp>
      <p:sp>
        <p:nvSpPr>
          <p:cNvPr id="17" name="Shape 14"/>
          <p:cNvSpPr/>
          <p:nvPr/>
        </p:nvSpPr>
        <p:spPr>
          <a:xfrm>
            <a:off x="566928" y="3566160"/>
            <a:ext cx="11057839" cy="502920"/>
          </a:xfrm>
          <a:prstGeom prst="roundRect">
            <a:avLst>
              <a:gd name="adj" fmla="val 16364"/>
            </a:avLst>
          </a:prstGeom>
          <a:solidFill>
            <a:srgbClr val="F1F6FC"/>
          </a:solidFill>
          <a:ln/>
        </p:spPr>
      </p:sp>
      <p:sp>
        <p:nvSpPr>
          <p:cNvPr id="18" name="Text 15"/>
          <p:cNvSpPr txBox="1"/>
          <p:nvPr/>
        </p:nvSpPr>
        <p:spPr>
          <a:xfrm>
            <a:off x="658368" y="3657600"/>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Reglas en un artefacto firmado, no en el código</a:t>
            </a:r>
            <a:endParaRPr lang="en-US" sz="1200" dirty="0"/>
          </a:p>
        </p:txBody>
      </p:sp>
      <p:sp>
        <p:nvSpPr>
          <p:cNvPr id="19" name="Text 16"/>
          <p:cNvSpPr txBox="1"/>
          <p:nvPr/>
        </p:nvSpPr>
        <p:spPr>
          <a:xfrm>
            <a:off x="3968496" y="3657600"/>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Una regla debe poder revisarla una persona de negocio, versionarse y llevar firma.</a:t>
            </a:r>
            <a:endParaRPr lang="en-US" sz="1100" dirty="0"/>
          </a:p>
        </p:txBody>
      </p:sp>
      <p:sp>
        <p:nvSpPr>
          <p:cNvPr id="20" name="Text 17"/>
          <p:cNvSpPr txBox="1"/>
          <p:nvPr/>
        </p:nvSpPr>
        <p:spPr>
          <a:xfrm>
            <a:off x="8339328" y="3657600"/>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Un lenguaje de predicados cerrado y deliberadamente corto.</a:t>
            </a:r>
            <a:endParaRPr lang="en-US" sz="1100" dirty="0"/>
          </a:p>
        </p:txBody>
      </p:sp>
      <p:sp>
        <p:nvSpPr>
          <p:cNvPr id="21" name="Text 18"/>
          <p:cNvSpPr txBox="1"/>
          <p:nvPr/>
        </p:nvSpPr>
        <p:spPr>
          <a:xfrm>
            <a:off x="658368" y="4215384"/>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Salida estructurada para extraer hechos</a:t>
            </a:r>
            <a:endParaRPr lang="en-US" sz="1200" dirty="0"/>
          </a:p>
        </p:txBody>
      </p:sp>
      <p:sp>
        <p:nvSpPr>
          <p:cNvPr id="22" name="Text 19"/>
          <p:cNvSpPr txBox="1"/>
          <p:nvPr/>
        </p:nvSpPr>
        <p:spPr>
          <a:xfrm>
            <a:off x="3968496" y="4215384"/>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modelo rellena un vocabulario cerrado; no redacta la conclusión.</a:t>
            </a:r>
            <a:endParaRPr lang="en-US" sz="1100" dirty="0"/>
          </a:p>
        </p:txBody>
      </p:sp>
      <p:sp>
        <p:nvSpPr>
          <p:cNvPr id="23" name="Text 20"/>
          <p:cNvSpPr txBox="1"/>
          <p:nvPr/>
        </p:nvSpPr>
        <p:spPr>
          <a:xfrm>
            <a:off x="8339328" y="4215384"/>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Un prompt de extracción largo y muy acotado que hay que mantener.</a:t>
            </a:r>
            <a:endParaRPr lang="en-US" sz="1100" dirty="0"/>
          </a:p>
        </p:txBody>
      </p:sp>
      <p:sp>
        <p:nvSpPr>
          <p:cNvPr id="24" name="Shape 21"/>
          <p:cNvSpPr/>
          <p:nvPr/>
        </p:nvSpPr>
        <p:spPr>
          <a:xfrm>
            <a:off x="566928" y="4681728"/>
            <a:ext cx="11057839" cy="502920"/>
          </a:xfrm>
          <a:prstGeom prst="roundRect">
            <a:avLst>
              <a:gd name="adj" fmla="val 16364"/>
            </a:avLst>
          </a:prstGeom>
          <a:solidFill>
            <a:srgbClr val="F1F6FC"/>
          </a:solidFill>
          <a:ln/>
        </p:spPr>
      </p:sp>
      <p:sp>
        <p:nvSpPr>
          <p:cNvPr id="25" name="Text 22"/>
          <p:cNvSpPr txBox="1"/>
          <p:nvPr/>
        </p:nvSpPr>
        <p:spPr>
          <a:xfrm>
            <a:off x="658368" y="4773168"/>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Recuperación híbrida con fusión nativa</a:t>
            </a:r>
            <a:endParaRPr lang="en-US" sz="1200" dirty="0"/>
          </a:p>
        </p:txBody>
      </p:sp>
      <p:sp>
        <p:nvSpPr>
          <p:cNvPr id="26" name="Text 23"/>
          <p:cNvSpPr txBox="1"/>
          <p:nvPr/>
        </p:nvSpPr>
        <p:spPr>
          <a:xfrm>
            <a:off x="3968496" y="4773168"/>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manual mezcla lenguaje jurídico con referencias literales como «b.10» o «art. 35».</a:t>
            </a:r>
            <a:endParaRPr lang="en-US" sz="1100" dirty="0"/>
          </a:p>
        </p:txBody>
      </p:sp>
      <p:sp>
        <p:nvSpPr>
          <p:cNvPr id="27" name="Text 24"/>
          <p:cNvSpPr txBox="1"/>
          <p:nvPr/>
        </p:nvSpPr>
        <p:spPr>
          <a:xfrm>
            <a:off x="8339328" y="4773168"/>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Dos representaciones del texto que mantener sincronizadas.</a:t>
            </a:r>
            <a:endParaRPr lang="en-US" sz="1100" dirty="0"/>
          </a:p>
        </p:txBody>
      </p:sp>
      <p:sp>
        <p:nvSpPr>
          <p:cNvPr id="28" name="Text 25"/>
          <p:cNvSpPr txBox="1"/>
          <p:nvPr/>
        </p:nvSpPr>
        <p:spPr>
          <a:xfrm>
            <a:off x="658368" y="5330952"/>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Langfuse autoalojado en vez de SaaS</a:t>
            </a:r>
            <a:endParaRPr lang="en-US" sz="1200" dirty="0"/>
          </a:p>
        </p:txBody>
      </p:sp>
      <p:sp>
        <p:nvSpPr>
          <p:cNvPr id="29" name="Text 26"/>
          <p:cNvSpPr txBox="1"/>
          <p:nvPr/>
        </p:nvSpPr>
        <p:spPr>
          <a:xfrm>
            <a:off x="3968496" y="5330952"/>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Trazas, datasets y experimentos sin que salga un solo dato de la máquina.</a:t>
            </a:r>
            <a:endParaRPr lang="en-US" sz="1100" dirty="0"/>
          </a:p>
        </p:txBody>
      </p:sp>
      <p:sp>
        <p:nvSpPr>
          <p:cNvPr id="30" name="Text 27"/>
          <p:cNvSpPr txBox="1"/>
          <p:nvPr/>
        </p:nvSpPr>
        <p:spPr>
          <a:xfrm>
            <a:off x="8339328" y="5330952"/>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Siete contenedores que operar en local.</a:t>
            </a:r>
            <a:endParaRPr lang="en-US" sz="110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Las seis comparten una intención: que dentro de seis meses se pueda cambiar el modelo, el índice o el orquestador sin volver a discutir quién responde en un alcance por detrás.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12</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03</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Arquitectura</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Evidencia, orquestación y decisión como capas separadas.</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Cambiar cualquiera de las tres sin tocar las otras dos.</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A3E7A"/>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ARQUITECTURA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núcleo de negocio no sabe que existen FastAPI, LangGraph, OpenAI ni Qdrant.</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dominio define el problema, la aplicación define los puertos, la infraestructura los implementa.</a:t>
            </a:r>
            <a:endParaRPr lang="en-US" sz="1350" dirty="0"/>
          </a:p>
        </p:txBody>
      </p:sp>
      <p:sp>
        <p:nvSpPr>
          <p:cNvPr id="7" name="Shape 4"/>
          <p:cNvSpPr/>
          <p:nvPr/>
        </p:nvSpPr>
        <p:spPr>
          <a:xfrm>
            <a:off x="3310128" y="2395728"/>
            <a:ext cx="5577840" cy="2615184"/>
          </a:xfrm>
          <a:prstGeom prst="roundRect">
            <a:avLst>
              <a:gd name="adj" fmla="val 4895"/>
            </a:avLst>
          </a:prstGeom>
          <a:solidFill>
            <a:srgbClr val="E6F0F9"/>
          </a:solidFill>
          <a:ln/>
        </p:spPr>
      </p:sp>
      <p:sp>
        <p:nvSpPr>
          <p:cNvPr id="8" name="Text 5"/>
          <p:cNvSpPr txBox="1"/>
          <p:nvPr/>
        </p:nvSpPr>
        <p:spPr>
          <a:xfrm>
            <a:off x="3310128" y="2560320"/>
            <a:ext cx="5577840" cy="237744"/>
          </a:xfrm>
          <a:prstGeom prst="rect">
            <a:avLst/>
          </a:prstGeom>
          <a:noFill/>
          <a:ln/>
        </p:spPr>
        <p:txBody>
          <a:bodyPr wrap="square" lIns="0" tIns="0" rIns="0" bIns="0" rtlCol="0" anchor="t"/>
          <a:lstStyle/>
          <a:p>
            <a:pPr algn="ctr" indent="0" marL="0">
              <a:buNone/>
            </a:pPr>
            <a:r>
              <a:rPr lang="en-US" sz="1100" b="1" spc="140" kern="0" dirty="0">
                <a:solidFill>
                  <a:srgbClr val="003781"/>
                </a:solidFill>
                <a:latin typeface="Arial" pitchFamily="34" charset="0"/>
                <a:ea typeface="Arial" pitchFamily="34" charset="-122"/>
                <a:cs typeface="Arial" pitchFamily="34" charset="-120"/>
              </a:rPr>
              <a:t>APLICACIÓN</a:t>
            </a:r>
            <a:endParaRPr lang="en-US" sz="1100" dirty="0"/>
          </a:p>
        </p:txBody>
      </p:sp>
      <p:sp>
        <p:nvSpPr>
          <p:cNvPr id="9" name="Text 6"/>
          <p:cNvSpPr txBox="1"/>
          <p:nvPr/>
        </p:nvSpPr>
        <p:spPr>
          <a:xfrm>
            <a:off x="3310128" y="2798064"/>
            <a:ext cx="5577840" cy="219456"/>
          </a:xfrm>
          <a:prstGeom prst="rect">
            <a:avLst/>
          </a:prstGeom>
          <a:noFill/>
          <a:ln/>
        </p:spPr>
        <p:txBody>
          <a:bodyPr wrap="square" lIns="0" tIns="0" rIns="0" bIns="0" rtlCol="0" anchor="t"/>
          <a:lstStyle/>
          <a:p>
            <a:pPr algn="ctr" indent="0" marL="0">
              <a:buNone/>
            </a:pPr>
            <a:r>
              <a:rPr lang="en-US" sz="1100" dirty="0">
                <a:solidFill>
                  <a:srgbClr val="003781"/>
                </a:solidFill>
                <a:latin typeface="Calibri" pitchFamily="34" charset="0"/>
                <a:ea typeface="Calibri" pitchFamily="34" charset="-122"/>
                <a:cs typeface="Calibri" pitchFamily="34" charset="-120"/>
              </a:rPr>
              <a:t>casos de uso · servicios · 5 puertos de entrada · 12 puertos de salida</a:t>
            </a:r>
            <a:endParaRPr lang="en-US" sz="1100" dirty="0"/>
          </a:p>
        </p:txBody>
      </p:sp>
      <p:sp>
        <p:nvSpPr>
          <p:cNvPr id="10" name="Shape 7"/>
          <p:cNvSpPr/>
          <p:nvPr/>
        </p:nvSpPr>
        <p:spPr>
          <a:xfrm>
            <a:off x="3913632" y="3145536"/>
            <a:ext cx="4370832" cy="1572768"/>
          </a:xfrm>
          <a:prstGeom prst="roundRect">
            <a:avLst>
              <a:gd name="adj" fmla="val 6977"/>
            </a:avLst>
          </a:prstGeom>
          <a:solidFill>
            <a:srgbClr val="003781"/>
          </a:solidFill>
          <a:ln/>
        </p:spPr>
      </p:sp>
      <p:sp>
        <p:nvSpPr>
          <p:cNvPr id="11" name="Text 8"/>
          <p:cNvSpPr txBox="1"/>
          <p:nvPr/>
        </p:nvSpPr>
        <p:spPr>
          <a:xfrm>
            <a:off x="3913632" y="3401568"/>
            <a:ext cx="4370832" cy="365760"/>
          </a:xfrm>
          <a:prstGeom prst="rect">
            <a:avLst/>
          </a:prstGeom>
          <a:noFill/>
          <a:ln/>
        </p:spPr>
        <p:txBody>
          <a:bodyPr wrap="square" lIns="0" tIns="0" rIns="0" bIns="0" rtlCol="0" anchor="t"/>
          <a:lstStyle/>
          <a:p>
            <a:pPr algn="ctr" indent="0" marL="0">
              <a:buNone/>
            </a:pPr>
            <a:r>
              <a:rPr lang="en-US" sz="2000" b="1" dirty="0">
                <a:solidFill>
                  <a:srgbClr val="FFFFFF"/>
                </a:solidFill>
                <a:latin typeface="Arial" pitchFamily="34" charset="0"/>
                <a:ea typeface="Arial" pitchFamily="34" charset="-122"/>
                <a:cs typeface="Arial" pitchFamily="34" charset="-120"/>
              </a:rPr>
              <a:t>DOMINIO</a:t>
            </a:r>
            <a:endParaRPr lang="en-US" sz="2000" dirty="0"/>
          </a:p>
        </p:txBody>
      </p:sp>
      <p:sp>
        <p:nvSpPr>
          <p:cNvPr id="12" name="Text 9"/>
          <p:cNvSpPr txBox="1"/>
          <p:nvPr/>
        </p:nvSpPr>
        <p:spPr>
          <a:xfrm>
            <a:off x="3913632" y="3822192"/>
            <a:ext cx="4370832" cy="603504"/>
          </a:xfrm>
          <a:prstGeom prst="rect">
            <a:avLst/>
          </a:prstGeom>
          <a:noFill/>
          <a:ln/>
        </p:spPr>
        <p:txBody>
          <a:bodyPr wrap="square" lIns="0" tIns="0" rIns="0" bIns="0" rtlCol="0" anchor="t"/>
          <a:lstStyle/>
          <a:p>
            <a:pPr algn="ctr" indent="0" marL="0">
              <a:lnSpc>
                <a:spcPct val="110000"/>
              </a:lnSpc>
              <a:buNone/>
            </a:pPr>
            <a:r>
              <a:rPr lang="en-US" sz="1200" dirty="0">
                <a:solidFill>
                  <a:srgbClr val="C9DEF2"/>
                </a:solidFill>
                <a:latin typeface="Calibri" pitchFamily="34" charset="0"/>
                <a:ea typeface="Calibri" pitchFamily="34" charset="-122"/>
                <a:cs typeface="Calibri" pitchFamily="34" charset="-120"/>
              </a:rPr>
              <a:t>modelos · reglas del Convenio · decisiones</a:t>
            </a:r>
            <a:endParaRPr lang="en-US" sz="1200" dirty="0"/>
          </a:p>
          <a:p>
            <a:pPr algn="ctr" indent="0" marL="0">
              <a:lnSpc>
                <a:spcPct val="110000"/>
              </a:lnSpc>
              <a:buNone/>
            </a:pPr>
            <a:r>
              <a:rPr lang="en-US" sz="1200" dirty="0">
                <a:solidFill>
                  <a:srgbClr val="C9DEF2"/>
                </a:solidFill>
                <a:latin typeface="Calibri" pitchFamily="34" charset="0"/>
                <a:ea typeface="Calibri" pitchFamily="34" charset="-122"/>
                <a:cs typeface="Calibri" pitchFamily="34" charset="-120"/>
              </a:rPr>
              <a:t>cero dependencias externas</a:t>
            </a:r>
            <a:endParaRPr lang="en-US" sz="1200" dirty="0"/>
          </a:p>
        </p:txBody>
      </p:sp>
      <p:sp>
        <p:nvSpPr>
          <p:cNvPr id="13" name="Text 10"/>
          <p:cNvSpPr txBox="1"/>
          <p:nvPr/>
        </p:nvSpPr>
        <p:spPr>
          <a:xfrm>
            <a:off x="566928" y="2121408"/>
            <a:ext cx="246888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ADAPTADORES DE ENTRADA</a:t>
            </a:r>
            <a:endParaRPr lang="en-US" sz="950" dirty="0"/>
          </a:p>
        </p:txBody>
      </p:sp>
      <p:sp>
        <p:nvSpPr>
          <p:cNvPr id="14" name="Shape 11"/>
          <p:cNvSpPr/>
          <p:nvPr/>
        </p:nvSpPr>
        <p:spPr>
          <a:xfrm>
            <a:off x="566928" y="3035808"/>
            <a:ext cx="2468880" cy="621792"/>
          </a:xfrm>
          <a:prstGeom prst="roundRect">
            <a:avLst>
              <a:gd name="adj" fmla="val 1470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5" name="Text 12"/>
          <p:cNvSpPr txBox="1"/>
          <p:nvPr/>
        </p:nvSpPr>
        <p:spPr>
          <a:xfrm>
            <a:off x="731520" y="3136392"/>
            <a:ext cx="2139696" cy="219456"/>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API HTTP + SSE</a:t>
            </a:r>
            <a:endParaRPr lang="en-US" sz="1250" dirty="0"/>
          </a:p>
        </p:txBody>
      </p:sp>
      <p:sp>
        <p:nvSpPr>
          <p:cNvPr id="16" name="Text 13"/>
          <p:cNvSpPr txBox="1"/>
          <p:nvPr/>
        </p:nvSpPr>
        <p:spPr>
          <a:xfrm>
            <a:off x="731520" y="3374136"/>
            <a:ext cx="2139696" cy="201168"/>
          </a:xfrm>
          <a:prstGeom prst="rect">
            <a:avLst/>
          </a:prstGeom>
          <a:noFill/>
          <a:ln/>
        </p:spPr>
        <p:txBody>
          <a:bodyPr wrap="square" lIns="0" tIns="0" rIns="0" bIns="0" rtlCol="0" anchor="t"/>
          <a:lstStyle/>
          <a:p>
            <a:pPr indent="0" marL="0">
              <a:buNone/>
            </a:pPr>
            <a:r>
              <a:rPr lang="en-US" sz="1000" dirty="0">
                <a:solidFill>
                  <a:srgbClr val="5D7189"/>
                </a:solidFill>
                <a:latin typeface="Courier New" pitchFamily="34" charset="0"/>
                <a:ea typeface="Courier New" pitchFamily="34" charset="-122"/>
                <a:cs typeface="Courier New" pitchFamily="34" charset="-120"/>
              </a:rPr>
              <a:t>FastAPI</a:t>
            </a:r>
            <a:endParaRPr lang="en-US" sz="1000" dirty="0"/>
          </a:p>
        </p:txBody>
      </p:sp>
      <p:sp>
        <p:nvSpPr>
          <p:cNvPr id="17" name="Shape 14"/>
          <p:cNvSpPr/>
          <p:nvPr/>
        </p:nvSpPr>
        <p:spPr>
          <a:xfrm>
            <a:off x="3035808" y="3346704"/>
            <a:ext cx="841248" cy="0"/>
          </a:xfrm>
          <a:prstGeom prst="line">
            <a:avLst/>
          </a:prstGeom>
          <a:noFill/>
          <a:ln w="15875">
            <a:solidFill>
              <a:srgbClr val="0079C1"/>
            </a:solidFill>
            <a:prstDash val="solid"/>
          </a:ln>
        </p:spPr>
      </p:sp>
      <p:sp>
        <p:nvSpPr>
          <p:cNvPr id="18" name="Shape 15"/>
          <p:cNvSpPr/>
          <p:nvPr/>
        </p:nvSpPr>
        <p:spPr>
          <a:xfrm>
            <a:off x="566928" y="3822192"/>
            <a:ext cx="2468880" cy="621792"/>
          </a:xfrm>
          <a:prstGeom prst="roundRect">
            <a:avLst>
              <a:gd name="adj" fmla="val 1470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731520" y="3922776"/>
            <a:ext cx="2139696" cy="219456"/>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Línea de comandos</a:t>
            </a:r>
            <a:endParaRPr lang="en-US" sz="1250" dirty="0"/>
          </a:p>
        </p:txBody>
      </p:sp>
      <p:sp>
        <p:nvSpPr>
          <p:cNvPr id="20" name="Text 17"/>
          <p:cNvSpPr txBox="1"/>
          <p:nvPr/>
        </p:nvSpPr>
        <p:spPr>
          <a:xfrm>
            <a:off x="731520" y="4160520"/>
            <a:ext cx="2139696" cy="201168"/>
          </a:xfrm>
          <a:prstGeom prst="rect">
            <a:avLst/>
          </a:prstGeom>
          <a:noFill/>
          <a:ln/>
        </p:spPr>
        <p:txBody>
          <a:bodyPr wrap="square" lIns="0" tIns="0" rIns="0" bIns="0" rtlCol="0" anchor="t"/>
          <a:lstStyle/>
          <a:p>
            <a:pPr indent="0" marL="0">
              <a:buNone/>
            </a:pPr>
            <a:r>
              <a:rPr lang="en-US" sz="1000" dirty="0">
                <a:solidFill>
                  <a:srgbClr val="5D7189"/>
                </a:solidFill>
                <a:latin typeface="Courier New" pitchFamily="34" charset="0"/>
                <a:ea typeface="Courier New" pitchFamily="34" charset="-122"/>
                <a:cs typeface="Courier New" pitchFamily="34" charset="-120"/>
              </a:rPr>
              <a:t>allianz</a:t>
            </a:r>
            <a:endParaRPr lang="en-US" sz="1000" dirty="0"/>
          </a:p>
        </p:txBody>
      </p:sp>
      <p:sp>
        <p:nvSpPr>
          <p:cNvPr id="21" name="Shape 18"/>
          <p:cNvSpPr/>
          <p:nvPr/>
        </p:nvSpPr>
        <p:spPr>
          <a:xfrm>
            <a:off x="3035808" y="4133088"/>
            <a:ext cx="841248" cy="0"/>
          </a:xfrm>
          <a:prstGeom prst="line">
            <a:avLst/>
          </a:prstGeom>
          <a:noFill/>
          <a:ln w="15875">
            <a:solidFill>
              <a:srgbClr val="0079C1"/>
            </a:solidFill>
            <a:prstDash val="solid"/>
          </a:ln>
        </p:spPr>
      </p:sp>
      <p:sp>
        <p:nvSpPr>
          <p:cNvPr id="22" name="Text 19"/>
          <p:cNvSpPr txBox="1"/>
          <p:nvPr/>
        </p:nvSpPr>
        <p:spPr>
          <a:xfrm>
            <a:off x="9155887" y="2121408"/>
            <a:ext cx="2468880" cy="219456"/>
          </a:xfrm>
          <a:prstGeom prst="rect">
            <a:avLst/>
          </a:prstGeom>
          <a:noFill/>
          <a:ln/>
        </p:spPr>
        <p:txBody>
          <a:bodyPr wrap="square" lIns="0" tIns="0" rIns="0" bIns="0" rtlCol="0" anchor="t"/>
          <a:lstStyle/>
          <a:p>
            <a:pPr algn="r" indent="0" marL="0">
              <a:buNone/>
            </a:pPr>
            <a:r>
              <a:rPr lang="en-US" sz="950" b="1" spc="110" kern="0" dirty="0">
                <a:solidFill>
                  <a:srgbClr val="8296AC"/>
                </a:solidFill>
                <a:latin typeface="Arial" pitchFamily="34" charset="0"/>
                <a:ea typeface="Arial" pitchFamily="34" charset="-122"/>
                <a:cs typeface="Arial" pitchFamily="34" charset="-120"/>
              </a:rPr>
              <a:t>ADAPTADORES DE SALIDA</a:t>
            </a:r>
            <a:endParaRPr lang="en-US" sz="950" dirty="0"/>
          </a:p>
        </p:txBody>
      </p:sp>
      <p:sp>
        <p:nvSpPr>
          <p:cNvPr id="23" name="Shape 20"/>
          <p:cNvSpPr/>
          <p:nvPr/>
        </p:nvSpPr>
        <p:spPr>
          <a:xfrm>
            <a:off x="9155887" y="2432304"/>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Text 21"/>
          <p:cNvSpPr txBox="1"/>
          <p:nvPr/>
        </p:nvSpPr>
        <p:spPr>
          <a:xfrm>
            <a:off x="9302191" y="2487168"/>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Orquestación</a:t>
            </a:r>
            <a:endParaRPr lang="en-US" sz="1150" dirty="0"/>
          </a:p>
        </p:txBody>
      </p:sp>
      <p:sp>
        <p:nvSpPr>
          <p:cNvPr id="25" name="Text 22"/>
          <p:cNvSpPr txBox="1"/>
          <p:nvPr/>
        </p:nvSpPr>
        <p:spPr>
          <a:xfrm>
            <a:off x="9302191" y="2688336"/>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LangGraph</a:t>
            </a:r>
            <a:endParaRPr lang="en-US" sz="950" dirty="0"/>
          </a:p>
        </p:txBody>
      </p:sp>
      <p:sp>
        <p:nvSpPr>
          <p:cNvPr id="26" name="Shape 23"/>
          <p:cNvSpPr/>
          <p:nvPr/>
        </p:nvSpPr>
        <p:spPr>
          <a:xfrm>
            <a:off x="8887968" y="2670048"/>
            <a:ext cx="267919" cy="0"/>
          </a:xfrm>
          <a:prstGeom prst="line">
            <a:avLst/>
          </a:prstGeom>
          <a:noFill/>
          <a:ln w="15875">
            <a:solidFill>
              <a:srgbClr val="0079C1"/>
            </a:solidFill>
            <a:prstDash val="solid"/>
          </a:ln>
        </p:spPr>
      </p:sp>
      <p:sp>
        <p:nvSpPr>
          <p:cNvPr id="27" name="Shape 24"/>
          <p:cNvSpPr/>
          <p:nvPr/>
        </p:nvSpPr>
        <p:spPr>
          <a:xfrm>
            <a:off x="9155887" y="2962656"/>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9302191" y="3017520"/>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Modelos y embeddings</a:t>
            </a:r>
            <a:endParaRPr lang="en-US" sz="1150" dirty="0"/>
          </a:p>
        </p:txBody>
      </p:sp>
      <p:sp>
        <p:nvSpPr>
          <p:cNvPr id="29" name="Text 26"/>
          <p:cNvSpPr txBox="1"/>
          <p:nvPr/>
        </p:nvSpPr>
        <p:spPr>
          <a:xfrm>
            <a:off x="9302191" y="3218688"/>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OpenAI</a:t>
            </a:r>
            <a:endParaRPr lang="en-US" sz="950" dirty="0"/>
          </a:p>
        </p:txBody>
      </p:sp>
      <p:sp>
        <p:nvSpPr>
          <p:cNvPr id="30" name="Shape 27"/>
          <p:cNvSpPr/>
          <p:nvPr/>
        </p:nvSpPr>
        <p:spPr>
          <a:xfrm>
            <a:off x="8887968" y="3200400"/>
            <a:ext cx="267919" cy="0"/>
          </a:xfrm>
          <a:prstGeom prst="line">
            <a:avLst/>
          </a:prstGeom>
          <a:noFill/>
          <a:ln w="15875">
            <a:solidFill>
              <a:srgbClr val="0079C1"/>
            </a:solidFill>
            <a:prstDash val="solid"/>
          </a:ln>
        </p:spPr>
      </p:sp>
      <p:sp>
        <p:nvSpPr>
          <p:cNvPr id="31" name="Shape 28"/>
          <p:cNvSpPr/>
          <p:nvPr/>
        </p:nvSpPr>
        <p:spPr>
          <a:xfrm>
            <a:off x="9155887" y="3493008"/>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Text 29"/>
          <p:cNvSpPr txBox="1"/>
          <p:nvPr/>
        </p:nvSpPr>
        <p:spPr>
          <a:xfrm>
            <a:off x="9302191" y="3547872"/>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Índice vectorial y léxico</a:t>
            </a:r>
            <a:endParaRPr lang="en-US" sz="1150" dirty="0"/>
          </a:p>
        </p:txBody>
      </p:sp>
      <p:sp>
        <p:nvSpPr>
          <p:cNvPr id="33" name="Text 30"/>
          <p:cNvSpPr txBox="1"/>
          <p:nvPr/>
        </p:nvSpPr>
        <p:spPr>
          <a:xfrm>
            <a:off x="9302191" y="3749040"/>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Qdrant</a:t>
            </a:r>
            <a:endParaRPr lang="en-US" sz="950" dirty="0"/>
          </a:p>
        </p:txBody>
      </p:sp>
      <p:sp>
        <p:nvSpPr>
          <p:cNvPr id="34" name="Shape 31"/>
          <p:cNvSpPr/>
          <p:nvPr/>
        </p:nvSpPr>
        <p:spPr>
          <a:xfrm>
            <a:off x="8887968" y="3730752"/>
            <a:ext cx="267919" cy="0"/>
          </a:xfrm>
          <a:prstGeom prst="line">
            <a:avLst/>
          </a:prstGeom>
          <a:noFill/>
          <a:ln w="15875">
            <a:solidFill>
              <a:srgbClr val="0079C1"/>
            </a:solidFill>
            <a:prstDash val="solid"/>
          </a:ln>
        </p:spPr>
      </p:sp>
      <p:sp>
        <p:nvSpPr>
          <p:cNvPr id="35" name="Shape 32"/>
          <p:cNvSpPr/>
          <p:nvPr/>
        </p:nvSpPr>
        <p:spPr>
          <a:xfrm>
            <a:off x="9155887" y="4023360"/>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6" name="Text 33"/>
          <p:cNvSpPr txBox="1"/>
          <p:nvPr/>
        </p:nvSpPr>
        <p:spPr>
          <a:xfrm>
            <a:off x="9302191" y="4078224"/>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Extracción del PDF</a:t>
            </a:r>
            <a:endParaRPr lang="en-US" sz="1150" dirty="0"/>
          </a:p>
        </p:txBody>
      </p:sp>
      <p:sp>
        <p:nvSpPr>
          <p:cNvPr id="37" name="Text 34"/>
          <p:cNvSpPr txBox="1"/>
          <p:nvPr/>
        </p:nvSpPr>
        <p:spPr>
          <a:xfrm>
            <a:off x="9302191" y="4279392"/>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pypdf · Docling</a:t>
            </a:r>
            <a:endParaRPr lang="en-US" sz="950" dirty="0"/>
          </a:p>
        </p:txBody>
      </p:sp>
      <p:sp>
        <p:nvSpPr>
          <p:cNvPr id="38" name="Shape 35"/>
          <p:cNvSpPr/>
          <p:nvPr/>
        </p:nvSpPr>
        <p:spPr>
          <a:xfrm>
            <a:off x="8887968" y="4261104"/>
            <a:ext cx="267919" cy="0"/>
          </a:xfrm>
          <a:prstGeom prst="line">
            <a:avLst/>
          </a:prstGeom>
          <a:noFill/>
          <a:ln w="15875">
            <a:solidFill>
              <a:srgbClr val="0079C1"/>
            </a:solidFill>
            <a:prstDash val="solid"/>
          </a:ln>
        </p:spPr>
      </p:sp>
      <p:sp>
        <p:nvSpPr>
          <p:cNvPr id="39" name="Shape 36"/>
          <p:cNvSpPr/>
          <p:nvPr/>
        </p:nvSpPr>
        <p:spPr>
          <a:xfrm>
            <a:off x="9155887" y="4553712"/>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40" name="Text 37"/>
          <p:cNvSpPr txBox="1"/>
          <p:nvPr/>
        </p:nvSpPr>
        <p:spPr>
          <a:xfrm>
            <a:off x="9302191" y="4608576"/>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Trazas y experimentos</a:t>
            </a:r>
            <a:endParaRPr lang="en-US" sz="1150" dirty="0"/>
          </a:p>
        </p:txBody>
      </p:sp>
      <p:sp>
        <p:nvSpPr>
          <p:cNvPr id="41" name="Text 38"/>
          <p:cNvSpPr txBox="1"/>
          <p:nvPr/>
        </p:nvSpPr>
        <p:spPr>
          <a:xfrm>
            <a:off x="9302191" y="4809744"/>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Langfuse</a:t>
            </a:r>
            <a:endParaRPr lang="en-US" sz="950" dirty="0"/>
          </a:p>
        </p:txBody>
      </p:sp>
      <p:sp>
        <p:nvSpPr>
          <p:cNvPr id="42" name="Shape 39"/>
          <p:cNvSpPr/>
          <p:nvPr/>
        </p:nvSpPr>
        <p:spPr>
          <a:xfrm>
            <a:off x="8887968" y="4791456"/>
            <a:ext cx="267919" cy="0"/>
          </a:xfrm>
          <a:prstGeom prst="line">
            <a:avLst/>
          </a:prstGeom>
          <a:noFill/>
          <a:ln w="15875">
            <a:solidFill>
              <a:srgbClr val="0079C1"/>
            </a:solidFill>
            <a:prstDash val="solid"/>
          </a:ln>
        </p:spPr>
      </p:sp>
      <p:sp>
        <p:nvSpPr>
          <p:cNvPr id="43" name="Shape 40"/>
          <p:cNvSpPr/>
          <p:nvPr/>
        </p:nvSpPr>
        <p:spPr>
          <a:xfrm>
            <a:off x="566928" y="5724144"/>
            <a:ext cx="11057839" cy="566928"/>
          </a:xfrm>
          <a:prstGeom prst="roundRect">
            <a:avLst>
              <a:gd name="adj" fmla="val 16129"/>
            </a:avLst>
          </a:prstGeom>
          <a:solidFill>
            <a:srgbClr val="003781"/>
          </a:solidFill>
          <a:ln/>
        </p:spPr>
      </p:sp>
      <p:sp>
        <p:nvSpPr>
          <p:cNvPr id="44" name="Text 41"/>
          <p:cNvSpPr txBox="1"/>
          <p:nvPr/>
        </p:nvSpPr>
        <p:spPr>
          <a:xfrm>
            <a:off x="841248" y="5870448"/>
            <a:ext cx="5394960" cy="274320"/>
          </a:xfrm>
          <a:prstGeom prst="rect">
            <a:avLst/>
          </a:prstGeom>
          <a:noFill/>
          <a:ln/>
        </p:spPr>
        <p:txBody>
          <a:bodyPr wrap="square" lIns="0" tIns="0" rIns="0" bIns="0" rtlCol="0" anchor="t"/>
          <a:lstStyle/>
          <a:p>
            <a:pPr indent="0" marL="0">
              <a:buNone/>
            </a:pPr>
            <a:r>
              <a:rPr lang="en-US" sz="1100" dirty="0">
                <a:solidFill>
                  <a:srgbClr val="5AB6E8"/>
                </a:solidFill>
                <a:latin typeface="Courier New" pitchFamily="34" charset="0"/>
                <a:ea typeface="Courier New" pitchFamily="34" charset="-122"/>
                <a:cs typeface="Courier New" pitchFamily="34" charset="-120"/>
              </a:rPr>
              <a:t>grep -rE "fastapi|langgraph|openai|qdrant" backend/src/domain/</a:t>
            </a:r>
            <a:endParaRPr lang="en-US" sz="1100" dirty="0"/>
          </a:p>
        </p:txBody>
      </p:sp>
      <p:sp>
        <p:nvSpPr>
          <p:cNvPr id="45" name="Text 42"/>
          <p:cNvSpPr txBox="1"/>
          <p:nvPr/>
        </p:nvSpPr>
        <p:spPr>
          <a:xfrm>
            <a:off x="6309360" y="5861304"/>
            <a:ext cx="502920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   0 resultados.   La frontera no es una intención de diseño: es comprobable.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03 · ARQUITECTURA</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14</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900" b="1" dirty="0">
                <a:solidFill>
                  <a:srgbClr val="FFFFFF"/>
                </a:solidFill>
                <a:latin typeface="Arial" pitchFamily="34" charset="0"/>
                <a:ea typeface="Arial" pitchFamily="34" charset="-122"/>
                <a:cs typeface="Arial" pitchFamily="34" charset="-120"/>
              </a:rPr>
              <a:t>Cada pieza del stack es reemplazable porque ninguna está en el centro.</a:t>
            </a:r>
            <a:endParaRPr lang="en-US" sz="29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La prueba de que la frontera es real no es el diagrama: es que dos parsers y dos índices ya conviven publicados sin que el dominio se haya enterado.</a:t>
            </a:r>
            <a:endParaRPr lang="en-US" sz="1350" dirty="0"/>
          </a:p>
        </p:txBody>
      </p:sp>
      <p:sp>
        <p:nvSpPr>
          <p:cNvPr id="8" name="Shape 5"/>
          <p:cNvSpPr/>
          <p:nvPr/>
        </p:nvSpPr>
        <p:spPr>
          <a:xfrm>
            <a:off x="566928" y="2395728"/>
            <a:ext cx="2585923" cy="3054096"/>
          </a:xfrm>
          <a:prstGeom prst="roundRect">
            <a:avLst>
              <a:gd name="adj" fmla="val 3536"/>
            </a:avLst>
          </a:prstGeom>
          <a:solidFill>
            <a:srgbClr val="0A3E7A"/>
          </a:solidFill>
          <a:ln w="12700">
            <a:solidFill>
              <a:srgbClr val="2D639F"/>
            </a:solidFill>
            <a:prstDash val="solid"/>
          </a:ln>
        </p:spPr>
      </p:sp>
      <p:sp>
        <p:nvSpPr>
          <p:cNvPr id="9" name="Text 6"/>
          <p:cNvSpPr txBox="1"/>
          <p:nvPr/>
        </p:nvSpPr>
        <p:spPr>
          <a:xfrm>
            <a:off x="804672"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ORQUESTACIÓN</a:t>
            </a:r>
            <a:endParaRPr lang="en-US" sz="1050" dirty="0"/>
          </a:p>
        </p:txBody>
      </p:sp>
      <p:sp>
        <p:nvSpPr>
          <p:cNvPr id="10" name="Text 7"/>
          <p:cNvSpPr txBox="1"/>
          <p:nvPr/>
        </p:nvSpPr>
        <p:spPr>
          <a:xfrm>
            <a:off x="804672"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LangGraph</a:t>
            </a:r>
            <a:endParaRPr lang="en-US" sz="1700" dirty="0"/>
          </a:p>
        </p:txBody>
      </p:sp>
      <p:sp>
        <p:nvSpPr>
          <p:cNvPr id="11" name="Shape 8"/>
          <p:cNvSpPr/>
          <p:nvPr/>
        </p:nvSpPr>
        <p:spPr>
          <a:xfrm>
            <a:off x="804672" y="3364992"/>
            <a:ext cx="2110435" cy="877824"/>
          </a:xfrm>
          <a:prstGeom prst="roundRect">
            <a:avLst>
              <a:gd name="adj" fmla="val 8333"/>
            </a:avLst>
          </a:prstGeom>
          <a:solidFill>
            <a:srgbClr val="002A5E"/>
          </a:solidFill>
          <a:ln/>
        </p:spPr>
      </p:sp>
      <p:sp>
        <p:nvSpPr>
          <p:cNvPr id="12" name="Text 9"/>
          <p:cNvSpPr txBox="1"/>
          <p:nvPr/>
        </p:nvSpPr>
        <p:spPr>
          <a:xfrm>
            <a:off x="932688"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question_workflow</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claim_workflow</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query_workflow</a:t>
            </a:r>
            <a:endParaRPr lang="en-US" sz="950" dirty="0"/>
          </a:p>
        </p:txBody>
      </p:sp>
      <p:sp>
        <p:nvSpPr>
          <p:cNvPr id="13" name="Text 10"/>
          <p:cNvSpPr txBox="1"/>
          <p:nvPr/>
        </p:nvSpPr>
        <p:spPr>
          <a:xfrm>
            <a:off x="804672"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Los casos de uso hablan con un puerto. Sustituir el orquestador no toca el dominio.</a:t>
            </a:r>
            <a:endParaRPr lang="en-US" sz="1150" dirty="0"/>
          </a:p>
        </p:txBody>
      </p:sp>
      <p:sp>
        <p:nvSpPr>
          <p:cNvPr id="14" name="Shape 11"/>
          <p:cNvSpPr/>
          <p:nvPr/>
        </p:nvSpPr>
        <p:spPr>
          <a:xfrm>
            <a:off x="3390595" y="2395728"/>
            <a:ext cx="2585923" cy="3054096"/>
          </a:xfrm>
          <a:prstGeom prst="roundRect">
            <a:avLst>
              <a:gd name="adj" fmla="val 3536"/>
            </a:avLst>
          </a:prstGeom>
          <a:solidFill>
            <a:srgbClr val="0A3E7A"/>
          </a:solidFill>
          <a:ln w="12700">
            <a:solidFill>
              <a:srgbClr val="2D639F"/>
            </a:solidFill>
            <a:prstDash val="solid"/>
          </a:ln>
        </p:spPr>
      </p:sp>
      <p:sp>
        <p:nvSpPr>
          <p:cNvPr id="15" name="Text 12"/>
          <p:cNvSpPr txBox="1"/>
          <p:nvPr/>
        </p:nvSpPr>
        <p:spPr>
          <a:xfrm>
            <a:off x="3628339"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INGESTA</a:t>
            </a:r>
            <a:endParaRPr lang="en-US" sz="1050" dirty="0"/>
          </a:p>
        </p:txBody>
      </p:sp>
      <p:sp>
        <p:nvSpPr>
          <p:cNvPr id="16" name="Text 13"/>
          <p:cNvSpPr txBox="1"/>
          <p:nvPr/>
        </p:nvSpPr>
        <p:spPr>
          <a:xfrm>
            <a:off x="3628339"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pypdf · Docling</a:t>
            </a:r>
            <a:endParaRPr lang="en-US" sz="1700" dirty="0"/>
          </a:p>
        </p:txBody>
      </p:sp>
      <p:sp>
        <p:nvSpPr>
          <p:cNvPr id="17" name="Shape 14"/>
          <p:cNvSpPr/>
          <p:nvPr/>
        </p:nvSpPr>
        <p:spPr>
          <a:xfrm>
            <a:off x="3628339" y="3364992"/>
            <a:ext cx="2110435" cy="877824"/>
          </a:xfrm>
          <a:prstGeom prst="roundRect">
            <a:avLst>
              <a:gd name="adj" fmla="val 8333"/>
            </a:avLst>
          </a:prstGeom>
          <a:solidFill>
            <a:srgbClr val="002A5E"/>
          </a:solidFill>
          <a:ln/>
        </p:spPr>
      </p:sp>
      <p:sp>
        <p:nvSpPr>
          <p:cNvPr id="18" name="Text 15"/>
          <p:cNvSpPr txBox="1"/>
          <p:nvPr/>
        </p:nvSpPr>
        <p:spPr>
          <a:xfrm>
            <a:off x="3756355"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document_parser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evidence_repository</a:t>
            </a:r>
            <a:endParaRPr lang="en-US" sz="950" dirty="0"/>
          </a:p>
        </p:txBody>
      </p:sp>
      <p:sp>
        <p:nvSpPr>
          <p:cNvPr id="19" name="Text 16"/>
          <p:cNvSpPr txBox="1"/>
          <p:nvPr/>
        </p:nvSpPr>
        <p:spPr>
          <a:xfrm>
            <a:off x="3628339"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Dos parsers publicados a la vez para el mismo documento verificado.</a:t>
            </a:r>
            <a:endParaRPr lang="en-US" sz="1150" dirty="0"/>
          </a:p>
        </p:txBody>
      </p:sp>
      <p:sp>
        <p:nvSpPr>
          <p:cNvPr id="20" name="Shape 17"/>
          <p:cNvSpPr/>
          <p:nvPr/>
        </p:nvSpPr>
        <p:spPr>
          <a:xfrm>
            <a:off x="6214262" y="2395728"/>
            <a:ext cx="2585923" cy="3054096"/>
          </a:xfrm>
          <a:prstGeom prst="roundRect">
            <a:avLst>
              <a:gd name="adj" fmla="val 3536"/>
            </a:avLst>
          </a:prstGeom>
          <a:solidFill>
            <a:srgbClr val="0A3E7A"/>
          </a:solidFill>
          <a:ln w="12700">
            <a:solidFill>
              <a:srgbClr val="2D639F"/>
            </a:solidFill>
            <a:prstDash val="solid"/>
          </a:ln>
        </p:spPr>
      </p:sp>
      <p:sp>
        <p:nvSpPr>
          <p:cNvPr id="21" name="Text 18"/>
          <p:cNvSpPr txBox="1"/>
          <p:nvPr/>
        </p:nvSpPr>
        <p:spPr>
          <a:xfrm>
            <a:off x="6452006"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RECUPERACIÓN</a:t>
            </a:r>
            <a:endParaRPr lang="en-US" sz="1050" dirty="0"/>
          </a:p>
        </p:txBody>
      </p:sp>
      <p:sp>
        <p:nvSpPr>
          <p:cNvPr id="22" name="Text 19"/>
          <p:cNvSpPr txBox="1"/>
          <p:nvPr/>
        </p:nvSpPr>
        <p:spPr>
          <a:xfrm>
            <a:off x="6452006"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Qdrant híbrido</a:t>
            </a:r>
            <a:endParaRPr lang="en-US" sz="1700" dirty="0"/>
          </a:p>
        </p:txBody>
      </p:sp>
      <p:sp>
        <p:nvSpPr>
          <p:cNvPr id="23" name="Shape 20"/>
          <p:cNvSpPr/>
          <p:nvPr/>
        </p:nvSpPr>
        <p:spPr>
          <a:xfrm>
            <a:off x="6452006" y="3364992"/>
            <a:ext cx="2110435" cy="877824"/>
          </a:xfrm>
          <a:prstGeom prst="roundRect">
            <a:avLst>
              <a:gd name="adj" fmla="val 8333"/>
            </a:avLst>
          </a:prstGeom>
          <a:solidFill>
            <a:srgbClr val="002A5E"/>
          </a:solidFill>
          <a:ln/>
        </p:spPr>
      </p:sp>
      <p:sp>
        <p:nvSpPr>
          <p:cNvPr id="24" name="Text 21"/>
          <p:cNvSpPr txBox="1"/>
          <p:nvPr/>
        </p:nvSpPr>
        <p:spPr>
          <a:xfrm>
            <a:off x="6580022"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retriever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index_publisher</a:t>
            </a:r>
            <a:endParaRPr lang="en-US" sz="950" dirty="0"/>
          </a:p>
        </p:txBody>
      </p:sp>
      <p:sp>
        <p:nvSpPr>
          <p:cNvPr id="25" name="Text 22"/>
          <p:cNvSpPr txBox="1"/>
          <p:nvPr/>
        </p:nvSpPr>
        <p:spPr>
          <a:xfrm>
            <a:off x="6452006"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Denso, BM25 y fusión son política del adaptador, no del caso de uso.</a:t>
            </a:r>
            <a:endParaRPr lang="en-US" sz="1150" dirty="0"/>
          </a:p>
        </p:txBody>
      </p:sp>
      <p:sp>
        <p:nvSpPr>
          <p:cNvPr id="26" name="Shape 23"/>
          <p:cNvSpPr/>
          <p:nvPr/>
        </p:nvSpPr>
        <p:spPr>
          <a:xfrm>
            <a:off x="9037930" y="2395728"/>
            <a:ext cx="2585923" cy="3054096"/>
          </a:xfrm>
          <a:prstGeom prst="roundRect">
            <a:avLst>
              <a:gd name="adj" fmla="val 3536"/>
            </a:avLst>
          </a:prstGeom>
          <a:solidFill>
            <a:srgbClr val="0A3E7A"/>
          </a:solidFill>
          <a:ln w="12700">
            <a:solidFill>
              <a:srgbClr val="2D639F"/>
            </a:solidFill>
            <a:prstDash val="solid"/>
          </a:ln>
        </p:spPr>
      </p:sp>
      <p:sp>
        <p:nvSpPr>
          <p:cNvPr id="27" name="Text 24"/>
          <p:cNvSpPr txBox="1"/>
          <p:nvPr/>
        </p:nvSpPr>
        <p:spPr>
          <a:xfrm>
            <a:off x="9275674"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MODELOS</a:t>
            </a:r>
            <a:endParaRPr lang="en-US" sz="1050" dirty="0"/>
          </a:p>
        </p:txBody>
      </p:sp>
      <p:sp>
        <p:nvSpPr>
          <p:cNvPr id="28" name="Text 25"/>
          <p:cNvSpPr txBox="1"/>
          <p:nvPr/>
        </p:nvSpPr>
        <p:spPr>
          <a:xfrm>
            <a:off x="9275674"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OpenAI</a:t>
            </a:r>
            <a:endParaRPr lang="en-US" sz="1700" dirty="0"/>
          </a:p>
        </p:txBody>
      </p:sp>
      <p:sp>
        <p:nvSpPr>
          <p:cNvPr id="29" name="Shape 26"/>
          <p:cNvSpPr/>
          <p:nvPr/>
        </p:nvSpPr>
        <p:spPr>
          <a:xfrm>
            <a:off x="9275674" y="3364992"/>
            <a:ext cx="2110435" cy="877824"/>
          </a:xfrm>
          <a:prstGeom prst="roundRect">
            <a:avLst>
              <a:gd name="adj" fmla="val 8333"/>
            </a:avLst>
          </a:prstGeom>
          <a:solidFill>
            <a:srgbClr val="002A5E"/>
          </a:solidFill>
          <a:ln/>
        </p:spPr>
      </p:sp>
      <p:sp>
        <p:nvSpPr>
          <p:cNvPr id="30" name="Text 27"/>
          <p:cNvSpPr txBox="1"/>
          <p:nvPr/>
        </p:nvSpPr>
        <p:spPr>
          <a:xfrm>
            <a:off x="9403690"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language_model</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embedding_provider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query_classifier</a:t>
            </a:r>
            <a:endParaRPr lang="en-US" sz="950" dirty="0"/>
          </a:p>
        </p:txBody>
      </p:sp>
      <p:sp>
        <p:nvSpPr>
          <p:cNvPr id="31" name="Text 28"/>
          <p:cNvSpPr txBox="1"/>
          <p:nvPr/>
        </p:nvSpPr>
        <p:spPr>
          <a:xfrm>
            <a:off x="9275674"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Tres puertos distintos: generar, incrustar y clasificar no son la misma capacidad.</a:t>
            </a:r>
            <a:endParaRPr lang="en-US" sz="1150" dirty="0"/>
          </a:p>
        </p:txBody>
      </p:sp>
      <p:sp>
        <p:nvSpPr>
          <p:cNvPr id="32" name="Shape 29"/>
          <p:cNvSpPr/>
          <p:nvPr/>
        </p:nvSpPr>
        <p:spPr>
          <a:xfrm>
            <a:off x="566928" y="5705856"/>
            <a:ext cx="11057839" cy="493776"/>
          </a:xfrm>
          <a:prstGeom prst="roundRect">
            <a:avLst>
              <a:gd name="adj" fmla="val 16667"/>
            </a:avLst>
          </a:prstGeom>
          <a:solidFill>
            <a:srgbClr val="0A3E7A"/>
          </a:solidFill>
          <a:ln/>
        </p:spPr>
      </p:sp>
      <p:sp>
        <p:nvSpPr>
          <p:cNvPr id="33" name="Text 30"/>
          <p:cNvSpPr txBox="1"/>
          <p:nvPr/>
        </p:nvSpPr>
        <p:spPr>
          <a:xfrm>
            <a:off x="841248" y="579729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12 puertos de salida y 5 de entrada. Ninguna decisión del Convenio cambia si mañana se sustituye el proveedor de modelos, el índice o el orquestador.</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MODELOS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sistema usa un modelo para cuatro cosas distintas, y las trata como cuatro decisiones.</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«Elegir el modelo» no es una decisión, son cuatro: cada uso tiene su exigencia, su coste y su frecuencia — y cada uno vive detrás de su propio puerto.</a:t>
            </a:r>
            <a:endParaRPr lang="en-US" sz="1350" dirty="0"/>
          </a:p>
        </p:txBody>
      </p:sp>
      <p:sp>
        <p:nvSpPr>
          <p:cNvPr id="7" name="Shape 4"/>
          <p:cNvSpPr/>
          <p:nvPr/>
        </p:nvSpPr>
        <p:spPr>
          <a:xfrm>
            <a:off x="566928"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04672" y="2542032"/>
            <a:ext cx="2110435" cy="219456"/>
          </a:xfrm>
          <a:prstGeom prst="rect">
            <a:avLst/>
          </a:prstGeom>
          <a:noFill/>
          <a:ln/>
        </p:spPr>
        <p:txBody>
          <a:bodyPr wrap="square" lIns="0" tIns="0" rIns="0" bIns="0" rtlCol="0" anchor="t"/>
          <a:lstStyle/>
          <a:p>
            <a:pPr indent="0" marL="0">
              <a:buNone/>
            </a:pPr>
            <a:r>
              <a:rPr lang="en-US" sz="1050" b="1" spc="120" kern="0" dirty="0">
                <a:solidFill>
                  <a:srgbClr val="003781"/>
                </a:solidFill>
                <a:latin typeface="Arial" pitchFamily="34" charset="0"/>
                <a:ea typeface="Arial" pitchFamily="34" charset="-122"/>
                <a:cs typeface="Arial" pitchFamily="34" charset="-120"/>
              </a:rPr>
              <a:t>RESPONDER</a:t>
            </a:r>
            <a:endParaRPr lang="en-US" sz="1050" dirty="0"/>
          </a:p>
        </p:txBody>
      </p:sp>
      <p:sp>
        <p:nvSpPr>
          <p:cNvPr id="9" name="Text 6"/>
          <p:cNvSpPr txBox="1"/>
          <p:nvPr/>
        </p:nvSpPr>
        <p:spPr>
          <a:xfrm>
            <a:off x="804672"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Generación documental</a:t>
            </a:r>
            <a:endParaRPr lang="en-US" sz="1500" dirty="0"/>
          </a:p>
        </p:txBody>
      </p:sp>
      <p:sp>
        <p:nvSpPr>
          <p:cNvPr id="10" name="Shape 7"/>
          <p:cNvSpPr/>
          <p:nvPr/>
        </p:nvSpPr>
        <p:spPr>
          <a:xfrm>
            <a:off x="804672" y="3383280"/>
            <a:ext cx="2110435" cy="548640"/>
          </a:xfrm>
          <a:prstGeom prst="roundRect">
            <a:avLst>
              <a:gd name="adj" fmla="val 13333"/>
            </a:avLst>
          </a:prstGeom>
          <a:solidFill>
            <a:srgbClr val="F1F6FC"/>
          </a:solidFill>
          <a:ln/>
        </p:spPr>
      </p:sp>
      <p:sp>
        <p:nvSpPr>
          <p:cNvPr id="11" name="Text 8"/>
          <p:cNvSpPr txBox="1"/>
          <p:nvPr/>
        </p:nvSpPr>
        <p:spPr>
          <a:xfrm>
            <a:off x="896112"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OPENAI_ANSWER_MODEL</a:t>
            </a:r>
            <a:endParaRPr lang="en-US" sz="850" dirty="0"/>
          </a:p>
        </p:txBody>
      </p:sp>
      <p:sp>
        <p:nvSpPr>
          <p:cNvPr id="12" name="Text 9"/>
          <p:cNvSpPr txBox="1"/>
          <p:nvPr/>
        </p:nvSpPr>
        <p:spPr>
          <a:xfrm>
            <a:off x="804672"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Redacta sólo sobre el contexto recuperado y con una cita por bloque. Es la llamada que más exige en calidad de escritura y respeto a la fuente.</a:t>
            </a:r>
            <a:endParaRPr lang="en-US" sz="1150" dirty="0"/>
          </a:p>
        </p:txBody>
      </p:sp>
      <p:sp>
        <p:nvSpPr>
          <p:cNvPr id="13" name="Shape 10"/>
          <p:cNvSpPr/>
          <p:nvPr/>
        </p:nvSpPr>
        <p:spPr>
          <a:xfrm>
            <a:off x="3390595"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4" name="Text 11"/>
          <p:cNvSpPr txBox="1"/>
          <p:nvPr/>
        </p:nvSpPr>
        <p:spPr>
          <a:xfrm>
            <a:off x="3628339" y="2542032"/>
            <a:ext cx="2110435" cy="219456"/>
          </a:xfrm>
          <a:prstGeom prst="rect">
            <a:avLst/>
          </a:prstGeom>
          <a:noFill/>
          <a:ln/>
        </p:spPr>
        <p:txBody>
          <a:bodyPr wrap="square" lIns="0" tIns="0" rIns="0" bIns="0" rtlCol="0" anchor="t"/>
          <a:lstStyle/>
          <a:p>
            <a:pPr indent="0" marL="0">
              <a:buNone/>
            </a:pPr>
            <a:r>
              <a:rPr lang="en-US" sz="1050" b="1" spc="120" kern="0" dirty="0">
                <a:solidFill>
                  <a:srgbClr val="0079C1"/>
                </a:solidFill>
                <a:latin typeface="Arial" pitchFamily="34" charset="0"/>
                <a:ea typeface="Arial" pitchFamily="34" charset="-122"/>
                <a:cs typeface="Arial" pitchFamily="34" charset="-120"/>
              </a:rPr>
              <a:t>EXTRAER</a:t>
            </a:r>
            <a:endParaRPr lang="en-US" sz="1050" dirty="0"/>
          </a:p>
        </p:txBody>
      </p:sp>
      <p:sp>
        <p:nvSpPr>
          <p:cNvPr id="15" name="Text 12"/>
          <p:cNvSpPr txBox="1"/>
          <p:nvPr/>
        </p:nvSpPr>
        <p:spPr>
          <a:xfrm>
            <a:off x="3628339"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Hechos del siniestro</a:t>
            </a:r>
            <a:endParaRPr lang="en-US" sz="1500" dirty="0"/>
          </a:p>
        </p:txBody>
      </p:sp>
      <p:sp>
        <p:nvSpPr>
          <p:cNvPr id="16" name="Shape 13"/>
          <p:cNvSpPr/>
          <p:nvPr/>
        </p:nvSpPr>
        <p:spPr>
          <a:xfrm>
            <a:off x="3628339" y="3383280"/>
            <a:ext cx="2110435" cy="548640"/>
          </a:xfrm>
          <a:prstGeom prst="roundRect">
            <a:avLst>
              <a:gd name="adj" fmla="val 13333"/>
            </a:avLst>
          </a:prstGeom>
          <a:solidFill>
            <a:srgbClr val="F1F6FC"/>
          </a:solidFill>
          <a:ln/>
        </p:spPr>
      </p:sp>
      <p:sp>
        <p:nvSpPr>
          <p:cNvPr id="17" name="Text 14"/>
          <p:cNvSpPr txBox="1"/>
          <p:nvPr/>
        </p:nvSpPr>
        <p:spPr>
          <a:xfrm>
            <a:off x="3719779"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OPENAI_CLAIM_EXTRACTION_MODEL</a:t>
            </a:r>
            <a:endParaRPr lang="en-US" sz="850" dirty="0"/>
          </a:p>
        </p:txBody>
      </p:sp>
      <p:sp>
        <p:nvSpPr>
          <p:cNvPr id="18" name="Text 15"/>
          <p:cNvSpPr txBox="1"/>
          <p:nvPr/>
        </p:nvSpPr>
        <p:spPr>
          <a:xfrm>
            <a:off x="3628339"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Salida estructurada con esquema cerrado (extra="forbid", strict). No redacta la conclusión: rellena un vocabulario de hechos con nombre.</a:t>
            </a:r>
            <a:endParaRPr lang="en-US" sz="1150" dirty="0"/>
          </a:p>
        </p:txBody>
      </p:sp>
      <p:sp>
        <p:nvSpPr>
          <p:cNvPr id="19" name="Shape 16"/>
          <p:cNvSpPr/>
          <p:nvPr/>
        </p:nvSpPr>
        <p:spPr>
          <a:xfrm>
            <a:off x="6214262"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Text 17"/>
          <p:cNvSpPr txBox="1"/>
          <p:nvPr/>
        </p:nvSpPr>
        <p:spPr>
          <a:xfrm>
            <a:off x="6452006" y="2542032"/>
            <a:ext cx="2110435" cy="219456"/>
          </a:xfrm>
          <a:prstGeom prst="rect">
            <a:avLst/>
          </a:prstGeom>
          <a:noFill/>
          <a:ln/>
        </p:spPr>
        <p:txBody>
          <a:bodyPr wrap="square" lIns="0" tIns="0" rIns="0" bIns="0" rtlCol="0" anchor="t"/>
          <a:lstStyle/>
          <a:p>
            <a:pPr indent="0" marL="0">
              <a:buNone/>
            </a:pPr>
            <a:r>
              <a:rPr lang="en-US" sz="1050" b="1" spc="120" kern="0" dirty="0">
                <a:solidFill>
                  <a:srgbClr val="00807E"/>
                </a:solidFill>
                <a:latin typeface="Arial" pitchFamily="34" charset="0"/>
                <a:ea typeface="Arial" pitchFamily="34" charset="-122"/>
                <a:cs typeface="Arial" pitchFamily="34" charset="-120"/>
              </a:rPr>
              <a:t>CLASIFICAR</a:t>
            </a:r>
            <a:endParaRPr lang="en-US" sz="1050" dirty="0"/>
          </a:p>
        </p:txBody>
      </p:sp>
      <p:sp>
        <p:nvSpPr>
          <p:cNvPr id="21" name="Text 18"/>
          <p:cNvSpPr txBox="1"/>
          <p:nvPr/>
        </p:nvSpPr>
        <p:spPr>
          <a:xfrm>
            <a:off x="6452006"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Intención del usuario</a:t>
            </a:r>
            <a:endParaRPr lang="en-US" sz="1500" dirty="0"/>
          </a:p>
        </p:txBody>
      </p:sp>
      <p:sp>
        <p:nvSpPr>
          <p:cNvPr id="22" name="Shape 19"/>
          <p:cNvSpPr/>
          <p:nvPr/>
        </p:nvSpPr>
        <p:spPr>
          <a:xfrm>
            <a:off x="6452006" y="3383280"/>
            <a:ext cx="2110435" cy="548640"/>
          </a:xfrm>
          <a:prstGeom prst="roundRect">
            <a:avLst>
              <a:gd name="adj" fmla="val 13333"/>
            </a:avLst>
          </a:prstGeom>
          <a:solidFill>
            <a:srgbClr val="F1F6FC"/>
          </a:solidFill>
          <a:ln/>
        </p:spPr>
      </p:sp>
      <p:sp>
        <p:nvSpPr>
          <p:cNvPr id="23" name="Text 20"/>
          <p:cNvSpPr txBox="1"/>
          <p:nvPr/>
        </p:nvSpPr>
        <p:spPr>
          <a:xfrm>
            <a:off x="6543446"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ALLIANZ_ROUTER_MODEL</a:t>
            </a:r>
            <a:endParaRPr lang="en-US" sz="850" dirty="0"/>
          </a:p>
        </p:txBody>
      </p:sp>
      <p:sp>
        <p:nvSpPr>
          <p:cNvPr id="24" name="Text 21"/>
          <p:cNvSpPr txBox="1"/>
          <p:nvPr/>
        </p:nvSpPr>
        <p:spPr>
          <a:xfrm>
            <a:off x="6452006"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Tres etiquetas y nada más. Es la llamada más frecuente y la más barata: candidata natural a un modelo pequeño, o local.</a:t>
            </a:r>
            <a:endParaRPr lang="en-US" sz="1150" dirty="0"/>
          </a:p>
        </p:txBody>
      </p:sp>
      <p:sp>
        <p:nvSpPr>
          <p:cNvPr id="25" name="Shape 22"/>
          <p:cNvSpPr/>
          <p:nvPr/>
        </p:nvSpPr>
        <p:spPr>
          <a:xfrm>
            <a:off x="9037930"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Text 23"/>
          <p:cNvSpPr txBox="1"/>
          <p:nvPr/>
        </p:nvSpPr>
        <p:spPr>
          <a:xfrm>
            <a:off x="9275674" y="2542032"/>
            <a:ext cx="2110435" cy="219456"/>
          </a:xfrm>
          <a:prstGeom prst="rect">
            <a:avLst/>
          </a:prstGeom>
          <a:noFill/>
          <a:ln/>
        </p:spPr>
        <p:txBody>
          <a:bodyPr wrap="square" lIns="0" tIns="0" rIns="0" bIns="0" rtlCol="0" anchor="t"/>
          <a:lstStyle/>
          <a:p>
            <a:pPr indent="0" marL="0">
              <a:buNone/>
            </a:pPr>
            <a:r>
              <a:rPr lang="en-US" sz="1050" b="1" spc="120" kern="0" dirty="0">
                <a:solidFill>
                  <a:srgbClr val="A9711A"/>
                </a:solidFill>
                <a:latin typeface="Arial" pitchFamily="34" charset="0"/>
                <a:ea typeface="Arial" pitchFamily="34" charset="-122"/>
                <a:cs typeface="Arial" pitchFamily="34" charset="-120"/>
              </a:rPr>
              <a:t>INCRUSTAR</a:t>
            </a:r>
            <a:endParaRPr lang="en-US" sz="1050" dirty="0"/>
          </a:p>
        </p:txBody>
      </p:sp>
      <p:sp>
        <p:nvSpPr>
          <p:cNvPr id="27" name="Text 24"/>
          <p:cNvSpPr txBox="1"/>
          <p:nvPr/>
        </p:nvSpPr>
        <p:spPr>
          <a:xfrm>
            <a:off x="9275674"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El manual, una sola vez</a:t>
            </a:r>
            <a:endParaRPr lang="en-US" sz="1500" dirty="0"/>
          </a:p>
        </p:txBody>
      </p:sp>
      <p:sp>
        <p:nvSpPr>
          <p:cNvPr id="28" name="Shape 25"/>
          <p:cNvSpPr/>
          <p:nvPr/>
        </p:nvSpPr>
        <p:spPr>
          <a:xfrm>
            <a:off x="9275674" y="3383280"/>
            <a:ext cx="2110435" cy="548640"/>
          </a:xfrm>
          <a:prstGeom prst="roundRect">
            <a:avLst>
              <a:gd name="adj" fmla="val 13333"/>
            </a:avLst>
          </a:prstGeom>
          <a:solidFill>
            <a:srgbClr val="F1F6FC"/>
          </a:solidFill>
          <a:ln/>
        </p:spPr>
      </p:sp>
      <p:sp>
        <p:nvSpPr>
          <p:cNvPr id="29" name="Text 26"/>
          <p:cNvSpPr txBox="1"/>
          <p:nvPr/>
        </p:nvSpPr>
        <p:spPr>
          <a:xfrm>
            <a:off x="9367114"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text-embedding-3-small</a:t>
            </a:r>
            <a:endParaRPr lang="en-US" sz="850" dirty="0"/>
          </a:p>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1536 dimensiones · coseno</a:t>
            </a:r>
            <a:endParaRPr lang="en-US" sz="850" dirty="0"/>
          </a:p>
        </p:txBody>
      </p:sp>
      <p:sp>
        <p:nvSpPr>
          <p:cNvPr id="30" name="Text 27"/>
          <p:cNvSpPr txBox="1"/>
          <p:nvPr/>
        </p:nvSpPr>
        <p:spPr>
          <a:xfrm>
            <a:off x="9275674"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Fijado en el perfil del índice y grabado en su firma de 13 campos: cambiarlo obliga a reindexar, y el sistema no deja hacerlo por accidente.</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Y los prompts no se editan: se versionan. La configuración los fija por nombre y versión —document-question v1, auto-router v1—, así que cambiar un prompt es publicar una versión trazable, no una edición silenciosa.</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PRODUCTO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Una sola conversación; tres recorridos deliberados y ninguno opaco.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usuario puede elegir el recorrido o dejar que el sistema lo encamine. Lo que no puede pasar es que no sepa cuál se ha seguido.</a:t>
            </a:r>
            <a:endParaRPr lang="en-US" sz="1350" dirty="0"/>
          </a:p>
        </p:txBody>
      </p:sp>
      <p:sp>
        <p:nvSpPr>
          <p:cNvPr id="7" name="Shape 4"/>
          <p:cNvSpPr/>
          <p:nvPr/>
        </p:nvSpPr>
        <p:spPr>
          <a:xfrm>
            <a:off x="566928"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841248" y="2578608"/>
            <a:ext cx="310896" cy="310896"/>
          </a:xfrm>
          <a:prstGeom prst="ellipse">
            <a:avLst/>
          </a:prstGeom>
          <a:solidFill>
            <a:srgbClr val="003781"/>
          </a:solidFill>
          <a:ln/>
        </p:spPr>
      </p:sp>
      <p:sp>
        <p:nvSpPr>
          <p:cNvPr id="9" name="Text 6"/>
          <p:cNvSpPr txBox="1"/>
          <p:nvPr/>
        </p:nvSpPr>
        <p:spPr>
          <a:xfrm>
            <a:off x="841248"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1261872"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MODO AUTOMÁTICO</a:t>
            </a:r>
            <a:endParaRPr lang="en-US" sz="1350" dirty="0"/>
          </a:p>
        </p:txBody>
      </p:sp>
      <p:sp>
        <p:nvSpPr>
          <p:cNvPr id="11" name="Text 8"/>
          <p:cNvSpPr txBox="1"/>
          <p:nvPr/>
        </p:nvSpPr>
        <p:spPr>
          <a:xfrm>
            <a:off x="1261872"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por defecto</a:t>
            </a:r>
            <a:endParaRPr lang="en-US" sz="1050" dirty="0"/>
          </a:p>
        </p:txBody>
      </p:sp>
      <p:sp>
        <p:nvSpPr>
          <p:cNvPr id="12" name="Shape 9"/>
          <p:cNvSpPr/>
          <p:nvPr/>
        </p:nvSpPr>
        <p:spPr>
          <a:xfrm>
            <a:off x="841248" y="3218688"/>
            <a:ext cx="2954426" cy="676656"/>
          </a:xfrm>
          <a:prstGeom prst="roundRect">
            <a:avLst>
              <a:gd name="adj" fmla="val 10811"/>
            </a:avLst>
          </a:prstGeom>
          <a:solidFill>
            <a:srgbClr val="F1F6FC"/>
          </a:solidFill>
          <a:ln/>
        </p:spPr>
      </p:sp>
      <p:sp>
        <p:nvSpPr>
          <p:cNvPr id="13" name="Text 10"/>
          <p:cNvSpPr txBox="1"/>
          <p:nvPr/>
        </p:nvSpPr>
        <p:spPr>
          <a:xfrm>
            <a:off x="969264"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classify → consulta | siniestro</a:t>
            </a:r>
            <a:endParaRPr lang="en-US" sz="950" dirty="0"/>
          </a:p>
        </p:txBody>
      </p:sp>
      <p:sp>
        <p:nvSpPr>
          <p:cNvPr id="14" name="Text 11"/>
          <p:cNvSpPr txBox="1"/>
          <p:nvPr/>
        </p:nvSpPr>
        <p:spPr>
          <a:xfrm>
            <a:off x="841248"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Un clasificador de salida cerrada decide el recorrido. Recibe el texto del usuario sin reescribirlo y nunca ve la respuesta esperada.</a:t>
            </a:r>
            <a:endParaRPr lang="en-US" sz="1200" dirty="0"/>
          </a:p>
        </p:txBody>
      </p:sp>
      <p:sp>
        <p:nvSpPr>
          <p:cNvPr id="15" name="Text 12"/>
          <p:cNvSpPr txBox="1"/>
          <p:nvPr/>
        </p:nvSpPr>
        <p:spPr>
          <a:xfrm>
            <a:off x="841248" y="5065776"/>
            <a:ext cx="2954426"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/api/v1/queries/resolve</a:t>
            </a:r>
            <a:endParaRPr lang="en-US" sz="950" dirty="0"/>
          </a:p>
        </p:txBody>
      </p:sp>
      <p:sp>
        <p:nvSpPr>
          <p:cNvPr id="16" name="Shape 13"/>
          <p:cNvSpPr/>
          <p:nvPr/>
        </p:nvSpPr>
        <p:spPr>
          <a:xfrm>
            <a:off x="4344314"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7" name="Shape 14"/>
          <p:cNvSpPr/>
          <p:nvPr/>
        </p:nvSpPr>
        <p:spPr>
          <a:xfrm>
            <a:off x="4618634" y="2578608"/>
            <a:ext cx="310896" cy="310896"/>
          </a:xfrm>
          <a:prstGeom prst="ellipse">
            <a:avLst/>
          </a:prstGeom>
          <a:solidFill>
            <a:srgbClr val="0079C1"/>
          </a:solidFill>
          <a:ln/>
        </p:spPr>
      </p:sp>
      <p:sp>
        <p:nvSpPr>
          <p:cNvPr id="18" name="Text 15"/>
          <p:cNvSpPr txBox="1"/>
          <p:nvPr/>
        </p:nvSpPr>
        <p:spPr>
          <a:xfrm>
            <a:off x="4618634"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9" name="Text 16"/>
          <p:cNvSpPr txBox="1"/>
          <p:nvPr/>
        </p:nvSpPr>
        <p:spPr>
          <a:xfrm>
            <a:off x="5039258"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CONSULTAR EL MANUAL</a:t>
            </a:r>
            <a:endParaRPr lang="en-US" sz="1350" dirty="0"/>
          </a:p>
        </p:txBody>
      </p:sp>
      <p:sp>
        <p:nvSpPr>
          <p:cNvPr id="20" name="Text 17"/>
          <p:cNvSpPr txBox="1"/>
          <p:nvPr/>
        </p:nvSpPr>
        <p:spPr>
          <a:xfrm>
            <a:off x="5039258"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explícito</a:t>
            </a:r>
            <a:endParaRPr lang="en-US" sz="1050" dirty="0"/>
          </a:p>
        </p:txBody>
      </p:sp>
      <p:sp>
        <p:nvSpPr>
          <p:cNvPr id="21" name="Shape 18"/>
          <p:cNvSpPr/>
          <p:nvPr/>
        </p:nvSpPr>
        <p:spPr>
          <a:xfrm>
            <a:off x="4618634" y="3218688"/>
            <a:ext cx="2954426" cy="676656"/>
          </a:xfrm>
          <a:prstGeom prst="roundRect">
            <a:avLst>
              <a:gd name="adj" fmla="val 10811"/>
            </a:avLst>
          </a:prstGeom>
          <a:solidFill>
            <a:srgbClr val="F1F6FC"/>
          </a:solidFill>
          <a:ln/>
        </p:spPr>
      </p:sp>
      <p:sp>
        <p:nvSpPr>
          <p:cNvPr id="22" name="Text 19"/>
          <p:cNvSpPr txBox="1"/>
          <p:nvPr/>
        </p:nvSpPr>
        <p:spPr>
          <a:xfrm>
            <a:off x="4746650"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retrieve → generate → validate</a:t>
            </a:r>
            <a:endParaRPr lang="en-US" sz="950" dirty="0"/>
          </a:p>
        </p:txBody>
      </p:sp>
      <p:sp>
        <p:nvSpPr>
          <p:cNvPr id="23" name="Text 20"/>
          <p:cNvSpPr txBox="1"/>
          <p:nvPr/>
        </p:nvSpPr>
        <p:spPr>
          <a:xfrm>
            <a:off x="4618634"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Respuesta por bloques y cada bloque con su cita. Al pulsarla se abre el PDF original por la página que la sostiene.</a:t>
            </a:r>
            <a:endParaRPr lang="en-US" sz="1200" dirty="0"/>
          </a:p>
        </p:txBody>
      </p:sp>
      <p:sp>
        <p:nvSpPr>
          <p:cNvPr id="24" name="Text 21"/>
          <p:cNvSpPr txBox="1"/>
          <p:nvPr/>
        </p:nvSpPr>
        <p:spPr>
          <a:xfrm>
            <a:off x="4618634" y="5065776"/>
            <a:ext cx="2954426" cy="274320"/>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POST /api/v1/questions/answer</a:t>
            </a:r>
            <a:endParaRPr lang="en-US" sz="950" dirty="0"/>
          </a:p>
        </p:txBody>
      </p:sp>
      <p:sp>
        <p:nvSpPr>
          <p:cNvPr id="25" name="Shape 22"/>
          <p:cNvSpPr/>
          <p:nvPr/>
        </p:nvSpPr>
        <p:spPr>
          <a:xfrm>
            <a:off x="8121701"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Shape 23"/>
          <p:cNvSpPr/>
          <p:nvPr/>
        </p:nvSpPr>
        <p:spPr>
          <a:xfrm>
            <a:off x="8396021" y="2578608"/>
            <a:ext cx="310896" cy="310896"/>
          </a:xfrm>
          <a:prstGeom prst="ellipse">
            <a:avLst/>
          </a:prstGeom>
          <a:solidFill>
            <a:srgbClr val="00807E"/>
          </a:solidFill>
          <a:ln/>
        </p:spPr>
      </p:sp>
      <p:sp>
        <p:nvSpPr>
          <p:cNvPr id="27" name="Text 24"/>
          <p:cNvSpPr txBox="1"/>
          <p:nvPr/>
        </p:nvSpPr>
        <p:spPr>
          <a:xfrm>
            <a:off x="8396021"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8" name="Text 25"/>
          <p:cNvSpPr txBox="1"/>
          <p:nvPr/>
        </p:nvSpPr>
        <p:spPr>
          <a:xfrm>
            <a:off x="8816645"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ANALIZAR SINIESTRO</a:t>
            </a:r>
            <a:endParaRPr lang="en-US" sz="1350" dirty="0"/>
          </a:p>
        </p:txBody>
      </p:sp>
      <p:sp>
        <p:nvSpPr>
          <p:cNvPr id="29" name="Text 26"/>
          <p:cNvSpPr txBox="1"/>
          <p:nvPr/>
        </p:nvSpPr>
        <p:spPr>
          <a:xfrm>
            <a:off x="8816645"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explícito</a:t>
            </a:r>
            <a:endParaRPr lang="en-US" sz="1050" dirty="0"/>
          </a:p>
        </p:txBody>
      </p:sp>
      <p:sp>
        <p:nvSpPr>
          <p:cNvPr id="30" name="Shape 27"/>
          <p:cNvSpPr/>
          <p:nvPr/>
        </p:nvSpPr>
        <p:spPr>
          <a:xfrm>
            <a:off x="8396021" y="3218688"/>
            <a:ext cx="2954426" cy="676656"/>
          </a:xfrm>
          <a:prstGeom prst="roundRect">
            <a:avLst>
              <a:gd name="adj" fmla="val 10811"/>
            </a:avLst>
          </a:prstGeom>
          <a:solidFill>
            <a:srgbClr val="F1F6FC"/>
          </a:solidFill>
          <a:ln/>
        </p:spPr>
      </p:sp>
      <p:sp>
        <p:nvSpPr>
          <p:cNvPr id="31" name="Text 28"/>
          <p:cNvSpPr txBox="1"/>
          <p:nvPr/>
        </p:nvSpPr>
        <p:spPr>
          <a:xfrm>
            <a:off x="8524037"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extract → retrieve → apply_rules → explain → validate</a:t>
            </a:r>
            <a:endParaRPr lang="en-US" sz="950" dirty="0"/>
          </a:p>
        </p:txBody>
      </p:sp>
      <p:sp>
        <p:nvSpPr>
          <p:cNvPr id="32" name="Text 29"/>
          <p:cNvSpPr txBox="1"/>
          <p:nvPr/>
        </p:nvSpPr>
        <p:spPr>
          <a:xfrm>
            <a:off x="8396021"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Hechos atribuidos, reglas evaluadas —las que casan y las que no— y una decisión resuelta, condicionada o indeterminada.</a:t>
            </a:r>
            <a:endParaRPr lang="en-US" sz="1200" dirty="0"/>
          </a:p>
        </p:txBody>
      </p:sp>
      <p:sp>
        <p:nvSpPr>
          <p:cNvPr id="33" name="Text 30"/>
          <p:cNvSpPr txBox="1"/>
          <p:nvPr/>
        </p:nvSpPr>
        <p:spPr>
          <a:xfrm>
            <a:off x="8396021" y="5065776"/>
            <a:ext cx="2954426" cy="274320"/>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POST /api/v1/claims/analyze</a:t>
            </a:r>
            <a:endParaRPr lang="en-US" sz="950" dirty="0"/>
          </a:p>
        </p:txBody>
      </p:sp>
      <p:sp>
        <p:nvSpPr>
          <p:cNvPr id="34" name="Shape 31"/>
          <p:cNvSpPr/>
          <p:nvPr/>
        </p:nvSpPr>
        <p:spPr>
          <a:xfrm>
            <a:off x="566928" y="5724144"/>
            <a:ext cx="11057839" cy="493776"/>
          </a:xfrm>
          <a:prstGeom prst="roundRect">
            <a:avLst>
              <a:gd name="adj" fmla="val 16667"/>
            </a:avLst>
          </a:prstGeom>
          <a:solidFill>
            <a:srgbClr val="003781"/>
          </a:solidFill>
          <a:ln/>
        </p:spPr>
      </p:sp>
      <p:sp>
        <p:nvSpPr>
          <p:cNvPr id="35" name="Text 32"/>
          <p:cNvSpPr txBox="1"/>
          <p:nvPr/>
        </p:nvSpPr>
        <p:spPr>
          <a:xfrm>
            <a:off x="841248" y="5815584"/>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Los modos explícitos se saltan el router por completo: nadie queda a merced de una clasificación que no pidió.</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PRODUCTO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17</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interfaz enseña el razonamiento, no sólo la respuesta.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Captura real resolviendo un cambio de carril: los hechos extraídos, las catorce reglas evaluadas y la decisión que resulta.</a:t>
            </a:r>
            <a:endParaRPr lang="en-US" sz="1350" dirty="0"/>
          </a:p>
        </p:txBody>
      </p:sp>
      <p:sp>
        <p:nvSpPr>
          <p:cNvPr id="7" name="Shape 4"/>
          <p:cNvSpPr/>
          <p:nvPr/>
        </p:nvSpPr>
        <p:spPr>
          <a:xfrm>
            <a:off x="8162794" y="2103120"/>
            <a:ext cx="3516837" cy="4151376"/>
          </a:xfrm>
          <a:prstGeom prst="roundRect">
            <a:avLst>
              <a:gd name="adj" fmla="val 2080"/>
            </a:avLst>
          </a:prstGeom>
          <a:solidFill>
            <a:srgbClr val="003781"/>
          </a:solidFill>
          <a:ln/>
        </p:spPr>
      </p:sp>
      <p:pic>
        <p:nvPicPr>
          <p:cNvPr id="8" name="Image 1" descr="/Users/aoc/proyectos/prueba-allianz/docs/entrega/deck/assets/ui-reasoning.png">    </p:cNvPr>
          <p:cNvPicPr>
            <a:picLocks noChangeAspect="1"/>
          </p:cNvPicPr>
          <p:nvPr/>
        </p:nvPicPr>
        <p:blipFill>
          <a:blip r:embed="rId2"/>
          <a:stretch>
            <a:fillRect/>
          </a:stretch>
        </p:blipFill>
        <p:spPr>
          <a:xfrm>
            <a:off x="8217658" y="2157984"/>
            <a:ext cx="3407109" cy="4041648"/>
          </a:xfrm>
          <a:prstGeom prst="rect">
            <a:avLst/>
          </a:prstGeom>
        </p:spPr>
      </p:pic>
      <p:sp>
        <p:nvSpPr>
          <p:cNvPr id="9" name="Shape 5"/>
          <p:cNvSpPr/>
          <p:nvPr/>
        </p:nvSpPr>
        <p:spPr>
          <a:xfrm>
            <a:off x="566928" y="2157984"/>
            <a:ext cx="7266682" cy="1261872"/>
          </a:xfrm>
          <a:prstGeom prst="roundRect">
            <a:avLst>
              <a:gd name="adj" fmla="val 724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0" name="Shape 6"/>
          <p:cNvSpPr/>
          <p:nvPr/>
        </p:nvSpPr>
        <p:spPr>
          <a:xfrm>
            <a:off x="822960" y="2395728"/>
            <a:ext cx="365760" cy="365760"/>
          </a:xfrm>
          <a:prstGeom prst="ellipse">
            <a:avLst/>
          </a:prstGeom>
          <a:solidFill>
            <a:srgbClr val="003781"/>
          </a:solidFill>
          <a:ln/>
        </p:spPr>
      </p:sp>
      <p:sp>
        <p:nvSpPr>
          <p:cNvPr id="11" name="Text 7"/>
          <p:cNvSpPr txBox="1"/>
          <p:nvPr/>
        </p:nvSpPr>
        <p:spPr>
          <a:xfrm>
            <a:off x="822960" y="2459736"/>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2" name="Text 8"/>
          <p:cNvSpPr txBox="1"/>
          <p:nvPr/>
        </p:nvSpPr>
        <p:spPr>
          <a:xfrm>
            <a:off x="1335024" y="2432304"/>
            <a:ext cx="6224266"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Los hechos, con su procedencia</a:t>
            </a:r>
            <a:endParaRPr lang="en-US" sz="1400" dirty="0"/>
          </a:p>
        </p:txBody>
      </p:sp>
      <p:sp>
        <p:nvSpPr>
          <p:cNvPr id="13" name="Text 9"/>
          <p:cNvSpPr txBox="1"/>
          <p:nvPr/>
        </p:nvSpPr>
        <p:spPr>
          <a:xfrm>
            <a:off x="1335024" y="2761488"/>
            <a:ext cx="6224266" cy="566928"/>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vehicle_count, direct_collision, lane_change_vehicle… y cada uno dice de dónde sale: «según relato», «según ambos conductores». No hay un hecho sin origen.</a:t>
            </a:r>
            <a:endParaRPr lang="en-US" sz="1200" dirty="0"/>
          </a:p>
        </p:txBody>
      </p:sp>
      <p:sp>
        <p:nvSpPr>
          <p:cNvPr id="14" name="Shape 10"/>
          <p:cNvSpPr/>
          <p:nvPr/>
        </p:nvSpPr>
        <p:spPr>
          <a:xfrm>
            <a:off x="566928" y="3547872"/>
            <a:ext cx="7266682" cy="1261872"/>
          </a:xfrm>
          <a:prstGeom prst="roundRect">
            <a:avLst>
              <a:gd name="adj" fmla="val 724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5" name="Shape 11"/>
          <p:cNvSpPr/>
          <p:nvPr/>
        </p:nvSpPr>
        <p:spPr>
          <a:xfrm>
            <a:off x="822960" y="3785616"/>
            <a:ext cx="365760" cy="365760"/>
          </a:xfrm>
          <a:prstGeom prst="ellipse">
            <a:avLst/>
          </a:prstGeom>
          <a:solidFill>
            <a:srgbClr val="003781"/>
          </a:solidFill>
          <a:ln/>
        </p:spPr>
      </p:sp>
      <p:sp>
        <p:nvSpPr>
          <p:cNvPr id="16" name="Text 12"/>
          <p:cNvSpPr txBox="1"/>
          <p:nvPr/>
        </p:nvSpPr>
        <p:spPr>
          <a:xfrm>
            <a:off x="822960" y="3849624"/>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7" name="Text 13"/>
          <p:cNvSpPr txBox="1"/>
          <p:nvPr/>
        </p:nvSpPr>
        <p:spPr>
          <a:xfrm>
            <a:off x="1335024" y="3822192"/>
            <a:ext cx="6224266"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Las catorce reglas, también las que no casan</a:t>
            </a:r>
            <a:endParaRPr lang="en-US" sz="1400" dirty="0"/>
          </a:p>
        </p:txBody>
      </p:sp>
      <p:sp>
        <p:nvSpPr>
          <p:cNvPr id="18" name="Text 14"/>
          <p:cNvSpPr txBox="1"/>
          <p:nvPr/>
        </p:nvSpPr>
        <p:spPr>
          <a:xfrm>
            <a:off x="1335024" y="4151376"/>
            <a:ext cx="6224266" cy="566928"/>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Once dicen «no comprobable con los datos aportados». Esa ausencia es información: enseña exactamente qué haría falta para ir más lejos.</a:t>
            </a:r>
            <a:endParaRPr lang="en-US" sz="1200" dirty="0"/>
          </a:p>
        </p:txBody>
      </p:sp>
      <p:sp>
        <p:nvSpPr>
          <p:cNvPr id="19" name="Shape 15"/>
          <p:cNvSpPr/>
          <p:nvPr/>
        </p:nvSpPr>
        <p:spPr>
          <a:xfrm>
            <a:off x="566928" y="4937760"/>
            <a:ext cx="7266682" cy="1261872"/>
          </a:xfrm>
          <a:prstGeom prst="roundRect">
            <a:avLst>
              <a:gd name="adj" fmla="val 724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6"/>
          <p:cNvSpPr/>
          <p:nvPr/>
        </p:nvSpPr>
        <p:spPr>
          <a:xfrm>
            <a:off x="822960" y="5175504"/>
            <a:ext cx="365760" cy="365760"/>
          </a:xfrm>
          <a:prstGeom prst="ellipse">
            <a:avLst/>
          </a:prstGeom>
          <a:solidFill>
            <a:srgbClr val="003781"/>
          </a:solidFill>
          <a:ln/>
        </p:spPr>
      </p:sp>
      <p:sp>
        <p:nvSpPr>
          <p:cNvPr id="21" name="Text 17"/>
          <p:cNvSpPr txBox="1"/>
          <p:nvPr/>
        </p:nvSpPr>
        <p:spPr>
          <a:xfrm>
            <a:off x="822960" y="5239512"/>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2" name="Text 18"/>
          <p:cNvSpPr txBox="1"/>
          <p:nvPr/>
        </p:nvSpPr>
        <p:spPr>
          <a:xfrm>
            <a:off x="1335024" y="5212080"/>
            <a:ext cx="6224266"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La decisión y la norma que la sostiene</a:t>
            </a:r>
            <a:endParaRPr lang="en-US" sz="1400" dirty="0"/>
          </a:p>
        </p:txBody>
      </p:sp>
      <p:sp>
        <p:nvSpPr>
          <p:cNvPr id="23" name="Text 19"/>
          <p:cNvSpPr txBox="1"/>
          <p:nvPr/>
        </p:nvSpPr>
        <p:spPr>
          <a:xfrm>
            <a:off x="1335024" y="5541264"/>
            <a:ext cx="6224266" cy="566928"/>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ASCIDE · el Convenio es aplicable · resuelto, con el texto literal de la b.10. Nada de esa conclusión la ha redactado el modelo.</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ingesta no «sube un PDF»: publica una versión inmutable del conocimiento.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Cinco pasos, y ninguno se puede saltar. Si el hash no coincide, la ingesta se rechaza antes de leer una sola página.</a:t>
            </a:r>
            <a:endParaRPr lang="en-US" sz="1350" dirty="0"/>
          </a:p>
        </p:txBody>
      </p:sp>
      <p:sp>
        <p:nvSpPr>
          <p:cNvPr id="7" name="Shape 4"/>
          <p:cNvSpPr/>
          <p:nvPr/>
        </p:nvSpPr>
        <p:spPr>
          <a:xfrm>
            <a:off x="566928"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786384" y="2542032"/>
            <a:ext cx="365760" cy="365760"/>
          </a:xfrm>
          <a:prstGeom prst="ellipse">
            <a:avLst/>
          </a:prstGeom>
          <a:solidFill>
            <a:srgbClr val="003781"/>
          </a:solidFill>
          <a:ln/>
        </p:spPr>
      </p:sp>
      <p:sp>
        <p:nvSpPr>
          <p:cNvPr id="9" name="Text 6"/>
          <p:cNvSpPr txBox="1"/>
          <p:nvPr/>
        </p:nvSpPr>
        <p:spPr>
          <a:xfrm>
            <a:off x="786384"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0" name="Text 7"/>
          <p:cNvSpPr txBox="1"/>
          <p:nvPr/>
        </p:nvSpPr>
        <p:spPr>
          <a:xfrm>
            <a:off x="786384"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VERIFICAR</a:t>
            </a:r>
            <a:endParaRPr lang="en-US" sz="1400" dirty="0"/>
          </a:p>
        </p:txBody>
      </p:sp>
      <p:sp>
        <p:nvSpPr>
          <p:cNvPr id="11" name="Text 8"/>
          <p:cNvSpPr txBox="1"/>
          <p:nvPr/>
        </p:nvSpPr>
        <p:spPr>
          <a:xfrm>
            <a:off x="786384"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Se comprueba el SHA-256 del documento. Sólo se acepta el manual verificado; cualquier otro se rechaza.</a:t>
            </a:r>
            <a:endParaRPr lang="en-US" sz="1150" dirty="0"/>
          </a:p>
        </p:txBody>
      </p:sp>
      <p:sp>
        <p:nvSpPr>
          <p:cNvPr id="12" name="Text 9"/>
          <p:cNvSpPr txBox="1"/>
          <p:nvPr/>
        </p:nvSpPr>
        <p:spPr>
          <a:xfrm>
            <a:off x="2670048"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3" name="Shape 10"/>
          <p:cNvSpPr/>
          <p:nvPr/>
        </p:nvSpPr>
        <p:spPr>
          <a:xfrm>
            <a:off x="2779776"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4" name="Shape 11"/>
          <p:cNvSpPr/>
          <p:nvPr/>
        </p:nvSpPr>
        <p:spPr>
          <a:xfrm>
            <a:off x="2999232" y="2542032"/>
            <a:ext cx="365760" cy="365760"/>
          </a:xfrm>
          <a:prstGeom prst="ellipse">
            <a:avLst/>
          </a:prstGeom>
          <a:solidFill>
            <a:srgbClr val="003781"/>
          </a:solidFill>
          <a:ln/>
        </p:spPr>
      </p:sp>
      <p:sp>
        <p:nvSpPr>
          <p:cNvPr id="15" name="Text 12"/>
          <p:cNvSpPr txBox="1"/>
          <p:nvPr/>
        </p:nvSpPr>
        <p:spPr>
          <a:xfrm>
            <a:off x="2999232"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6" name="Text 13"/>
          <p:cNvSpPr txBox="1"/>
          <p:nvPr/>
        </p:nvSpPr>
        <p:spPr>
          <a:xfrm>
            <a:off x="2999232"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EXTRAER</a:t>
            </a:r>
            <a:endParaRPr lang="en-US" sz="1400" dirty="0"/>
          </a:p>
        </p:txBody>
      </p:sp>
      <p:sp>
        <p:nvSpPr>
          <p:cNvPr id="17" name="Text 14"/>
          <p:cNvSpPr txBox="1"/>
          <p:nvPr/>
        </p:nvSpPr>
        <p:spPr>
          <a:xfrm>
            <a:off x="2999232"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Página a página con el parser elegido. Las 111 páginas, incluidas las que están en blanco: la numeración no puede desplazarse.</a:t>
            </a:r>
            <a:endParaRPr lang="en-US" sz="1150" dirty="0"/>
          </a:p>
        </p:txBody>
      </p:sp>
      <p:sp>
        <p:nvSpPr>
          <p:cNvPr id="18" name="Text 15"/>
          <p:cNvSpPr txBox="1"/>
          <p:nvPr/>
        </p:nvSpPr>
        <p:spPr>
          <a:xfrm>
            <a:off x="4882896"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9" name="Shape 16"/>
          <p:cNvSpPr/>
          <p:nvPr/>
        </p:nvSpPr>
        <p:spPr>
          <a:xfrm>
            <a:off x="4992624"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7"/>
          <p:cNvSpPr/>
          <p:nvPr/>
        </p:nvSpPr>
        <p:spPr>
          <a:xfrm>
            <a:off x="5212080" y="2542032"/>
            <a:ext cx="365760" cy="365760"/>
          </a:xfrm>
          <a:prstGeom prst="ellipse">
            <a:avLst/>
          </a:prstGeom>
          <a:solidFill>
            <a:srgbClr val="003781"/>
          </a:solidFill>
          <a:ln/>
        </p:spPr>
      </p:sp>
      <p:sp>
        <p:nvSpPr>
          <p:cNvPr id="21" name="Text 18"/>
          <p:cNvSpPr txBox="1"/>
          <p:nvPr/>
        </p:nvSpPr>
        <p:spPr>
          <a:xfrm>
            <a:off x="5212080"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212080"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EVIDENCIAR</a:t>
            </a:r>
            <a:endParaRPr lang="en-US" sz="1400" dirty="0"/>
          </a:p>
        </p:txBody>
      </p:sp>
      <p:sp>
        <p:nvSpPr>
          <p:cNvPr id="23" name="Text 20"/>
          <p:cNvSpPr txBox="1"/>
          <p:nvPr/>
        </p:nvSpPr>
        <p:spPr>
          <a:xfrm>
            <a:off x="5212080"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Una evidencia por página con hash del documento, página física, etiqueta impresa y —con Docling— regiones verificadas.</a:t>
            </a:r>
            <a:endParaRPr lang="en-US" sz="1150" dirty="0"/>
          </a:p>
        </p:txBody>
      </p:sp>
      <p:sp>
        <p:nvSpPr>
          <p:cNvPr id="24" name="Text 21"/>
          <p:cNvSpPr txBox="1"/>
          <p:nvPr/>
        </p:nvSpPr>
        <p:spPr>
          <a:xfrm>
            <a:off x="7095744"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5" name="Shape 22"/>
          <p:cNvSpPr/>
          <p:nvPr/>
        </p:nvSpPr>
        <p:spPr>
          <a:xfrm>
            <a:off x="7205472"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Shape 23"/>
          <p:cNvSpPr/>
          <p:nvPr/>
        </p:nvSpPr>
        <p:spPr>
          <a:xfrm>
            <a:off x="7424928" y="2542032"/>
            <a:ext cx="365760" cy="365760"/>
          </a:xfrm>
          <a:prstGeom prst="ellipse">
            <a:avLst/>
          </a:prstGeom>
          <a:solidFill>
            <a:srgbClr val="003781"/>
          </a:solidFill>
          <a:ln/>
        </p:spPr>
      </p:sp>
      <p:sp>
        <p:nvSpPr>
          <p:cNvPr id="27" name="Text 24"/>
          <p:cNvSpPr txBox="1"/>
          <p:nvPr/>
        </p:nvSpPr>
        <p:spPr>
          <a:xfrm>
            <a:off x="7424928"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8" name="Text 25"/>
          <p:cNvSpPr txBox="1"/>
          <p:nvPr/>
        </p:nvSpPr>
        <p:spPr>
          <a:xfrm>
            <a:off x="7424928"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PUBLICAR</a:t>
            </a:r>
            <a:endParaRPr lang="en-US" sz="1400" dirty="0"/>
          </a:p>
        </p:txBody>
      </p:sp>
      <p:sp>
        <p:nvSpPr>
          <p:cNvPr id="29" name="Text 26"/>
          <p:cNvSpPr txBox="1"/>
          <p:nvPr/>
        </p:nvSpPr>
        <p:spPr>
          <a:xfrm>
            <a:off x="7424928"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Manifiesto, diagnósticos y versión de extracción. La publicación es atómica: o está entera o no está.</a:t>
            </a:r>
            <a:endParaRPr lang="en-US" sz="1150" dirty="0"/>
          </a:p>
        </p:txBody>
      </p:sp>
      <p:sp>
        <p:nvSpPr>
          <p:cNvPr id="30" name="Text 27"/>
          <p:cNvSpPr txBox="1"/>
          <p:nvPr/>
        </p:nvSpPr>
        <p:spPr>
          <a:xfrm>
            <a:off x="9308592"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1" name="Shape 28"/>
          <p:cNvSpPr/>
          <p:nvPr/>
        </p:nvSpPr>
        <p:spPr>
          <a:xfrm>
            <a:off x="9418320"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Shape 29"/>
          <p:cNvSpPr/>
          <p:nvPr/>
        </p:nvSpPr>
        <p:spPr>
          <a:xfrm>
            <a:off x="9637776" y="2542032"/>
            <a:ext cx="365760" cy="365760"/>
          </a:xfrm>
          <a:prstGeom prst="ellipse">
            <a:avLst/>
          </a:prstGeom>
          <a:solidFill>
            <a:srgbClr val="003781"/>
          </a:solidFill>
          <a:ln/>
        </p:spPr>
      </p:sp>
      <p:sp>
        <p:nvSpPr>
          <p:cNvPr id="33" name="Text 30"/>
          <p:cNvSpPr txBox="1"/>
          <p:nvPr/>
        </p:nvSpPr>
        <p:spPr>
          <a:xfrm>
            <a:off x="9637776"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4" name="Text 31"/>
          <p:cNvSpPr txBox="1"/>
          <p:nvPr/>
        </p:nvSpPr>
        <p:spPr>
          <a:xfrm>
            <a:off x="9637776"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INDEXAR</a:t>
            </a:r>
            <a:endParaRPr lang="en-US" sz="1400" dirty="0"/>
          </a:p>
        </p:txBody>
      </p:sp>
      <p:sp>
        <p:nvSpPr>
          <p:cNvPr id="35" name="Text 32"/>
          <p:cNvSpPr txBox="1"/>
          <p:nvPr/>
        </p:nvSpPr>
        <p:spPr>
          <a:xfrm>
            <a:off x="9637776"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Qdrant, con una firma de índice de 13 campos. El alias sólo se mueve si la firma es compatible, y el rollback está probado.</a:t>
            </a:r>
            <a:endParaRPr lang="en-US" sz="1150" dirty="0"/>
          </a:p>
        </p:txBody>
      </p:sp>
      <p:sp>
        <p:nvSpPr>
          <p:cNvPr id="36" name="Shape 33"/>
          <p:cNvSpPr/>
          <p:nvPr/>
        </p:nvSpPr>
        <p:spPr>
          <a:xfrm>
            <a:off x="566928" y="5266944"/>
            <a:ext cx="11057839" cy="420624"/>
          </a:xfrm>
          <a:prstGeom prst="roundRect">
            <a:avLst>
              <a:gd name="adj" fmla="val 21739"/>
            </a:avLst>
          </a:prstGeom>
          <a:solidFill>
            <a:srgbClr val="E6F0F9"/>
          </a:solidFill>
          <a:ln/>
        </p:spPr>
      </p:sp>
      <p:sp>
        <p:nvSpPr>
          <p:cNvPr id="37" name="Text 34"/>
          <p:cNvSpPr txBox="1"/>
          <p:nvPr/>
        </p:nvSpPr>
        <p:spPr>
          <a:xfrm>
            <a:off x="566928" y="5367528"/>
            <a:ext cx="11057839" cy="256032"/>
          </a:xfrm>
          <a:prstGeom prst="rect">
            <a:avLst/>
          </a:prstGeom>
          <a:noFill/>
          <a:ln/>
        </p:spPr>
        <p:txBody>
          <a:bodyPr wrap="square" lIns="0" tIns="0" rIns="0" bIns="0" rtlCol="0" anchor="t"/>
          <a:lstStyle/>
          <a:p>
            <a:pPr algn="ctr" indent="0" marL="0">
              <a:buNone/>
            </a:pPr>
            <a:r>
              <a:rPr lang="en-US" sz="1000" dirty="0">
                <a:solidFill>
                  <a:srgbClr val="003781"/>
                </a:solidFill>
                <a:latin typeface="Courier New" pitchFamily="34" charset="0"/>
                <a:ea typeface="Courier New" pitchFamily="34" charset="-122"/>
                <a:cs typeface="Courier New" pitchFamily="34" charset="-120"/>
              </a:rPr>
              <a:t>sha256:b9c70c74911fad7992a01f77d861a33f10f8313c96a9f58c09b2f448a54c8344   ·   111 páginas   ·   publicación atómica</a:t>
            </a:r>
            <a:endParaRPr lang="en-US" sz="100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identificador de una evidencia es sha256:&lt;documento&gt;:page:&lt;n&gt;. Apunta al manual original, no al fragmento del índice: la cita sobrevive a cambiar de parser o de chunking.</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19</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Una cita no es una nota al pie: abre el manual por la página que la sostiene.</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Captura real: la respuesta sobre alcoholemia cita la página 9 y, al pulsarla, aparece el párrafo exacto del manual original sin salir de la conversación.</a:t>
            </a:r>
            <a:endParaRPr lang="en-US" sz="1350" dirty="0"/>
          </a:p>
        </p:txBody>
      </p:sp>
      <p:sp>
        <p:nvSpPr>
          <p:cNvPr id="7" name="Shape 4"/>
          <p:cNvSpPr/>
          <p:nvPr/>
        </p:nvSpPr>
        <p:spPr>
          <a:xfrm>
            <a:off x="512064" y="2176272"/>
            <a:ext cx="5779008" cy="3633208"/>
          </a:xfrm>
          <a:prstGeom prst="roundRect">
            <a:avLst>
              <a:gd name="adj" fmla="val 2013"/>
            </a:avLst>
          </a:prstGeom>
          <a:solidFill>
            <a:srgbClr val="003781"/>
          </a:solidFill>
          <a:ln/>
        </p:spPr>
      </p:sp>
      <p:pic>
        <p:nvPicPr>
          <p:cNvPr id="8" name="Image 1" descr="/Users/aoc/proyectos/prueba-allianz/docs/entrega/deck/assets/ui-pdf.png">    </p:cNvPr>
          <p:cNvPicPr>
            <a:picLocks noChangeAspect="1"/>
          </p:cNvPicPr>
          <p:nvPr/>
        </p:nvPicPr>
        <p:blipFill>
          <a:blip r:embed="rId2"/>
          <a:stretch>
            <a:fillRect/>
          </a:stretch>
        </p:blipFill>
        <p:spPr>
          <a:xfrm>
            <a:off x="566928" y="2231136"/>
            <a:ext cx="5669280" cy="3523480"/>
          </a:xfrm>
          <a:prstGeom prst="rect">
            <a:avLst/>
          </a:prstGeom>
        </p:spPr>
      </p:pic>
      <p:sp>
        <p:nvSpPr>
          <p:cNvPr id="9" name="Shape 5"/>
          <p:cNvSpPr/>
          <p:nvPr/>
        </p:nvSpPr>
        <p:spPr>
          <a:xfrm>
            <a:off x="6620256" y="2304288"/>
            <a:ext cx="118872" cy="118872"/>
          </a:xfrm>
          <a:prstGeom prst="ellipse">
            <a:avLst/>
          </a:prstGeom>
          <a:solidFill>
            <a:srgbClr val="0079C1"/>
          </a:solidFill>
          <a:ln/>
        </p:spPr>
      </p:sp>
      <p:sp>
        <p:nvSpPr>
          <p:cNvPr id="10" name="Text 6"/>
          <p:cNvSpPr txBox="1"/>
          <p:nvPr/>
        </p:nvSpPr>
        <p:spPr>
          <a:xfrm>
            <a:off x="6876288" y="223113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identificador es del documento, no del fragmento</a:t>
            </a:r>
            <a:endParaRPr lang="en-US" sz="1300" dirty="0"/>
          </a:p>
        </p:txBody>
      </p:sp>
      <p:sp>
        <p:nvSpPr>
          <p:cNvPr id="11" name="Text 7"/>
          <p:cNvSpPr txBox="1"/>
          <p:nvPr/>
        </p:nvSpPr>
        <p:spPr>
          <a:xfrm>
            <a:off x="6876288" y="267004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sha256:…:page:9. Sobrevive a reindexar con otro parser o con otro tamaño de chunk: la cita del golden set sigue siendo válida.</a:t>
            </a:r>
            <a:endParaRPr lang="en-US" sz="1150" dirty="0"/>
          </a:p>
        </p:txBody>
      </p:sp>
      <p:sp>
        <p:nvSpPr>
          <p:cNvPr id="12" name="Shape 8"/>
          <p:cNvSpPr/>
          <p:nvPr/>
        </p:nvSpPr>
        <p:spPr>
          <a:xfrm>
            <a:off x="6620256" y="3493008"/>
            <a:ext cx="118872" cy="118872"/>
          </a:xfrm>
          <a:prstGeom prst="ellipse">
            <a:avLst/>
          </a:prstGeom>
          <a:solidFill>
            <a:srgbClr val="0079C1"/>
          </a:solidFill>
          <a:ln/>
        </p:spPr>
      </p:sp>
      <p:sp>
        <p:nvSpPr>
          <p:cNvPr id="13" name="Text 9"/>
          <p:cNvSpPr txBox="1"/>
          <p:nvPr/>
        </p:nvSpPr>
        <p:spPr>
          <a:xfrm>
            <a:off x="6876288" y="341985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Página física y etiqueta impresa, separadas</a:t>
            </a:r>
            <a:endParaRPr lang="en-US" sz="1300" dirty="0"/>
          </a:p>
        </p:txBody>
      </p:sp>
      <p:sp>
        <p:nvSpPr>
          <p:cNvPr id="14" name="Text 10"/>
          <p:cNvSpPr txBox="1"/>
          <p:nvPr/>
        </p:nvSpPr>
        <p:spPr>
          <a:xfrm>
            <a:off x="6876288" y="385876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La 9 de 111 del PDF. La numeración que el manual imprime se guarda aparte cuando se conoce, porque no siempre coinciden.</a:t>
            </a:r>
            <a:endParaRPr lang="en-US" sz="1150" dirty="0"/>
          </a:p>
        </p:txBody>
      </p:sp>
      <p:sp>
        <p:nvSpPr>
          <p:cNvPr id="15" name="Shape 11"/>
          <p:cNvSpPr/>
          <p:nvPr/>
        </p:nvSpPr>
        <p:spPr>
          <a:xfrm>
            <a:off x="6620256" y="4681728"/>
            <a:ext cx="118872" cy="118872"/>
          </a:xfrm>
          <a:prstGeom prst="ellipse">
            <a:avLst/>
          </a:prstGeom>
          <a:solidFill>
            <a:srgbClr val="0079C1"/>
          </a:solidFill>
          <a:ln/>
        </p:spPr>
      </p:sp>
      <p:sp>
        <p:nvSpPr>
          <p:cNvPr id="16" name="Text 12"/>
          <p:cNvSpPr txBox="1"/>
          <p:nvPr/>
        </p:nvSpPr>
        <p:spPr>
          <a:xfrm>
            <a:off x="6876288" y="460857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Sin coordenadas verificadas no se finge un resaltado</a:t>
            </a:r>
            <a:endParaRPr lang="en-US" sz="1300" dirty="0"/>
          </a:p>
        </p:txBody>
      </p:sp>
      <p:sp>
        <p:nvSpPr>
          <p:cNvPr id="17" name="Text 13"/>
          <p:cNvSpPr txBox="1"/>
          <p:nvPr/>
        </p:nvSpPr>
        <p:spPr>
          <a:xfrm>
            <a:off x="6876288" y="504748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Con el perfil activo se abre la página entera. El perfil estructurado sí tiene las regiones para resaltar la frase — otra razón para compararlos.</a:t>
            </a:r>
            <a:endParaRPr lang="en-US" sz="1150" dirty="0"/>
          </a:p>
        </p:txBody>
      </p:sp>
      <p:sp>
        <p:nvSpPr>
          <p:cNvPr id="18" name="Shape 14"/>
          <p:cNvSpPr/>
          <p:nvPr/>
        </p:nvSpPr>
        <p:spPr>
          <a:xfrm>
            <a:off x="566928" y="5852160"/>
            <a:ext cx="11057839" cy="493776"/>
          </a:xfrm>
          <a:prstGeom prst="roundRect">
            <a:avLst>
              <a:gd name="adj" fmla="val 16667"/>
            </a:avLst>
          </a:prstGeom>
          <a:solidFill>
            <a:srgbClr val="003781"/>
          </a:solidFill>
          <a:ln/>
        </p:spPr>
      </p:sp>
      <p:sp>
        <p:nvSpPr>
          <p:cNvPr id="19" name="Text 1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Quien revisa no tiene que fiarse de la respuesta: tiene el manual delante en dos clics, y puede leer el párrafo entero, no el trozo que el sistema eligió enseñar.</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20</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Dos métodos de ingesta conviven publicados; sólo la evaluación decide cuál se activa.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Poder demostrar dos caminos de extracción sobre el mismo documento era un requisito propio: es la forma de que la elección deje de ser una opinión.</a:t>
            </a:r>
            <a:endParaRPr lang="en-US" sz="1350" dirty="0"/>
          </a:p>
        </p:txBody>
      </p:sp>
      <p:sp>
        <p:nvSpPr>
          <p:cNvPr id="7" name="Shape 4"/>
          <p:cNvSpPr/>
          <p:nvPr/>
        </p:nvSpPr>
        <p:spPr>
          <a:xfrm>
            <a:off x="566928" y="2286000"/>
            <a:ext cx="5363870" cy="2889504"/>
          </a:xfrm>
          <a:prstGeom prst="roundRect">
            <a:avLst>
              <a:gd name="adj" fmla="val 3165"/>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77824" y="2560320"/>
            <a:ext cx="4742078" cy="329184"/>
          </a:xfrm>
          <a:prstGeom prst="rect">
            <a:avLst/>
          </a:prstGeom>
          <a:noFill/>
          <a:ln/>
        </p:spPr>
        <p:txBody>
          <a:bodyPr wrap="square" lIns="0" tIns="0" rIns="0" bIns="0" rtlCol="0" anchor="t"/>
          <a:lstStyle/>
          <a:p>
            <a:pPr indent="0" marL="0">
              <a:buNone/>
            </a:pPr>
            <a:r>
              <a:rPr lang="en-US" sz="2000" b="1" dirty="0">
                <a:solidFill>
                  <a:srgbClr val="0B1F3A"/>
                </a:solidFill>
                <a:latin typeface="Arial" pitchFamily="34" charset="0"/>
                <a:ea typeface="Arial" pitchFamily="34" charset="-122"/>
                <a:cs typeface="Arial" pitchFamily="34" charset="-120"/>
              </a:rPr>
              <a:t>pypdf 6.16.2</a:t>
            </a:r>
            <a:endParaRPr lang="en-US" sz="2000" dirty="0"/>
          </a:p>
        </p:txBody>
      </p:sp>
      <p:sp>
        <p:nvSpPr>
          <p:cNvPr id="9" name="Shape 6"/>
          <p:cNvSpPr/>
          <p:nvPr/>
        </p:nvSpPr>
        <p:spPr>
          <a:xfrm>
            <a:off x="877824" y="2980944"/>
            <a:ext cx="3566160" cy="274320"/>
          </a:xfrm>
          <a:prstGeom prst="roundRect">
            <a:avLst>
              <a:gd name="adj" fmla="val 50000"/>
            </a:avLst>
          </a:prstGeom>
          <a:solidFill>
            <a:srgbClr val="E2F3F2"/>
          </a:solidFill>
          <a:ln/>
        </p:spPr>
      </p:sp>
      <p:sp>
        <p:nvSpPr>
          <p:cNvPr id="10" name="Text 7"/>
          <p:cNvSpPr txBox="1"/>
          <p:nvPr/>
        </p:nvSpPr>
        <p:spPr>
          <a:xfrm>
            <a:off x="877824" y="3026664"/>
            <a:ext cx="3566160" cy="201168"/>
          </a:xfrm>
          <a:prstGeom prst="rect">
            <a:avLst/>
          </a:prstGeom>
          <a:noFill/>
          <a:ln/>
        </p:spPr>
        <p:txBody>
          <a:bodyPr wrap="square" lIns="0" tIns="0" rIns="0" bIns="0" rtlCol="0" anchor="t"/>
          <a:lstStyle/>
          <a:p>
            <a:pPr algn="ctr" indent="0" marL="0">
              <a:buNone/>
            </a:pPr>
            <a:r>
              <a:rPr lang="en-US" sz="950" b="1" dirty="0">
                <a:solidFill>
                  <a:srgbClr val="00807E"/>
                </a:solidFill>
                <a:latin typeface="Calibri" pitchFamily="34" charset="0"/>
                <a:ea typeface="Calibri" pitchFamily="34" charset="-122"/>
                <a:cs typeface="Calibri" pitchFamily="34" charset="-120"/>
              </a:rPr>
              <a:t>BASELINE · ACTIVO EN DEMO</a:t>
            </a:r>
            <a:endParaRPr lang="en-US" sz="950" dirty="0"/>
          </a:p>
        </p:txBody>
      </p:sp>
      <p:sp>
        <p:nvSpPr>
          <p:cNvPr id="11" name="Text 8"/>
          <p:cNvSpPr txBox="1"/>
          <p:nvPr/>
        </p:nvSpPr>
        <p:spPr>
          <a:xfrm>
            <a:off x="877824" y="3383280"/>
            <a:ext cx="4742078" cy="457200"/>
          </a:xfrm>
          <a:prstGeom prst="rect">
            <a:avLst/>
          </a:prstGeom>
          <a:noFill/>
          <a:ln/>
        </p:spPr>
        <p:txBody>
          <a:bodyPr wrap="square" lIns="0" tIns="0" rIns="0" bIns="0" rtlCol="0" anchor="t"/>
          <a:lstStyle/>
          <a:p>
            <a:pPr indent="0" marL="0">
              <a:lnSpc>
                <a:spcPct val="104000"/>
              </a:lnSpc>
              <a:buNone/>
            </a:pPr>
            <a:r>
              <a:rPr lang="en-US" sz="1300" dirty="0">
                <a:solidFill>
                  <a:srgbClr val="0B1F3A"/>
                </a:solidFill>
                <a:latin typeface="Calibri" pitchFamily="34" charset="0"/>
                <a:ea typeface="Calibri" pitchFamily="34" charset="-122"/>
                <a:cs typeface="Calibri" pitchFamily="34" charset="-120"/>
              </a:rPr>
              <a:t>Texto plano por página y chunking de tamaño fijo con solapamiento.</a:t>
            </a:r>
            <a:endParaRPr lang="en-US" sz="1300" dirty="0"/>
          </a:p>
        </p:txBody>
      </p:sp>
      <p:sp>
        <p:nvSpPr>
          <p:cNvPr id="12" name="Shape 9"/>
          <p:cNvSpPr/>
          <p:nvPr/>
        </p:nvSpPr>
        <p:spPr>
          <a:xfrm>
            <a:off x="896112" y="3986784"/>
            <a:ext cx="100584" cy="100584"/>
          </a:xfrm>
          <a:prstGeom prst="ellipse">
            <a:avLst/>
          </a:prstGeom>
          <a:solidFill>
            <a:srgbClr val="00807E"/>
          </a:solidFill>
          <a:ln/>
        </p:spPr>
      </p:sp>
      <p:sp>
        <p:nvSpPr>
          <p:cNvPr id="13" name="Text 10"/>
          <p:cNvSpPr txBox="1"/>
          <p:nvPr/>
        </p:nvSpPr>
        <p:spPr>
          <a:xfrm>
            <a:off x="1152144" y="3913632"/>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118 fragmentos en el índice activo</a:t>
            </a:r>
            <a:endParaRPr lang="en-US" sz="1150" dirty="0"/>
          </a:p>
        </p:txBody>
      </p:sp>
      <p:sp>
        <p:nvSpPr>
          <p:cNvPr id="14" name="Shape 11"/>
          <p:cNvSpPr/>
          <p:nvPr/>
        </p:nvSpPr>
        <p:spPr>
          <a:xfrm>
            <a:off x="896112" y="4389120"/>
            <a:ext cx="100584" cy="100584"/>
          </a:xfrm>
          <a:prstGeom prst="ellipse">
            <a:avLst/>
          </a:prstGeom>
          <a:solidFill>
            <a:srgbClr val="00807E"/>
          </a:solidFill>
          <a:ln/>
        </p:spPr>
      </p:sp>
      <p:sp>
        <p:nvSpPr>
          <p:cNvPr id="15" name="Text 12"/>
          <p:cNvSpPr txBox="1"/>
          <p:nvPr/>
        </p:nvSpPr>
        <p:spPr>
          <a:xfrm>
            <a:off x="1152144" y="4315968"/>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Reproducible y barato de reindexar</a:t>
            </a:r>
            <a:endParaRPr lang="en-US" sz="1150" dirty="0"/>
          </a:p>
        </p:txBody>
      </p:sp>
      <p:sp>
        <p:nvSpPr>
          <p:cNvPr id="16" name="Shape 13"/>
          <p:cNvSpPr/>
          <p:nvPr/>
        </p:nvSpPr>
        <p:spPr>
          <a:xfrm>
            <a:off x="896112" y="4791456"/>
            <a:ext cx="100584" cy="100584"/>
          </a:xfrm>
          <a:prstGeom prst="ellipse">
            <a:avLst/>
          </a:prstGeom>
          <a:solidFill>
            <a:srgbClr val="00807E"/>
          </a:solidFill>
          <a:ln/>
        </p:spPr>
      </p:sp>
      <p:sp>
        <p:nvSpPr>
          <p:cNvPr id="17" name="Text 14"/>
          <p:cNvSpPr txBox="1"/>
          <p:nvPr/>
        </p:nvSpPr>
        <p:spPr>
          <a:xfrm>
            <a:off x="1152144" y="4718304"/>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Sin dependencias pesadas ni modelos de layout</a:t>
            </a:r>
            <a:endParaRPr lang="en-US" sz="1150" dirty="0"/>
          </a:p>
        </p:txBody>
      </p:sp>
      <p:sp>
        <p:nvSpPr>
          <p:cNvPr id="18" name="Shape 15"/>
          <p:cNvSpPr/>
          <p:nvPr/>
        </p:nvSpPr>
        <p:spPr>
          <a:xfrm>
            <a:off x="6259982" y="2286000"/>
            <a:ext cx="5363870" cy="2889504"/>
          </a:xfrm>
          <a:prstGeom prst="roundRect">
            <a:avLst>
              <a:gd name="adj" fmla="val 3165"/>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6570878" y="2560320"/>
            <a:ext cx="4742078" cy="329184"/>
          </a:xfrm>
          <a:prstGeom prst="rect">
            <a:avLst/>
          </a:prstGeom>
          <a:noFill/>
          <a:ln/>
        </p:spPr>
        <p:txBody>
          <a:bodyPr wrap="square" lIns="0" tIns="0" rIns="0" bIns="0" rtlCol="0" anchor="t"/>
          <a:lstStyle/>
          <a:p>
            <a:pPr indent="0" marL="0">
              <a:buNone/>
            </a:pPr>
            <a:r>
              <a:rPr lang="en-US" sz="2000" b="1" dirty="0">
                <a:solidFill>
                  <a:srgbClr val="0B1F3A"/>
                </a:solidFill>
                <a:latin typeface="Arial" pitchFamily="34" charset="0"/>
                <a:ea typeface="Arial" pitchFamily="34" charset="-122"/>
                <a:cs typeface="Arial" pitchFamily="34" charset="-120"/>
              </a:rPr>
              <a:t>Docling 2.124.0</a:t>
            </a:r>
            <a:endParaRPr lang="en-US" sz="2000" dirty="0"/>
          </a:p>
        </p:txBody>
      </p:sp>
      <p:sp>
        <p:nvSpPr>
          <p:cNvPr id="20" name="Shape 17"/>
          <p:cNvSpPr/>
          <p:nvPr/>
        </p:nvSpPr>
        <p:spPr>
          <a:xfrm>
            <a:off x="6570878" y="2980944"/>
            <a:ext cx="3566160" cy="274320"/>
          </a:xfrm>
          <a:prstGeom prst="roundRect">
            <a:avLst>
              <a:gd name="adj" fmla="val 50000"/>
            </a:avLst>
          </a:prstGeom>
          <a:solidFill>
            <a:srgbClr val="E6F0F9"/>
          </a:solidFill>
          <a:ln/>
        </p:spPr>
      </p:sp>
      <p:sp>
        <p:nvSpPr>
          <p:cNvPr id="21" name="Text 18"/>
          <p:cNvSpPr txBox="1"/>
          <p:nvPr/>
        </p:nvSpPr>
        <p:spPr>
          <a:xfrm>
            <a:off x="6570878" y="3026664"/>
            <a:ext cx="3566160" cy="201168"/>
          </a:xfrm>
          <a:prstGeom prst="rect">
            <a:avLst/>
          </a:prstGeom>
          <a:noFill/>
          <a:ln/>
        </p:spPr>
        <p:txBody>
          <a:bodyPr wrap="square" lIns="0" tIns="0" rIns="0" bIns="0" rtlCol="0" anchor="t"/>
          <a:lstStyle/>
          <a:p>
            <a:pPr algn="ctr" indent="0" marL="0">
              <a:buNone/>
            </a:pPr>
            <a:r>
              <a:rPr lang="en-US" sz="950" b="1" dirty="0">
                <a:solidFill>
                  <a:srgbClr val="0079C1"/>
                </a:solidFill>
                <a:latin typeface="Calibri" pitchFamily="34" charset="0"/>
                <a:ea typeface="Calibri" pitchFamily="34" charset="-122"/>
                <a:cs typeface="Calibri" pitchFamily="34" charset="-120"/>
              </a:rPr>
              <a:t>ESTRUCTURADO · PUBLICADO, NO ACTIVO</a:t>
            </a:r>
            <a:endParaRPr lang="en-US" sz="950" dirty="0"/>
          </a:p>
        </p:txBody>
      </p:sp>
      <p:sp>
        <p:nvSpPr>
          <p:cNvPr id="22" name="Text 19"/>
          <p:cNvSpPr txBox="1"/>
          <p:nvPr/>
        </p:nvSpPr>
        <p:spPr>
          <a:xfrm>
            <a:off x="6570878" y="3383280"/>
            <a:ext cx="4742078" cy="457200"/>
          </a:xfrm>
          <a:prstGeom prst="rect">
            <a:avLst/>
          </a:prstGeom>
          <a:noFill/>
          <a:ln/>
        </p:spPr>
        <p:txBody>
          <a:bodyPr wrap="square" lIns="0" tIns="0" rIns="0" bIns="0" rtlCol="0" anchor="t"/>
          <a:lstStyle/>
          <a:p>
            <a:pPr indent="0" marL="0">
              <a:lnSpc>
                <a:spcPct val="104000"/>
              </a:lnSpc>
              <a:buNone/>
            </a:pPr>
            <a:r>
              <a:rPr lang="en-US" sz="1300" dirty="0">
                <a:solidFill>
                  <a:srgbClr val="0B1F3A"/>
                </a:solidFill>
                <a:latin typeface="Calibri" pitchFamily="34" charset="0"/>
                <a:ea typeface="Calibri" pitchFamily="34" charset="-122"/>
                <a:cs typeface="Calibri" pitchFamily="34" charset="-120"/>
              </a:rPr>
              <a:t>Layout, Markdown y JSON originales, con chunking por secciones.</a:t>
            </a:r>
            <a:endParaRPr lang="en-US" sz="1300" dirty="0"/>
          </a:p>
        </p:txBody>
      </p:sp>
      <p:sp>
        <p:nvSpPr>
          <p:cNvPr id="23" name="Shape 20"/>
          <p:cNvSpPr/>
          <p:nvPr/>
        </p:nvSpPr>
        <p:spPr>
          <a:xfrm>
            <a:off x="6589166" y="3986784"/>
            <a:ext cx="100584" cy="100584"/>
          </a:xfrm>
          <a:prstGeom prst="ellipse">
            <a:avLst/>
          </a:prstGeom>
          <a:solidFill>
            <a:srgbClr val="0079C1"/>
          </a:solidFill>
          <a:ln/>
        </p:spPr>
      </p:sp>
      <p:sp>
        <p:nvSpPr>
          <p:cNvPr id="24" name="Text 21"/>
          <p:cNvSpPr txBox="1"/>
          <p:nvPr/>
        </p:nvSpPr>
        <p:spPr>
          <a:xfrm>
            <a:off x="6845198" y="3913632"/>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109 fragmentos, regiones verificadas en las 111 páginas</a:t>
            </a:r>
            <a:endParaRPr lang="en-US" sz="1150" dirty="0"/>
          </a:p>
        </p:txBody>
      </p:sp>
      <p:sp>
        <p:nvSpPr>
          <p:cNvPr id="25" name="Shape 22"/>
          <p:cNvSpPr/>
          <p:nvPr/>
        </p:nvSpPr>
        <p:spPr>
          <a:xfrm>
            <a:off x="6589166" y="4389120"/>
            <a:ext cx="100584" cy="100584"/>
          </a:xfrm>
          <a:prstGeom prst="ellipse">
            <a:avLst/>
          </a:prstGeom>
          <a:solidFill>
            <a:srgbClr val="0079C1"/>
          </a:solidFill>
          <a:ln/>
        </p:spPr>
      </p:sp>
      <p:sp>
        <p:nvSpPr>
          <p:cNvPr id="26" name="Text 23"/>
          <p:cNvSpPr txBox="1"/>
          <p:nvPr/>
        </p:nvSpPr>
        <p:spPr>
          <a:xfrm>
            <a:off x="6845198" y="4315968"/>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Diagnóstico por página: tablas sin verificar, OCR ausente</a:t>
            </a:r>
            <a:endParaRPr lang="en-US" sz="1150" dirty="0"/>
          </a:p>
        </p:txBody>
      </p:sp>
      <p:sp>
        <p:nvSpPr>
          <p:cNvPr id="27" name="Shape 24"/>
          <p:cNvSpPr/>
          <p:nvPr/>
        </p:nvSpPr>
        <p:spPr>
          <a:xfrm>
            <a:off x="6589166" y="4791456"/>
            <a:ext cx="100584" cy="100584"/>
          </a:xfrm>
          <a:prstGeom prst="ellipse">
            <a:avLst/>
          </a:prstGeom>
          <a:solidFill>
            <a:srgbClr val="0079C1"/>
          </a:solidFill>
          <a:ln/>
        </p:spPr>
      </p:sp>
      <p:sp>
        <p:nvSpPr>
          <p:cNvPr id="28" name="Text 25"/>
          <p:cNvSpPr txBox="1"/>
          <p:nvPr/>
        </p:nvSpPr>
        <p:spPr>
          <a:xfrm>
            <a:off x="6845198" y="4718304"/>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Coordenadas que permitirían resaltar la cita, no sólo abrir la página</a:t>
            </a:r>
            <a:endParaRPr lang="en-US" sz="1150" dirty="0"/>
          </a:p>
        </p:txBody>
      </p:sp>
      <p:sp>
        <p:nvSpPr>
          <p:cNvPr id="29" name="Shape 26"/>
          <p:cNvSpPr/>
          <p:nvPr/>
        </p:nvSpPr>
        <p:spPr>
          <a:xfrm>
            <a:off x="566928" y="5852160"/>
            <a:ext cx="11057839" cy="493776"/>
          </a:xfrm>
          <a:prstGeom prst="roundRect">
            <a:avLst>
              <a:gd name="adj" fmla="val 16667"/>
            </a:avLst>
          </a:prstGeom>
          <a:solidFill>
            <a:srgbClr val="FBF1DF"/>
          </a:solidFill>
          <a:ln/>
        </p:spPr>
      </p:sp>
      <p:sp>
        <p:nvSpPr>
          <p:cNvPr id="30" name="Text 27"/>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A9711A"/>
                </a:solidFill>
                <a:latin typeface="Calibri" pitchFamily="34" charset="0"/>
                <a:ea typeface="Calibri" pitchFamily="34" charset="-122"/>
                <a:cs typeface="Calibri" pitchFamily="34" charset="-120"/>
              </a:rPr>
              <a:t>Decisión consciente: que una técnica esté disponible no demuestra que mejore el resultado. El índice estructurado espera a la comparación de evaluación; el comando compare-parsers existe justo para eso.</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RECUPERACIÓN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21</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Recuperación híbrida: la semántica encuentra el concepto, BM25 encuentra «b.10».</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Este manual mezcla lenguaje jurídico con referencias literales. Una búsqueda sólo vectorial falla justo donde el documento es más útil.</a:t>
            </a:r>
            <a:endParaRPr lang="en-US" sz="1350" dirty="0"/>
          </a:p>
        </p:txBody>
      </p:sp>
      <p:sp>
        <p:nvSpPr>
          <p:cNvPr id="7" name="Shape 4"/>
          <p:cNvSpPr/>
          <p:nvPr/>
        </p:nvSpPr>
        <p:spPr>
          <a:xfrm>
            <a:off x="566928" y="2432304"/>
            <a:ext cx="2048256" cy="1572768"/>
          </a:xfrm>
          <a:prstGeom prst="roundRect">
            <a:avLst>
              <a:gd name="adj" fmla="val 5814"/>
            </a:avLst>
          </a:prstGeom>
          <a:solidFill>
            <a:srgbClr val="F1F6FC"/>
          </a:solidFill>
          <a:ln w="12700">
            <a:solidFill>
              <a:srgbClr val="D9E4F0"/>
            </a:solidFill>
            <a:prstDash val="solid"/>
          </a:ln>
        </p:spPr>
      </p:sp>
      <p:sp>
        <p:nvSpPr>
          <p:cNvPr id="8" name="Text 5"/>
          <p:cNvSpPr txBox="1"/>
          <p:nvPr/>
        </p:nvSpPr>
        <p:spPr>
          <a:xfrm>
            <a:off x="749808" y="2688336"/>
            <a:ext cx="1682496" cy="256032"/>
          </a:xfrm>
          <a:prstGeom prst="rect">
            <a:avLst/>
          </a:prstGeom>
          <a:noFill/>
          <a:ln/>
        </p:spPr>
        <p:txBody>
          <a:bodyPr wrap="square" lIns="0" tIns="0" rIns="0" bIns="0" rtlCol="0" anchor="t"/>
          <a:lstStyle/>
          <a:p>
            <a:pPr algn="ctr" indent="0" marL="0">
              <a:buNone/>
            </a:pPr>
            <a:r>
              <a:rPr lang="en-US" sz="1250" b="1" dirty="0">
                <a:solidFill>
                  <a:srgbClr val="0B1F3A"/>
                </a:solidFill>
                <a:latin typeface="Arial" pitchFamily="34" charset="0"/>
                <a:ea typeface="Arial" pitchFamily="34" charset="-122"/>
                <a:cs typeface="Arial" pitchFamily="34" charset="-120"/>
              </a:rPr>
              <a:t>CONSULTA</a:t>
            </a:r>
            <a:endParaRPr lang="en-US" sz="1250" dirty="0"/>
          </a:p>
        </p:txBody>
      </p:sp>
      <p:sp>
        <p:nvSpPr>
          <p:cNvPr id="9" name="Text 6"/>
          <p:cNvSpPr txBox="1"/>
          <p:nvPr/>
        </p:nvSpPr>
        <p:spPr>
          <a:xfrm>
            <a:off x="749808"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El texto del usuario, sin reescribir</a:t>
            </a:r>
            <a:endParaRPr lang="en-US" sz="1100" dirty="0"/>
          </a:p>
        </p:txBody>
      </p:sp>
      <p:sp>
        <p:nvSpPr>
          <p:cNvPr id="10" name="Text 7"/>
          <p:cNvSpPr txBox="1"/>
          <p:nvPr/>
        </p:nvSpPr>
        <p:spPr>
          <a:xfrm>
            <a:off x="2615184"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2798064" y="2432304"/>
            <a:ext cx="2048256" cy="1572768"/>
          </a:xfrm>
          <a:prstGeom prst="roundRect">
            <a:avLst>
              <a:gd name="adj" fmla="val 5814"/>
            </a:avLst>
          </a:prstGeom>
          <a:solidFill>
            <a:srgbClr val="E6F0F9"/>
          </a:solidFill>
          <a:ln w="12700">
            <a:solidFill>
              <a:srgbClr val="D9E4F0"/>
            </a:solidFill>
            <a:prstDash val="solid"/>
          </a:ln>
        </p:spPr>
      </p:sp>
      <p:sp>
        <p:nvSpPr>
          <p:cNvPr id="12" name="Text 9"/>
          <p:cNvSpPr txBox="1"/>
          <p:nvPr/>
        </p:nvSpPr>
        <p:spPr>
          <a:xfrm>
            <a:off x="2980944" y="2688336"/>
            <a:ext cx="1682496" cy="256032"/>
          </a:xfrm>
          <a:prstGeom prst="rect">
            <a:avLst/>
          </a:prstGeom>
          <a:noFill/>
          <a:ln/>
        </p:spPr>
        <p:txBody>
          <a:bodyPr wrap="square" lIns="0" tIns="0" rIns="0" bIns="0" rtlCol="0" anchor="t"/>
          <a:lstStyle/>
          <a:p>
            <a:pPr algn="ctr" indent="0" marL="0">
              <a:buNone/>
            </a:pPr>
            <a:r>
              <a:rPr lang="en-US" sz="1250" b="1" dirty="0">
                <a:solidFill>
                  <a:srgbClr val="003781"/>
                </a:solidFill>
                <a:latin typeface="Arial" pitchFamily="34" charset="0"/>
                <a:ea typeface="Arial" pitchFamily="34" charset="-122"/>
                <a:cs typeface="Arial" pitchFamily="34" charset="-120"/>
              </a:rPr>
              <a:t>DENSO</a:t>
            </a:r>
            <a:endParaRPr lang="en-US" sz="1250" dirty="0"/>
          </a:p>
        </p:txBody>
      </p:sp>
      <p:sp>
        <p:nvSpPr>
          <p:cNvPr id="13" name="Text 10"/>
          <p:cNvSpPr txBox="1"/>
          <p:nvPr/>
        </p:nvSpPr>
        <p:spPr>
          <a:xfrm>
            <a:off x="2980944"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Embeddings: intención, sinónimos y contexto</a:t>
            </a:r>
            <a:endParaRPr lang="en-US" sz="1100" dirty="0"/>
          </a:p>
        </p:txBody>
      </p:sp>
      <p:sp>
        <p:nvSpPr>
          <p:cNvPr id="14" name="Text 11"/>
          <p:cNvSpPr txBox="1"/>
          <p:nvPr/>
        </p:nvSpPr>
        <p:spPr>
          <a:xfrm>
            <a:off x="4846320"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5" name="Shape 12"/>
          <p:cNvSpPr/>
          <p:nvPr/>
        </p:nvSpPr>
        <p:spPr>
          <a:xfrm>
            <a:off x="5029200" y="2432304"/>
            <a:ext cx="2048256" cy="1572768"/>
          </a:xfrm>
          <a:prstGeom prst="roundRect">
            <a:avLst>
              <a:gd name="adj" fmla="val 5814"/>
            </a:avLst>
          </a:prstGeom>
          <a:solidFill>
            <a:srgbClr val="E6F0F9"/>
          </a:solidFill>
          <a:ln w="12700">
            <a:solidFill>
              <a:srgbClr val="D9E4F0"/>
            </a:solidFill>
            <a:prstDash val="solid"/>
          </a:ln>
        </p:spPr>
      </p:sp>
      <p:sp>
        <p:nvSpPr>
          <p:cNvPr id="16" name="Text 13"/>
          <p:cNvSpPr txBox="1"/>
          <p:nvPr/>
        </p:nvSpPr>
        <p:spPr>
          <a:xfrm>
            <a:off x="5212080" y="2688336"/>
            <a:ext cx="1682496" cy="256032"/>
          </a:xfrm>
          <a:prstGeom prst="rect">
            <a:avLst/>
          </a:prstGeom>
          <a:noFill/>
          <a:ln/>
        </p:spPr>
        <p:txBody>
          <a:bodyPr wrap="square" lIns="0" tIns="0" rIns="0" bIns="0" rtlCol="0" anchor="t"/>
          <a:lstStyle/>
          <a:p>
            <a:pPr algn="ctr" indent="0" marL="0">
              <a:buNone/>
            </a:pPr>
            <a:r>
              <a:rPr lang="en-US" sz="1250" b="1" dirty="0">
                <a:solidFill>
                  <a:srgbClr val="003781"/>
                </a:solidFill>
                <a:latin typeface="Arial" pitchFamily="34" charset="0"/>
                <a:ea typeface="Arial" pitchFamily="34" charset="-122"/>
                <a:cs typeface="Arial" pitchFamily="34" charset="-120"/>
              </a:rPr>
              <a:t>BM25 ESPAÑOL</a:t>
            </a:r>
            <a:endParaRPr lang="en-US" sz="1250" dirty="0"/>
          </a:p>
        </p:txBody>
      </p:sp>
      <p:sp>
        <p:nvSpPr>
          <p:cNvPr id="17" name="Text 14"/>
          <p:cNvSpPr txBox="1"/>
          <p:nvPr/>
        </p:nvSpPr>
        <p:spPr>
          <a:xfrm>
            <a:off x="5212080"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Términos literales: «art. 35», «b.10», «ASCIDE»</a:t>
            </a:r>
            <a:endParaRPr lang="en-US" sz="1100" dirty="0"/>
          </a:p>
        </p:txBody>
      </p:sp>
      <p:sp>
        <p:nvSpPr>
          <p:cNvPr id="18" name="Text 15"/>
          <p:cNvSpPr txBox="1"/>
          <p:nvPr/>
        </p:nvSpPr>
        <p:spPr>
          <a:xfrm>
            <a:off x="7077456"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7260336" y="2432304"/>
            <a:ext cx="2048256" cy="1572768"/>
          </a:xfrm>
          <a:prstGeom prst="roundRect">
            <a:avLst>
              <a:gd name="adj" fmla="val 5814"/>
            </a:avLst>
          </a:prstGeom>
          <a:solidFill>
            <a:srgbClr val="003781"/>
          </a:solidFill>
          <a:ln w="12700">
            <a:solidFill>
              <a:srgbClr val="003781"/>
            </a:solidFill>
            <a:prstDash val="solid"/>
          </a:ln>
        </p:spPr>
      </p:sp>
      <p:sp>
        <p:nvSpPr>
          <p:cNvPr id="20" name="Text 17"/>
          <p:cNvSpPr txBox="1"/>
          <p:nvPr/>
        </p:nvSpPr>
        <p:spPr>
          <a:xfrm>
            <a:off x="7443216" y="2688336"/>
            <a:ext cx="1682496" cy="256032"/>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FUSIÓN RRF</a:t>
            </a:r>
            <a:endParaRPr lang="en-US" sz="1250" dirty="0"/>
          </a:p>
        </p:txBody>
      </p:sp>
      <p:sp>
        <p:nvSpPr>
          <p:cNvPr id="21" name="Text 18"/>
          <p:cNvSpPr txBox="1"/>
          <p:nvPr/>
        </p:nvSpPr>
        <p:spPr>
          <a:xfrm>
            <a:off x="7443216"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C9DEF2"/>
                </a:solidFill>
                <a:latin typeface="Calibri" pitchFamily="34" charset="0"/>
                <a:ea typeface="Calibri" pitchFamily="34" charset="-122"/>
                <a:cs typeface="Calibri" pitchFamily="34" charset="-120"/>
              </a:rPr>
              <a:t>Rango recíproco nativo de Qdrant, determinista</a:t>
            </a:r>
            <a:endParaRPr lang="en-US" sz="1100" dirty="0"/>
          </a:p>
        </p:txBody>
      </p:sp>
      <p:sp>
        <p:nvSpPr>
          <p:cNvPr id="22" name="Text 19"/>
          <p:cNvSpPr txBox="1"/>
          <p:nvPr/>
        </p:nvSpPr>
        <p:spPr>
          <a:xfrm>
            <a:off x="9308592"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23" name="Shape 20"/>
          <p:cNvSpPr/>
          <p:nvPr/>
        </p:nvSpPr>
        <p:spPr>
          <a:xfrm>
            <a:off x="9491472" y="2432304"/>
            <a:ext cx="2048256" cy="1572768"/>
          </a:xfrm>
          <a:prstGeom prst="roundRect">
            <a:avLst>
              <a:gd name="adj" fmla="val 5814"/>
            </a:avLst>
          </a:prstGeom>
          <a:solidFill>
            <a:srgbClr val="00807E"/>
          </a:solidFill>
          <a:ln w="12700">
            <a:solidFill>
              <a:srgbClr val="00807E"/>
            </a:solidFill>
            <a:prstDash val="solid"/>
          </a:ln>
        </p:spPr>
      </p:sp>
      <p:sp>
        <p:nvSpPr>
          <p:cNvPr id="24" name="Text 21"/>
          <p:cNvSpPr txBox="1"/>
          <p:nvPr/>
        </p:nvSpPr>
        <p:spPr>
          <a:xfrm>
            <a:off x="9674352" y="2688336"/>
            <a:ext cx="1682496" cy="256032"/>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EVIDENCIA</a:t>
            </a:r>
            <a:endParaRPr lang="en-US" sz="1250" dirty="0"/>
          </a:p>
        </p:txBody>
      </p:sp>
      <p:sp>
        <p:nvSpPr>
          <p:cNvPr id="25" name="Text 22"/>
          <p:cNvSpPr txBox="1"/>
          <p:nvPr/>
        </p:nvSpPr>
        <p:spPr>
          <a:xfrm>
            <a:off x="9674352"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C9DEF2"/>
                </a:solidFill>
                <a:latin typeface="Calibri" pitchFamily="34" charset="0"/>
                <a:ea typeface="Calibri" pitchFamily="34" charset="-122"/>
                <a:cs typeface="Calibri" pitchFamily="34" charset="-120"/>
              </a:rPr>
              <a:t>Fragmentos con página y hash, listos para citar</a:t>
            </a:r>
            <a:endParaRPr lang="en-US" sz="1100" dirty="0"/>
          </a:p>
        </p:txBody>
      </p:sp>
      <p:sp>
        <p:nvSpPr>
          <p:cNvPr id="26" name="Text 23"/>
          <p:cNvSpPr txBox="1"/>
          <p:nvPr/>
        </p:nvSpPr>
        <p:spPr>
          <a:xfrm>
            <a:off x="2798064" y="4133088"/>
            <a:ext cx="4279392" cy="237744"/>
          </a:xfrm>
          <a:prstGeom prst="rect">
            <a:avLst/>
          </a:prstGeom>
          <a:noFill/>
          <a:ln/>
        </p:spPr>
        <p:txBody>
          <a:bodyPr wrap="square" lIns="0" tIns="0" rIns="0" bIns="0" rtlCol="0" anchor="t"/>
          <a:lstStyle/>
          <a:p>
            <a:pPr algn="ctr" indent="0" marL="0">
              <a:buNone/>
            </a:pPr>
            <a:r>
              <a:rPr lang="en-US" sz="1050" i="1" dirty="0">
                <a:solidFill>
                  <a:srgbClr val="8296AC"/>
                </a:solidFill>
                <a:latin typeface="Calibri" pitchFamily="34" charset="0"/>
                <a:ea typeface="Calibri" pitchFamily="34" charset="-122"/>
                <a:cs typeface="Calibri" pitchFamily="34" charset="-120"/>
              </a:rPr>
              <a:t>dos señales sobre el mismo corpus, fusionadas sin reordenar a mano</a:t>
            </a:r>
            <a:endParaRPr lang="en-US" sz="1050" dirty="0"/>
          </a:p>
        </p:txBody>
      </p:sp>
      <p:sp>
        <p:nvSpPr>
          <p:cNvPr id="27" name="Shape 24"/>
          <p:cNvSpPr/>
          <p:nvPr/>
        </p:nvSpPr>
        <p:spPr>
          <a:xfrm>
            <a:off x="566928"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04672"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Firma de índice de 13 campos</a:t>
            </a:r>
            <a:endParaRPr lang="en-US" sz="1200" dirty="0"/>
          </a:p>
        </p:txBody>
      </p:sp>
      <p:sp>
        <p:nvSpPr>
          <p:cNvPr id="29" name="Text 26"/>
          <p:cNvSpPr txBox="1"/>
          <p:nvPr/>
        </p:nvSpPr>
        <p:spPr>
          <a:xfrm>
            <a:off x="804672"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parser, chunker, modelo, dimensión, distancia, versión del documento…</a:t>
            </a:r>
            <a:endParaRPr lang="en-US" sz="1050" dirty="0"/>
          </a:p>
        </p:txBody>
      </p:sp>
      <p:sp>
        <p:nvSpPr>
          <p:cNvPr id="30" name="Shape 27"/>
          <p:cNvSpPr/>
          <p:nvPr/>
        </p:nvSpPr>
        <p:spPr>
          <a:xfrm>
            <a:off x="4344314"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4582058"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El alias sólo se mueve si la firma encaja</a:t>
            </a:r>
            <a:endParaRPr lang="en-US" sz="1200" dirty="0"/>
          </a:p>
        </p:txBody>
      </p:sp>
      <p:sp>
        <p:nvSpPr>
          <p:cNvPr id="32" name="Text 29"/>
          <p:cNvSpPr txBox="1"/>
          <p:nvPr/>
        </p:nvSpPr>
        <p:spPr>
          <a:xfrm>
            <a:off x="4582058"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promover un índice incompatible falla en vez de degradar en silencio</a:t>
            </a:r>
            <a:endParaRPr lang="en-US" sz="1050" dirty="0"/>
          </a:p>
        </p:txBody>
      </p:sp>
      <p:sp>
        <p:nvSpPr>
          <p:cNvPr id="33" name="Shape 30"/>
          <p:cNvSpPr/>
          <p:nvPr/>
        </p:nvSpPr>
        <p:spPr>
          <a:xfrm>
            <a:off x="8121701"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4" name="Text 31"/>
          <p:cNvSpPr txBox="1"/>
          <p:nvPr/>
        </p:nvSpPr>
        <p:spPr>
          <a:xfrm>
            <a:off x="8359445"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Rollback probado por comando</a:t>
            </a:r>
            <a:endParaRPr lang="en-US" sz="1200" dirty="0"/>
          </a:p>
        </p:txBody>
      </p:sp>
      <p:sp>
        <p:nvSpPr>
          <p:cNvPr id="35" name="Text 32"/>
          <p:cNvSpPr txBox="1"/>
          <p:nvPr/>
        </p:nvSpPr>
        <p:spPr>
          <a:xfrm>
            <a:off x="8359445"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allianz index-rollback --collection … devuelve el alias al índice anterior</a:t>
            </a:r>
            <a:endParaRPr lang="en-US" sz="1050" dirty="0"/>
          </a:p>
        </p:txBody>
      </p:sp>
      <p:sp>
        <p:nvSpPr>
          <p:cNvPr id="36" name="Shape 33"/>
          <p:cNvSpPr/>
          <p:nvPr/>
        </p:nvSpPr>
        <p:spPr>
          <a:xfrm>
            <a:off x="566928" y="5852160"/>
            <a:ext cx="11057839" cy="493776"/>
          </a:xfrm>
          <a:prstGeom prst="roundRect">
            <a:avLst>
              <a:gd name="adj" fmla="val 16667"/>
            </a:avLst>
          </a:prstGeom>
          <a:solidFill>
            <a:srgbClr val="003781"/>
          </a:solidFill>
          <a:ln/>
        </p:spPr>
      </p:sp>
      <p:sp>
        <p:nvSpPr>
          <p:cNvPr id="37" name="Text 3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Gobierno del índice: un índice no se activa porque exista, se activa porque su firma es compatible y su evaluación lo respalda.</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03 · WORKFLOWS</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22</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900" b="1" dirty="0">
                <a:solidFill>
                  <a:srgbClr val="FFFFFF"/>
                </a:solidFill>
                <a:latin typeface="Arial" pitchFamily="34" charset="0"/>
                <a:ea typeface="Arial" pitchFamily="34" charset="-122"/>
                <a:cs typeface="Arial" pitchFamily="34" charset="-120"/>
              </a:rPr>
              <a:t>El grafo documental es corto, tipado, y no entrega nada sin validarlo antes.</a:t>
            </a:r>
            <a:endParaRPr lang="en-US" sz="29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Tres nodos. La respuesta pasa por una comprobación contra el contexto recuperado antes de salir, y el estado que resulta viaja hasta la interfaz.</a:t>
            </a:r>
            <a:endParaRPr lang="en-US" sz="1350" dirty="0"/>
          </a:p>
        </p:txBody>
      </p:sp>
      <p:sp>
        <p:nvSpPr>
          <p:cNvPr id="8" name="Shape 5"/>
          <p:cNvSpPr/>
          <p:nvPr/>
        </p:nvSpPr>
        <p:spPr>
          <a:xfrm>
            <a:off x="566928" y="2377440"/>
            <a:ext cx="3108960" cy="1700784"/>
          </a:xfrm>
          <a:prstGeom prst="roundRect">
            <a:avLst>
              <a:gd name="adj" fmla="val 5376"/>
            </a:avLst>
          </a:prstGeom>
          <a:solidFill>
            <a:srgbClr val="0A3E7A"/>
          </a:solidFill>
          <a:ln w="12700">
            <a:solidFill>
              <a:srgbClr val="2D639F"/>
            </a:solidFill>
            <a:prstDash val="solid"/>
          </a:ln>
        </p:spPr>
      </p:sp>
      <p:sp>
        <p:nvSpPr>
          <p:cNvPr id="9" name="Text 6"/>
          <p:cNvSpPr txBox="1"/>
          <p:nvPr/>
        </p:nvSpPr>
        <p:spPr>
          <a:xfrm>
            <a:off x="841248" y="2615184"/>
            <a:ext cx="548640" cy="219456"/>
          </a:xfrm>
          <a:prstGeom prst="rect">
            <a:avLst/>
          </a:prstGeom>
          <a:noFill/>
          <a:ln/>
        </p:spPr>
        <p:txBody>
          <a:bodyPr wrap="square" lIns="0" tIns="0" rIns="0" bIns="0" rtlCol="0" anchor="t"/>
          <a:lstStyle/>
          <a:p>
            <a:pPr indent="0" marL="0">
              <a:buNone/>
            </a:pPr>
            <a:r>
              <a:rPr lang="en-US" sz="1050" b="1" dirty="0">
                <a:solidFill>
                  <a:srgbClr val="5AB6E8"/>
                </a:solidFill>
                <a:latin typeface="Arial" pitchFamily="34" charset="0"/>
                <a:ea typeface="Arial" pitchFamily="34" charset="-122"/>
                <a:cs typeface="Arial" pitchFamily="34" charset="-120"/>
              </a:rPr>
              <a:t>01</a:t>
            </a:r>
            <a:endParaRPr lang="en-US" sz="1050" dirty="0"/>
          </a:p>
        </p:txBody>
      </p:sp>
      <p:sp>
        <p:nvSpPr>
          <p:cNvPr id="10" name="Text 7"/>
          <p:cNvSpPr txBox="1"/>
          <p:nvPr/>
        </p:nvSpPr>
        <p:spPr>
          <a:xfrm>
            <a:off x="84124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retrieve</a:t>
            </a:r>
            <a:endParaRPr lang="en-US" sz="1900" dirty="0"/>
          </a:p>
        </p:txBody>
      </p:sp>
      <p:sp>
        <p:nvSpPr>
          <p:cNvPr id="11" name="Text 8"/>
          <p:cNvSpPr txBox="1"/>
          <p:nvPr/>
        </p:nvSpPr>
        <p:spPr>
          <a:xfrm>
            <a:off x="84124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Top-k híbrido y deduplicado, con un límite duro de 8 fragmentos. El modelo no ve el manual entero.</a:t>
            </a:r>
            <a:endParaRPr lang="en-US" sz="1150" dirty="0"/>
          </a:p>
        </p:txBody>
      </p:sp>
      <p:sp>
        <p:nvSpPr>
          <p:cNvPr id="12" name="Text 9"/>
          <p:cNvSpPr txBox="1"/>
          <p:nvPr/>
        </p:nvSpPr>
        <p:spPr>
          <a:xfrm>
            <a:off x="3675888" y="3035808"/>
            <a:ext cx="502920" cy="329184"/>
          </a:xfrm>
          <a:prstGeom prst="rect">
            <a:avLst/>
          </a:prstGeom>
          <a:noFill/>
          <a:ln/>
        </p:spPr>
        <p:txBody>
          <a:bodyPr wrap="square" lIns="0" tIns="0" rIns="0" bIns="0" rtlCol="0" anchor="t"/>
          <a:lstStyle/>
          <a:p>
            <a:pPr algn="ctr" indent="0" marL="0">
              <a:buNone/>
            </a:pPr>
            <a:r>
              <a:rPr lang="en-US" sz="2200" b="1" dirty="0">
                <a:solidFill>
                  <a:srgbClr val="5AB6E8"/>
                </a:solidFill>
                <a:latin typeface="Arial" pitchFamily="34" charset="0"/>
                <a:ea typeface="Arial" pitchFamily="34" charset="-122"/>
                <a:cs typeface="Arial" pitchFamily="34" charset="-120"/>
              </a:rPr>
              <a:t>›</a:t>
            </a:r>
            <a:endParaRPr lang="en-US" sz="2200" dirty="0"/>
          </a:p>
        </p:txBody>
      </p:sp>
      <p:sp>
        <p:nvSpPr>
          <p:cNvPr id="13" name="Shape 10"/>
          <p:cNvSpPr/>
          <p:nvPr/>
        </p:nvSpPr>
        <p:spPr>
          <a:xfrm>
            <a:off x="4178808" y="2377440"/>
            <a:ext cx="3108960" cy="1700784"/>
          </a:xfrm>
          <a:prstGeom prst="roundRect">
            <a:avLst>
              <a:gd name="adj" fmla="val 5376"/>
            </a:avLst>
          </a:prstGeom>
          <a:solidFill>
            <a:srgbClr val="0A3E7A"/>
          </a:solidFill>
          <a:ln w="12700">
            <a:solidFill>
              <a:srgbClr val="2D639F"/>
            </a:solidFill>
            <a:prstDash val="solid"/>
          </a:ln>
        </p:spPr>
      </p:sp>
      <p:sp>
        <p:nvSpPr>
          <p:cNvPr id="14" name="Text 11"/>
          <p:cNvSpPr txBox="1"/>
          <p:nvPr/>
        </p:nvSpPr>
        <p:spPr>
          <a:xfrm>
            <a:off x="4453128" y="2615184"/>
            <a:ext cx="548640" cy="219456"/>
          </a:xfrm>
          <a:prstGeom prst="rect">
            <a:avLst/>
          </a:prstGeom>
          <a:noFill/>
          <a:ln/>
        </p:spPr>
        <p:txBody>
          <a:bodyPr wrap="square" lIns="0" tIns="0" rIns="0" bIns="0" rtlCol="0" anchor="t"/>
          <a:lstStyle/>
          <a:p>
            <a:pPr indent="0" marL="0">
              <a:buNone/>
            </a:pPr>
            <a:r>
              <a:rPr lang="en-US" sz="1050" b="1" dirty="0">
                <a:solidFill>
                  <a:srgbClr val="5AB6E8"/>
                </a:solidFill>
                <a:latin typeface="Arial" pitchFamily="34" charset="0"/>
                <a:ea typeface="Arial" pitchFamily="34" charset="-122"/>
                <a:cs typeface="Arial" pitchFamily="34" charset="-120"/>
              </a:rPr>
              <a:t>02</a:t>
            </a:r>
            <a:endParaRPr lang="en-US" sz="1050" dirty="0"/>
          </a:p>
        </p:txBody>
      </p:sp>
      <p:sp>
        <p:nvSpPr>
          <p:cNvPr id="15" name="Text 12"/>
          <p:cNvSpPr txBox="1"/>
          <p:nvPr/>
        </p:nvSpPr>
        <p:spPr>
          <a:xfrm>
            <a:off x="445312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generate</a:t>
            </a:r>
            <a:endParaRPr lang="en-US" sz="1900" dirty="0"/>
          </a:p>
        </p:txBody>
      </p:sp>
      <p:sp>
        <p:nvSpPr>
          <p:cNvPr id="16" name="Text 13"/>
          <p:cNvSpPr txBox="1"/>
          <p:nvPr/>
        </p:nvSpPr>
        <p:spPr>
          <a:xfrm>
            <a:off x="445312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El modelo sólo recibe el contexto recuperado. Cada bloque de respuesta nace con su cita asociada.</a:t>
            </a:r>
            <a:endParaRPr lang="en-US" sz="1150" dirty="0"/>
          </a:p>
        </p:txBody>
      </p:sp>
      <p:sp>
        <p:nvSpPr>
          <p:cNvPr id="17" name="Text 14"/>
          <p:cNvSpPr txBox="1"/>
          <p:nvPr/>
        </p:nvSpPr>
        <p:spPr>
          <a:xfrm>
            <a:off x="7287768" y="3035808"/>
            <a:ext cx="502920" cy="329184"/>
          </a:xfrm>
          <a:prstGeom prst="rect">
            <a:avLst/>
          </a:prstGeom>
          <a:noFill/>
          <a:ln/>
        </p:spPr>
        <p:txBody>
          <a:bodyPr wrap="square" lIns="0" tIns="0" rIns="0" bIns="0" rtlCol="0" anchor="t"/>
          <a:lstStyle/>
          <a:p>
            <a:pPr algn="ctr" indent="0" marL="0">
              <a:buNone/>
            </a:pPr>
            <a:r>
              <a:rPr lang="en-US" sz="2200" b="1" dirty="0">
                <a:solidFill>
                  <a:srgbClr val="5AB6E8"/>
                </a:solidFill>
                <a:latin typeface="Arial" pitchFamily="34" charset="0"/>
                <a:ea typeface="Arial" pitchFamily="34" charset="-122"/>
                <a:cs typeface="Arial" pitchFamily="34" charset="-120"/>
              </a:rPr>
              <a:t>›</a:t>
            </a:r>
            <a:endParaRPr lang="en-US" sz="2200" dirty="0"/>
          </a:p>
        </p:txBody>
      </p:sp>
      <p:sp>
        <p:nvSpPr>
          <p:cNvPr id="18" name="Shape 15"/>
          <p:cNvSpPr/>
          <p:nvPr/>
        </p:nvSpPr>
        <p:spPr>
          <a:xfrm>
            <a:off x="7790688" y="2377440"/>
            <a:ext cx="3108960" cy="1700784"/>
          </a:xfrm>
          <a:prstGeom prst="roundRect">
            <a:avLst>
              <a:gd name="adj" fmla="val 5376"/>
            </a:avLst>
          </a:prstGeom>
          <a:solidFill>
            <a:srgbClr val="00807E"/>
          </a:solidFill>
          <a:ln w="12700">
            <a:solidFill>
              <a:srgbClr val="2D639F"/>
            </a:solidFill>
            <a:prstDash val="solid"/>
          </a:ln>
        </p:spPr>
      </p:sp>
      <p:sp>
        <p:nvSpPr>
          <p:cNvPr id="19" name="Text 16"/>
          <p:cNvSpPr txBox="1"/>
          <p:nvPr/>
        </p:nvSpPr>
        <p:spPr>
          <a:xfrm>
            <a:off x="8065008" y="2615184"/>
            <a:ext cx="548640" cy="219456"/>
          </a:xfrm>
          <a:prstGeom prst="rect">
            <a:avLst/>
          </a:prstGeom>
          <a:noFill/>
          <a:ln/>
        </p:spPr>
        <p:txBody>
          <a:bodyPr wrap="square" lIns="0" tIns="0" rIns="0" bIns="0" rtlCol="0" anchor="t"/>
          <a:lstStyle/>
          <a:p>
            <a:pPr indent="0" marL="0">
              <a:buNone/>
            </a:pPr>
            <a:r>
              <a:rPr lang="en-US" sz="1050" b="1" dirty="0">
                <a:solidFill>
                  <a:srgbClr val="E2F3F2"/>
                </a:solidFill>
                <a:latin typeface="Arial" pitchFamily="34" charset="0"/>
                <a:ea typeface="Arial" pitchFamily="34" charset="-122"/>
                <a:cs typeface="Arial" pitchFamily="34" charset="-120"/>
              </a:rPr>
              <a:t>03</a:t>
            </a:r>
            <a:endParaRPr lang="en-US" sz="1050" dirty="0"/>
          </a:p>
        </p:txBody>
      </p:sp>
      <p:sp>
        <p:nvSpPr>
          <p:cNvPr id="20" name="Text 17"/>
          <p:cNvSpPr txBox="1"/>
          <p:nvPr/>
        </p:nvSpPr>
        <p:spPr>
          <a:xfrm>
            <a:off x="806500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validate</a:t>
            </a:r>
            <a:endParaRPr lang="en-US" sz="1900" dirty="0"/>
          </a:p>
        </p:txBody>
      </p:sp>
      <p:sp>
        <p:nvSpPr>
          <p:cNvPr id="21" name="Text 18"/>
          <p:cNvSpPr txBox="1"/>
          <p:nvPr/>
        </p:nvSpPr>
        <p:spPr>
          <a:xfrm>
            <a:off x="806500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DFF2F1"/>
                </a:solidFill>
                <a:latin typeface="Calibri" pitchFamily="34" charset="0"/>
                <a:ea typeface="Calibri" pitchFamily="34" charset="-122"/>
                <a:cs typeface="Calibri" pitchFamily="34" charset="-120"/>
              </a:rPr>
              <a:t>Cada cita se contrasta contra la evidencia recuperada y el resultado fija el estado de la respuesta.</a:t>
            </a:r>
            <a:endParaRPr lang="en-US" sz="1150" dirty="0"/>
          </a:p>
        </p:txBody>
      </p:sp>
      <p:sp>
        <p:nvSpPr>
          <p:cNvPr id="22" name="Text 19"/>
          <p:cNvSpPr txBox="1"/>
          <p:nvPr/>
        </p:nvSpPr>
        <p:spPr>
          <a:xfrm>
            <a:off x="566928" y="4370832"/>
            <a:ext cx="7315200" cy="219456"/>
          </a:xfrm>
          <a:prstGeom prst="rect">
            <a:avLst/>
          </a:prstGeom>
          <a:noFill/>
          <a:ln/>
        </p:spPr>
        <p:txBody>
          <a:bodyPr wrap="square" lIns="0" tIns="0" rIns="0" bIns="0" rtlCol="0" anchor="t"/>
          <a:lstStyle/>
          <a:p>
            <a:pPr indent="0" marL="0">
              <a:buNone/>
            </a:pPr>
            <a:r>
              <a:rPr lang="en-US" sz="950" b="1" spc="120" kern="0" dirty="0">
                <a:solidFill>
                  <a:srgbClr val="5AB6E8"/>
                </a:solidFill>
                <a:latin typeface="Arial" pitchFamily="34" charset="0"/>
                <a:ea typeface="Arial" pitchFamily="34" charset="-122"/>
                <a:cs typeface="Arial" pitchFamily="34" charset="-120"/>
              </a:rPr>
              <a:t>ESTADOS QUE LA INTERFAZ MUESTRA, SIN MAQUILLAR</a:t>
            </a:r>
            <a:endParaRPr lang="en-US" sz="950" dirty="0"/>
          </a:p>
        </p:txBody>
      </p:sp>
      <p:sp>
        <p:nvSpPr>
          <p:cNvPr id="23" name="Shape 20"/>
          <p:cNvSpPr/>
          <p:nvPr/>
        </p:nvSpPr>
        <p:spPr>
          <a:xfrm>
            <a:off x="566928" y="4700016"/>
            <a:ext cx="2585923" cy="841248"/>
          </a:xfrm>
          <a:prstGeom prst="roundRect">
            <a:avLst>
              <a:gd name="adj" fmla="val 9783"/>
            </a:avLst>
          </a:prstGeom>
          <a:solidFill>
            <a:srgbClr val="002A5E"/>
          </a:solidFill>
          <a:ln/>
        </p:spPr>
      </p:sp>
      <p:sp>
        <p:nvSpPr>
          <p:cNvPr id="24" name="Text 21"/>
          <p:cNvSpPr txBox="1"/>
          <p:nvPr/>
        </p:nvSpPr>
        <p:spPr>
          <a:xfrm>
            <a:off x="749808" y="4828032"/>
            <a:ext cx="2220163" cy="237744"/>
          </a:xfrm>
          <a:prstGeom prst="rect">
            <a:avLst/>
          </a:prstGeom>
          <a:noFill/>
          <a:ln/>
        </p:spPr>
        <p:txBody>
          <a:bodyPr wrap="square" lIns="0" tIns="0" rIns="0" bIns="0" rtlCol="0" anchor="t"/>
          <a:lstStyle/>
          <a:p>
            <a:pPr indent="0" marL="0">
              <a:buNone/>
            </a:pPr>
            <a:r>
              <a:rPr lang="en-US" sz="1100" b="1" dirty="0">
                <a:solidFill>
                  <a:srgbClr val="00807E"/>
                </a:solidFill>
                <a:latin typeface="Courier New" pitchFamily="34" charset="0"/>
                <a:ea typeface="Courier New" pitchFamily="34" charset="-122"/>
                <a:cs typeface="Courier New" pitchFamily="34" charset="-120"/>
              </a:rPr>
              <a:t>answered</a:t>
            </a:r>
            <a:endParaRPr lang="en-US" sz="1100" dirty="0"/>
          </a:p>
        </p:txBody>
      </p:sp>
      <p:sp>
        <p:nvSpPr>
          <p:cNvPr id="25" name="Text 22"/>
          <p:cNvSpPr txBox="1"/>
          <p:nvPr/>
        </p:nvSpPr>
        <p:spPr>
          <a:xfrm>
            <a:off x="749808"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la evidencia sostiene la respuesta completa</a:t>
            </a:r>
            <a:endParaRPr lang="en-US" sz="1050" dirty="0"/>
          </a:p>
        </p:txBody>
      </p:sp>
      <p:sp>
        <p:nvSpPr>
          <p:cNvPr id="26" name="Shape 23"/>
          <p:cNvSpPr/>
          <p:nvPr/>
        </p:nvSpPr>
        <p:spPr>
          <a:xfrm>
            <a:off x="3390595" y="4700016"/>
            <a:ext cx="2585923" cy="841248"/>
          </a:xfrm>
          <a:prstGeom prst="roundRect">
            <a:avLst>
              <a:gd name="adj" fmla="val 9783"/>
            </a:avLst>
          </a:prstGeom>
          <a:solidFill>
            <a:srgbClr val="002A5E"/>
          </a:solidFill>
          <a:ln/>
        </p:spPr>
      </p:sp>
      <p:sp>
        <p:nvSpPr>
          <p:cNvPr id="27" name="Text 24"/>
          <p:cNvSpPr txBox="1"/>
          <p:nvPr/>
        </p:nvSpPr>
        <p:spPr>
          <a:xfrm>
            <a:off x="3573475" y="4828032"/>
            <a:ext cx="2220163" cy="237744"/>
          </a:xfrm>
          <a:prstGeom prst="rect">
            <a:avLst/>
          </a:prstGeom>
          <a:noFill/>
          <a:ln/>
        </p:spPr>
        <p:txBody>
          <a:bodyPr wrap="square" lIns="0" tIns="0" rIns="0" bIns="0" rtlCol="0" anchor="t"/>
          <a:lstStyle/>
          <a:p>
            <a:pPr indent="0" marL="0">
              <a:buNone/>
            </a:pPr>
            <a:r>
              <a:rPr lang="en-US" sz="1100" b="1" dirty="0">
                <a:solidFill>
                  <a:srgbClr val="5AB6E8"/>
                </a:solidFill>
                <a:latin typeface="Courier New" pitchFamily="34" charset="0"/>
                <a:ea typeface="Courier New" pitchFamily="34" charset="-122"/>
                <a:cs typeface="Courier New" pitchFamily="34" charset="-120"/>
              </a:rPr>
              <a:t>partial</a:t>
            </a:r>
            <a:endParaRPr lang="en-US" sz="1100" dirty="0"/>
          </a:p>
        </p:txBody>
      </p:sp>
      <p:sp>
        <p:nvSpPr>
          <p:cNvPr id="28" name="Text 25"/>
          <p:cNvSpPr txBox="1"/>
          <p:nvPr/>
        </p:nvSpPr>
        <p:spPr>
          <a:xfrm>
            <a:off x="3573475"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sostiene una parte; se dice cuál falta</a:t>
            </a:r>
            <a:endParaRPr lang="en-US" sz="1050" dirty="0"/>
          </a:p>
        </p:txBody>
      </p:sp>
      <p:sp>
        <p:nvSpPr>
          <p:cNvPr id="29" name="Shape 26"/>
          <p:cNvSpPr/>
          <p:nvPr/>
        </p:nvSpPr>
        <p:spPr>
          <a:xfrm>
            <a:off x="6214262" y="4700016"/>
            <a:ext cx="2585923" cy="841248"/>
          </a:xfrm>
          <a:prstGeom prst="roundRect">
            <a:avLst>
              <a:gd name="adj" fmla="val 9783"/>
            </a:avLst>
          </a:prstGeom>
          <a:solidFill>
            <a:srgbClr val="002A5E"/>
          </a:solidFill>
          <a:ln/>
        </p:spPr>
      </p:sp>
      <p:sp>
        <p:nvSpPr>
          <p:cNvPr id="30" name="Text 27"/>
          <p:cNvSpPr txBox="1"/>
          <p:nvPr/>
        </p:nvSpPr>
        <p:spPr>
          <a:xfrm>
            <a:off x="6397142" y="4828032"/>
            <a:ext cx="2220163" cy="237744"/>
          </a:xfrm>
          <a:prstGeom prst="rect">
            <a:avLst/>
          </a:prstGeom>
          <a:noFill/>
          <a:ln/>
        </p:spPr>
        <p:txBody>
          <a:bodyPr wrap="square" lIns="0" tIns="0" rIns="0" bIns="0" rtlCol="0" anchor="t"/>
          <a:lstStyle/>
          <a:p>
            <a:pPr indent="0" marL="0">
              <a:buNone/>
            </a:pPr>
            <a:r>
              <a:rPr lang="en-US" sz="1100" b="1" dirty="0">
                <a:solidFill>
                  <a:srgbClr val="A9711A"/>
                </a:solidFill>
                <a:latin typeface="Courier New" pitchFamily="34" charset="0"/>
                <a:ea typeface="Courier New" pitchFamily="34" charset="-122"/>
                <a:cs typeface="Courier New" pitchFamily="34" charset="-120"/>
              </a:rPr>
              <a:t>insufficient_evidence</a:t>
            </a:r>
            <a:endParaRPr lang="en-US" sz="1100" dirty="0"/>
          </a:p>
        </p:txBody>
      </p:sp>
      <p:sp>
        <p:nvSpPr>
          <p:cNvPr id="31" name="Text 28"/>
          <p:cNvSpPr txBox="1"/>
          <p:nvPr/>
        </p:nvSpPr>
        <p:spPr>
          <a:xfrm>
            <a:off x="6397142"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el manual no lo cubre con lo recuperado</a:t>
            </a:r>
            <a:endParaRPr lang="en-US" sz="1050" dirty="0"/>
          </a:p>
        </p:txBody>
      </p:sp>
      <p:sp>
        <p:nvSpPr>
          <p:cNvPr id="32" name="Shape 29"/>
          <p:cNvSpPr/>
          <p:nvPr/>
        </p:nvSpPr>
        <p:spPr>
          <a:xfrm>
            <a:off x="9037930" y="4700016"/>
            <a:ext cx="2585923" cy="841248"/>
          </a:xfrm>
          <a:prstGeom prst="roundRect">
            <a:avLst>
              <a:gd name="adj" fmla="val 9783"/>
            </a:avLst>
          </a:prstGeom>
          <a:solidFill>
            <a:srgbClr val="002A5E"/>
          </a:solidFill>
          <a:ln/>
        </p:spPr>
      </p:sp>
      <p:sp>
        <p:nvSpPr>
          <p:cNvPr id="33" name="Text 30"/>
          <p:cNvSpPr txBox="1"/>
          <p:nvPr/>
        </p:nvSpPr>
        <p:spPr>
          <a:xfrm>
            <a:off x="9220810" y="4828032"/>
            <a:ext cx="2220163" cy="237744"/>
          </a:xfrm>
          <a:prstGeom prst="rect">
            <a:avLst/>
          </a:prstGeom>
          <a:noFill/>
          <a:ln/>
        </p:spPr>
        <p:txBody>
          <a:bodyPr wrap="square" lIns="0" tIns="0" rIns="0" bIns="0" rtlCol="0" anchor="t"/>
          <a:lstStyle/>
          <a:p>
            <a:pPr indent="0" marL="0">
              <a:buNone/>
            </a:pPr>
            <a:r>
              <a:rPr lang="en-US" sz="1100" b="1" dirty="0">
                <a:solidFill>
                  <a:srgbClr val="A63F38"/>
                </a:solidFill>
                <a:latin typeface="Courier New" pitchFamily="34" charset="0"/>
                <a:ea typeface="Courier New" pitchFamily="34" charset="-122"/>
                <a:cs typeface="Courier New" pitchFamily="34" charset="-120"/>
              </a:rPr>
              <a:t>out_of_scope</a:t>
            </a:r>
            <a:endParaRPr lang="en-US" sz="1100" dirty="0"/>
          </a:p>
        </p:txBody>
      </p:sp>
      <p:sp>
        <p:nvSpPr>
          <p:cNvPr id="34" name="Text 31"/>
          <p:cNvSpPr txBox="1"/>
          <p:nvPr/>
        </p:nvSpPr>
        <p:spPr>
          <a:xfrm>
            <a:off x="9220810"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la pregunta no es del manual</a:t>
            </a:r>
            <a:endParaRPr lang="en-US" sz="1050" dirty="0"/>
          </a:p>
        </p:txBody>
      </p:sp>
      <p:sp>
        <p:nvSpPr>
          <p:cNvPr id="35" name="Shape 32"/>
          <p:cNvSpPr/>
          <p:nvPr/>
        </p:nvSpPr>
        <p:spPr>
          <a:xfrm>
            <a:off x="566928" y="5797296"/>
            <a:ext cx="11057839" cy="493776"/>
          </a:xfrm>
          <a:prstGeom prst="roundRect">
            <a:avLst>
              <a:gd name="adj" fmla="val 16667"/>
            </a:avLst>
          </a:prstGeom>
          <a:solidFill>
            <a:srgbClr val="0A3E7A"/>
          </a:solidFill>
          <a:ln/>
        </p:spPr>
      </p:sp>
      <p:sp>
        <p:nvSpPr>
          <p:cNvPr id="36" name="Text 33"/>
          <p:cNvSpPr txBox="1"/>
          <p:nvPr/>
        </p:nvSpPr>
        <p:spPr>
          <a:xfrm>
            <a:off x="841248" y="588873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Estado interno tipado, tiempo máximo acotado y traza en Langfuse bajo el session_id del hilo: la misma ejecución se puede auditar después.</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WORKFLOWS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grafo de siniestros se interrumpe y pregunta antes que inventar.</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Cinco nodos y una salida lateral: cuando falta un hecho que cambia la decisión, el grafo se detiene, pide ese dato concreto y reanuda el mismo hilo.</a:t>
            </a:r>
            <a:endParaRPr lang="en-US" sz="1350" dirty="0"/>
          </a:p>
        </p:txBody>
      </p:sp>
      <p:sp>
        <p:nvSpPr>
          <p:cNvPr id="7" name="Shape 4"/>
          <p:cNvSpPr/>
          <p:nvPr/>
        </p:nvSpPr>
        <p:spPr>
          <a:xfrm>
            <a:off x="566928" y="2286000"/>
            <a:ext cx="2048256" cy="1371600"/>
          </a:xfrm>
          <a:prstGeom prst="roundRect">
            <a:avLst>
              <a:gd name="adj" fmla="val 6667"/>
            </a:avLst>
          </a:prstGeom>
          <a:solidFill>
            <a:srgbClr val="FFFFFF"/>
          </a:solidFill>
          <a:ln w="12700">
            <a:solidFill>
              <a:srgbClr val="D9E4F0"/>
            </a:solidFill>
            <a:prstDash val="solid"/>
          </a:ln>
        </p:spPr>
      </p:sp>
      <p:sp>
        <p:nvSpPr>
          <p:cNvPr id="8" name="Text 5"/>
          <p:cNvSpPr txBox="1"/>
          <p:nvPr/>
        </p:nvSpPr>
        <p:spPr>
          <a:xfrm>
            <a:off x="694944"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extract_facts</a:t>
            </a:r>
            <a:endParaRPr lang="en-US" sz="1100" dirty="0"/>
          </a:p>
        </p:txBody>
      </p:sp>
      <p:sp>
        <p:nvSpPr>
          <p:cNvPr id="9" name="Text 6"/>
          <p:cNvSpPr txBox="1"/>
          <p:nvPr/>
        </p:nvSpPr>
        <p:spPr>
          <a:xfrm>
            <a:off x="713232"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Hechos con nombre, atribución y texto literal del relato</a:t>
            </a:r>
            <a:endParaRPr lang="en-US" sz="1050" dirty="0"/>
          </a:p>
        </p:txBody>
      </p:sp>
      <p:sp>
        <p:nvSpPr>
          <p:cNvPr id="10" name="Text 7"/>
          <p:cNvSpPr txBox="1"/>
          <p:nvPr/>
        </p:nvSpPr>
        <p:spPr>
          <a:xfrm>
            <a:off x="2615184"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2798064" y="2286000"/>
            <a:ext cx="2048256" cy="1371600"/>
          </a:xfrm>
          <a:prstGeom prst="roundRect">
            <a:avLst>
              <a:gd name="adj" fmla="val 6667"/>
            </a:avLst>
          </a:prstGeom>
          <a:solidFill>
            <a:srgbClr val="FFFFFF"/>
          </a:solidFill>
          <a:ln w="12700">
            <a:solidFill>
              <a:srgbClr val="D9E4F0"/>
            </a:solidFill>
            <a:prstDash val="solid"/>
          </a:ln>
        </p:spPr>
      </p:sp>
      <p:sp>
        <p:nvSpPr>
          <p:cNvPr id="12" name="Text 9"/>
          <p:cNvSpPr txBox="1"/>
          <p:nvPr/>
        </p:nvSpPr>
        <p:spPr>
          <a:xfrm>
            <a:off x="2926080"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retrieve_criteria</a:t>
            </a:r>
            <a:endParaRPr lang="en-US" sz="1100" dirty="0"/>
          </a:p>
        </p:txBody>
      </p:sp>
      <p:sp>
        <p:nvSpPr>
          <p:cNvPr id="13" name="Text 10"/>
          <p:cNvSpPr txBox="1"/>
          <p:nvPr/>
        </p:nvSpPr>
        <p:spPr>
          <a:xfrm>
            <a:off x="2944368"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Evidencia del manual para el contexto del caso</a:t>
            </a:r>
            <a:endParaRPr lang="en-US" sz="1050" dirty="0"/>
          </a:p>
        </p:txBody>
      </p:sp>
      <p:sp>
        <p:nvSpPr>
          <p:cNvPr id="14" name="Text 11"/>
          <p:cNvSpPr txBox="1"/>
          <p:nvPr/>
        </p:nvSpPr>
        <p:spPr>
          <a:xfrm>
            <a:off x="4846320"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5" name="Shape 12"/>
          <p:cNvSpPr/>
          <p:nvPr/>
        </p:nvSpPr>
        <p:spPr>
          <a:xfrm>
            <a:off x="5029200" y="2286000"/>
            <a:ext cx="2048256" cy="1371600"/>
          </a:xfrm>
          <a:prstGeom prst="roundRect">
            <a:avLst>
              <a:gd name="adj" fmla="val 6667"/>
            </a:avLst>
          </a:prstGeom>
          <a:solidFill>
            <a:srgbClr val="003781"/>
          </a:solidFill>
          <a:ln w="12700">
            <a:solidFill>
              <a:srgbClr val="003781"/>
            </a:solidFill>
            <a:prstDash val="solid"/>
          </a:ln>
        </p:spPr>
      </p:sp>
      <p:sp>
        <p:nvSpPr>
          <p:cNvPr id="16" name="Text 13"/>
          <p:cNvSpPr txBox="1"/>
          <p:nvPr/>
        </p:nvSpPr>
        <p:spPr>
          <a:xfrm>
            <a:off x="5157216" y="2523744"/>
            <a:ext cx="1792224" cy="256032"/>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apply_rules</a:t>
            </a:r>
            <a:endParaRPr lang="en-US" sz="1100" dirty="0"/>
          </a:p>
        </p:txBody>
      </p:sp>
      <p:sp>
        <p:nvSpPr>
          <p:cNvPr id="17" name="Text 14"/>
          <p:cNvSpPr txBox="1"/>
          <p:nvPr/>
        </p:nvSpPr>
        <p:spPr>
          <a:xfrm>
            <a:off x="5175504"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C9DEF2"/>
                </a:solidFill>
                <a:latin typeface="Calibri" pitchFamily="34" charset="0"/>
                <a:ea typeface="Calibri" pitchFamily="34" charset="-122"/>
                <a:cs typeface="Calibri" pitchFamily="34" charset="-120"/>
              </a:rPr>
              <a:t>Puerta de aplicabilidad, ruleset firmado y tabla de culpabilidad</a:t>
            </a:r>
            <a:endParaRPr lang="en-US" sz="1050" dirty="0"/>
          </a:p>
        </p:txBody>
      </p:sp>
      <p:sp>
        <p:nvSpPr>
          <p:cNvPr id="18" name="Text 15"/>
          <p:cNvSpPr txBox="1"/>
          <p:nvPr/>
        </p:nvSpPr>
        <p:spPr>
          <a:xfrm>
            <a:off x="7077456"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7260336" y="2286000"/>
            <a:ext cx="2048256" cy="1371600"/>
          </a:xfrm>
          <a:prstGeom prst="roundRect">
            <a:avLst>
              <a:gd name="adj" fmla="val 6667"/>
            </a:avLst>
          </a:prstGeom>
          <a:solidFill>
            <a:srgbClr val="FFFFFF"/>
          </a:solidFill>
          <a:ln w="12700">
            <a:solidFill>
              <a:srgbClr val="D9E4F0"/>
            </a:solidFill>
            <a:prstDash val="solid"/>
          </a:ln>
        </p:spPr>
      </p:sp>
      <p:sp>
        <p:nvSpPr>
          <p:cNvPr id="20" name="Text 17"/>
          <p:cNvSpPr txBox="1"/>
          <p:nvPr/>
        </p:nvSpPr>
        <p:spPr>
          <a:xfrm>
            <a:off x="7388352"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explain</a:t>
            </a:r>
            <a:endParaRPr lang="en-US" sz="1100" dirty="0"/>
          </a:p>
        </p:txBody>
      </p:sp>
      <p:sp>
        <p:nvSpPr>
          <p:cNvPr id="21" name="Text 18"/>
          <p:cNvSpPr txBox="1"/>
          <p:nvPr/>
        </p:nvSpPr>
        <p:spPr>
          <a:xfrm>
            <a:off x="7406640"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Redacta la decisión que las reglas ya han tomado</a:t>
            </a:r>
            <a:endParaRPr lang="en-US" sz="1050" dirty="0"/>
          </a:p>
        </p:txBody>
      </p:sp>
      <p:sp>
        <p:nvSpPr>
          <p:cNvPr id="22" name="Text 19"/>
          <p:cNvSpPr txBox="1"/>
          <p:nvPr/>
        </p:nvSpPr>
        <p:spPr>
          <a:xfrm>
            <a:off x="9308592"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23" name="Shape 20"/>
          <p:cNvSpPr/>
          <p:nvPr/>
        </p:nvSpPr>
        <p:spPr>
          <a:xfrm>
            <a:off x="9491472" y="2286000"/>
            <a:ext cx="2048256" cy="1371600"/>
          </a:xfrm>
          <a:prstGeom prst="roundRect">
            <a:avLst>
              <a:gd name="adj" fmla="val 6667"/>
            </a:avLst>
          </a:prstGeom>
          <a:solidFill>
            <a:srgbClr val="FFFFFF"/>
          </a:solidFill>
          <a:ln w="12700">
            <a:solidFill>
              <a:srgbClr val="D9E4F0"/>
            </a:solidFill>
            <a:prstDash val="solid"/>
          </a:ln>
        </p:spPr>
      </p:sp>
      <p:sp>
        <p:nvSpPr>
          <p:cNvPr id="24" name="Text 21"/>
          <p:cNvSpPr txBox="1"/>
          <p:nvPr/>
        </p:nvSpPr>
        <p:spPr>
          <a:xfrm>
            <a:off x="9619488"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validate</a:t>
            </a:r>
            <a:endParaRPr lang="en-US" sz="1100" dirty="0"/>
          </a:p>
        </p:txBody>
      </p:sp>
      <p:sp>
        <p:nvSpPr>
          <p:cNvPr id="25" name="Text 22"/>
          <p:cNvSpPr txBox="1"/>
          <p:nvPr/>
        </p:nvSpPr>
        <p:spPr>
          <a:xfrm>
            <a:off x="9637776"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Comprueba citas y coherencia antes de entregar</a:t>
            </a:r>
            <a:endParaRPr lang="en-US" sz="1050" dirty="0"/>
          </a:p>
        </p:txBody>
      </p:sp>
      <p:sp>
        <p:nvSpPr>
          <p:cNvPr id="26" name="Shape 23"/>
          <p:cNvSpPr/>
          <p:nvPr/>
        </p:nvSpPr>
        <p:spPr>
          <a:xfrm>
            <a:off x="6053328" y="3657600"/>
            <a:ext cx="0" cy="365760"/>
          </a:xfrm>
          <a:prstGeom prst="line">
            <a:avLst/>
          </a:prstGeom>
          <a:noFill/>
          <a:ln w="19050">
            <a:solidFill>
              <a:srgbClr val="A9711A"/>
            </a:solidFill>
            <a:prstDash val="dash"/>
          </a:ln>
        </p:spPr>
      </p:sp>
      <p:sp>
        <p:nvSpPr>
          <p:cNvPr id="27" name="Shape 24"/>
          <p:cNvSpPr/>
          <p:nvPr/>
        </p:nvSpPr>
        <p:spPr>
          <a:xfrm>
            <a:off x="2304288" y="4023360"/>
            <a:ext cx="5669280" cy="1426464"/>
          </a:xfrm>
          <a:prstGeom prst="roundRect">
            <a:avLst>
              <a:gd name="adj" fmla="val 6410"/>
            </a:avLst>
          </a:prstGeom>
          <a:solidFill>
            <a:srgbClr val="FBF1DF"/>
          </a:solidFill>
          <a:ln/>
        </p:spPr>
      </p:sp>
      <p:sp>
        <p:nvSpPr>
          <p:cNvPr id="28" name="Text 25"/>
          <p:cNvSpPr txBox="1"/>
          <p:nvPr/>
        </p:nvSpPr>
        <p:spPr>
          <a:xfrm>
            <a:off x="2523744" y="4224528"/>
            <a:ext cx="5212080" cy="256032"/>
          </a:xfrm>
          <a:prstGeom prst="rect">
            <a:avLst/>
          </a:prstGeom>
          <a:noFill/>
          <a:ln/>
        </p:spPr>
        <p:txBody>
          <a:bodyPr wrap="square" lIns="0" tIns="0" rIns="0" bIns="0" rtlCol="0" anchor="t"/>
          <a:lstStyle/>
          <a:p>
            <a:pPr indent="0" marL="0">
              <a:buNone/>
            </a:pPr>
            <a:r>
              <a:rPr lang="en-US" sz="1200" b="1" dirty="0">
                <a:solidFill>
                  <a:srgbClr val="A9711A"/>
                </a:solidFill>
                <a:latin typeface="Courier New" pitchFamily="34" charset="0"/>
                <a:ea typeface="Courier New" pitchFamily="34" charset="-122"/>
                <a:cs typeface="Courier New" pitchFamily="34" charset="-120"/>
              </a:rPr>
              <a:t>needs_information   ·   interrupt()</a:t>
            </a:r>
            <a:endParaRPr lang="en-US" sz="1200" dirty="0"/>
          </a:p>
        </p:txBody>
      </p:sp>
      <p:sp>
        <p:nvSpPr>
          <p:cNvPr id="29" name="Text 26"/>
          <p:cNvSpPr txBox="1"/>
          <p:nvPr/>
        </p:nvSpPr>
        <p:spPr>
          <a:xfrm>
            <a:off x="2523744" y="4553712"/>
            <a:ext cx="5230368" cy="786384"/>
          </a:xfrm>
          <a:prstGeom prst="rect">
            <a:avLst/>
          </a:prstGeom>
          <a:noFill/>
          <a:ln/>
        </p:spPr>
        <p:txBody>
          <a:bodyPr wrap="square" lIns="0" tIns="0" rIns="0" bIns="0" rtlCol="0" anchor="t"/>
          <a:lstStyle/>
          <a:p>
            <a:pPr indent="0" marL="0">
              <a:lnSpc>
                <a:spcPct val="106000"/>
              </a:lnSpc>
              <a:buNone/>
            </a:pPr>
            <a:r>
              <a:rPr lang="en-US" sz="1150" dirty="0">
                <a:solidFill>
                  <a:srgbClr val="A9711A"/>
                </a:solidFill>
                <a:latin typeface="Calibri" pitchFamily="34" charset="0"/>
                <a:ea typeface="Calibri" pitchFamily="34" charset="-122"/>
                <a:cs typeface="Calibri" pitchFamily="34" charset="-120"/>
              </a:rPr>
              <a:t>El grafo guarda su estado en un checkpoint y devuelve la pregunta exacta que falta. La respuesta del usuario lo reanuda con Command(resume=…) en el mismo punto: no se reejecuta la conversación ni se vuelve a llamar al modelo desde cero.</a:t>
            </a:r>
            <a:endParaRPr lang="en-US" sz="1150" dirty="0"/>
          </a:p>
        </p:txBody>
      </p:sp>
      <p:sp>
        <p:nvSpPr>
          <p:cNvPr id="30" name="Shape 27"/>
          <p:cNvSpPr/>
          <p:nvPr/>
        </p:nvSpPr>
        <p:spPr>
          <a:xfrm>
            <a:off x="7699248" y="4023360"/>
            <a:ext cx="3870655" cy="1426464"/>
          </a:xfrm>
          <a:prstGeom prst="roundRect">
            <a:avLst>
              <a:gd name="adj" fmla="val 6410"/>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7900416" y="4224528"/>
            <a:ext cx="3291840" cy="201168"/>
          </a:xfrm>
          <a:prstGeom prst="rect">
            <a:avLst/>
          </a:prstGeom>
          <a:noFill/>
          <a:ln/>
        </p:spPr>
        <p:txBody>
          <a:bodyPr wrap="square" lIns="0" tIns="0" rIns="0" bIns="0" rtlCol="0" anchor="t"/>
          <a:lstStyle/>
          <a:p>
            <a:pPr indent="0" marL="0">
              <a:buNone/>
            </a:pPr>
            <a:r>
              <a:rPr lang="en-US" sz="900" b="1" spc="110" kern="0" dirty="0">
                <a:solidFill>
                  <a:srgbClr val="8296AC"/>
                </a:solidFill>
                <a:latin typeface="Arial" pitchFamily="34" charset="0"/>
                <a:ea typeface="Arial" pitchFamily="34" charset="-122"/>
                <a:cs typeface="Arial" pitchFamily="34" charset="-120"/>
              </a:rPr>
              <a:t>EJEMPLO REAL DE LA DEMO</a:t>
            </a:r>
            <a:endParaRPr lang="en-US" sz="900" dirty="0"/>
          </a:p>
        </p:txBody>
      </p:sp>
      <p:sp>
        <p:nvSpPr>
          <p:cNvPr id="32" name="Text 29"/>
          <p:cNvSpPr txBox="1"/>
          <p:nvPr/>
        </p:nvSpPr>
        <p:spPr>
          <a:xfrm>
            <a:off x="7900416" y="4517136"/>
            <a:ext cx="3346704" cy="841248"/>
          </a:xfrm>
          <a:prstGeom prst="rect">
            <a:avLst/>
          </a:prstGeom>
          <a:noFill/>
          <a:ln/>
        </p:spPr>
        <p:txBody>
          <a:bodyPr wrap="square" lIns="0" tIns="0" rIns="0" bIns="0" rtlCol="0" anchor="t"/>
          <a:lstStyle/>
          <a:p>
            <a:pPr indent="0" marL="0">
              <a:lnSpc>
                <a:spcPct val="106000"/>
              </a:lnSpc>
              <a:buNone/>
            </a:pPr>
            <a:r>
              <a:rPr lang="en-US" sz="1100" dirty="0">
                <a:solidFill>
                  <a:srgbClr val="0B1F3A"/>
                </a:solidFill>
                <a:latin typeface="Calibri" pitchFamily="34" charset="0"/>
                <a:ea typeface="Calibri" pitchFamily="34" charset="-122"/>
                <a:cs typeface="Calibri" pitchFamily="34" charset="-120"/>
              </a:rPr>
              <a:t>«A2 + B4 ⇒ culpable B, salvo que el conductor de A abra la puerta.» Sin ese hecho, el sistema no elige: pide exactamente ese dato, con el texto literal de la observación del manual.</a:t>
            </a:r>
            <a:endParaRPr lang="en-US" sz="1100" dirty="0"/>
          </a:p>
        </p:txBody>
      </p:sp>
      <p:sp>
        <p:nvSpPr>
          <p:cNvPr id="33" name="Shape 30"/>
          <p:cNvSpPr/>
          <p:nvPr/>
        </p:nvSpPr>
        <p:spPr>
          <a:xfrm>
            <a:off x="566928" y="5852160"/>
            <a:ext cx="11057839" cy="493776"/>
          </a:xfrm>
          <a:prstGeom prst="roundRect">
            <a:avLst>
              <a:gd name="adj" fmla="val 16667"/>
            </a:avLst>
          </a:prstGeom>
          <a:solidFill>
            <a:srgbClr val="003781"/>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Preguntar por el dato que falta es una decisión del sistema, no un fallo: es la diferencia entre un asistente que colabora y uno que rellena huecos.</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Del lenguaje natural a una decisión auditable, sin ningún salto mágico.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modelo rellena un vocabulario cerrado de hechos. El motor evalúa predicados sobre esos hechos. Nadie más participa en la decisión.</a:t>
            </a:r>
            <a:endParaRPr lang="en-US" sz="1350" dirty="0"/>
          </a:p>
        </p:txBody>
      </p:sp>
      <p:sp>
        <p:nvSpPr>
          <p:cNvPr id="7" name="Shape 4"/>
          <p:cNvSpPr/>
          <p:nvPr/>
        </p:nvSpPr>
        <p:spPr>
          <a:xfrm>
            <a:off x="566928" y="2377440"/>
            <a:ext cx="1645920" cy="1828800"/>
          </a:xfrm>
          <a:prstGeom prst="roundRect">
            <a:avLst>
              <a:gd name="adj" fmla="val 5556"/>
            </a:avLst>
          </a:prstGeom>
          <a:solidFill>
            <a:srgbClr val="F1F6FC"/>
          </a:solidFill>
          <a:ln w="12700">
            <a:solidFill>
              <a:srgbClr val="D9E4F0"/>
            </a:solidFill>
            <a:prstDash val="solid"/>
          </a:ln>
        </p:spPr>
      </p:sp>
      <p:sp>
        <p:nvSpPr>
          <p:cNvPr id="8" name="Text 5"/>
          <p:cNvSpPr txBox="1"/>
          <p:nvPr/>
        </p:nvSpPr>
        <p:spPr>
          <a:xfrm>
            <a:off x="713232" y="2596896"/>
            <a:ext cx="1353312" cy="237744"/>
          </a:xfrm>
          <a:prstGeom prst="rect">
            <a:avLst/>
          </a:prstGeom>
          <a:noFill/>
          <a:ln/>
        </p:spPr>
        <p:txBody>
          <a:bodyPr wrap="square" lIns="0" tIns="0" rIns="0" bIns="0" rtlCol="0" anchor="t"/>
          <a:lstStyle/>
          <a:p>
            <a:pPr algn="ctr" indent="0" marL="0">
              <a:buNone/>
            </a:pPr>
            <a:r>
              <a:rPr lang="en-US" sz="1150" b="1" dirty="0">
                <a:solidFill>
                  <a:srgbClr val="0B1F3A"/>
                </a:solidFill>
                <a:latin typeface="Arial" pitchFamily="34" charset="0"/>
                <a:ea typeface="Arial" pitchFamily="34" charset="-122"/>
                <a:cs typeface="Arial" pitchFamily="34" charset="-120"/>
              </a:rPr>
              <a:t>RELATO</a:t>
            </a:r>
            <a:endParaRPr lang="en-US" sz="1150" dirty="0"/>
          </a:p>
        </p:txBody>
      </p:sp>
      <p:sp>
        <p:nvSpPr>
          <p:cNvPr id="9" name="Text 6"/>
          <p:cNvSpPr txBox="1"/>
          <p:nvPr/>
        </p:nvSpPr>
        <p:spPr>
          <a:xfrm>
            <a:off x="731520" y="2980944"/>
            <a:ext cx="1316736" cy="1097280"/>
          </a:xfrm>
          <a:prstGeom prst="rect">
            <a:avLst/>
          </a:prstGeom>
          <a:noFill/>
          <a:ln/>
        </p:spPr>
        <p:txBody>
          <a:bodyPr wrap="square" lIns="0" tIns="0" rIns="0" bIns="0" rtlCol="0" anchor="t"/>
          <a:lstStyle/>
          <a:p>
            <a:pPr algn="ctr" indent="0" marL="0">
              <a:lnSpc>
                <a:spcPct val="116000"/>
              </a:lnSpc>
              <a:buNone/>
            </a:pPr>
            <a:r>
              <a:rPr lang="en-US" sz="1200" i="1" dirty="0">
                <a:solidFill>
                  <a:srgbClr val="0B1F3A"/>
                </a:solidFill>
                <a:latin typeface="Calibri" pitchFamily="34" charset="0"/>
                <a:ea typeface="Calibri" pitchFamily="34" charset="-122"/>
                <a:cs typeface="Calibri" pitchFamily="34" charset="-120"/>
              </a:rPr>
              <a:t>«Cambiaba de carril y rocé al otro…»</a:t>
            </a:r>
            <a:endParaRPr lang="en-US" sz="1200" dirty="0"/>
          </a:p>
        </p:txBody>
      </p:sp>
      <p:sp>
        <p:nvSpPr>
          <p:cNvPr id="10" name="Text 7"/>
          <p:cNvSpPr txBox="1"/>
          <p:nvPr/>
        </p:nvSpPr>
        <p:spPr>
          <a:xfrm>
            <a:off x="221284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1" name="Shape 8"/>
          <p:cNvSpPr/>
          <p:nvPr/>
        </p:nvSpPr>
        <p:spPr>
          <a:xfrm>
            <a:off x="2350008" y="2377440"/>
            <a:ext cx="2697480" cy="1828800"/>
          </a:xfrm>
          <a:prstGeom prst="roundRect">
            <a:avLst>
              <a:gd name="adj" fmla="val 5000"/>
            </a:avLst>
          </a:prstGeom>
          <a:solidFill>
            <a:srgbClr val="E6F0F9"/>
          </a:solidFill>
          <a:ln w="12700">
            <a:solidFill>
              <a:srgbClr val="D9E4F0"/>
            </a:solidFill>
            <a:prstDash val="solid"/>
          </a:ln>
        </p:spPr>
      </p:sp>
      <p:sp>
        <p:nvSpPr>
          <p:cNvPr id="12" name="Text 9"/>
          <p:cNvSpPr txBox="1"/>
          <p:nvPr/>
        </p:nvSpPr>
        <p:spPr>
          <a:xfrm>
            <a:off x="2496312" y="2596896"/>
            <a:ext cx="2404872" cy="237744"/>
          </a:xfrm>
          <a:prstGeom prst="rect">
            <a:avLst/>
          </a:prstGeom>
          <a:noFill/>
          <a:ln/>
        </p:spPr>
        <p:txBody>
          <a:bodyPr wrap="square" lIns="0" tIns="0" rIns="0" bIns="0" rtlCol="0" anchor="t"/>
          <a:lstStyle/>
          <a:p>
            <a:pPr algn="ctr" indent="0" marL="0">
              <a:buNone/>
            </a:pPr>
            <a:r>
              <a:rPr lang="en-US" sz="1150" b="1" dirty="0">
                <a:solidFill>
                  <a:srgbClr val="003781"/>
                </a:solidFill>
                <a:latin typeface="Arial" pitchFamily="34" charset="0"/>
                <a:ea typeface="Arial" pitchFamily="34" charset="-122"/>
                <a:cs typeface="Arial" pitchFamily="34" charset="-120"/>
              </a:rPr>
              <a:t>HECHOS TIPADOS</a:t>
            </a:r>
            <a:endParaRPr lang="en-US" sz="1150" dirty="0"/>
          </a:p>
        </p:txBody>
      </p:sp>
      <p:sp>
        <p:nvSpPr>
          <p:cNvPr id="13" name="Text 10"/>
          <p:cNvSpPr txBox="1"/>
          <p:nvPr/>
        </p:nvSpPr>
        <p:spPr>
          <a:xfrm>
            <a:off x="2514600" y="2980944"/>
            <a:ext cx="2368296" cy="1097280"/>
          </a:xfrm>
          <a:prstGeom prst="rect">
            <a:avLst/>
          </a:prstGeom>
          <a:noFill/>
          <a:ln/>
        </p:spPr>
        <p:txBody>
          <a:bodyPr wrap="square" lIns="0" tIns="0" rIns="0" bIns="0" rtlCol="0" anchor="t"/>
          <a:lstStyle/>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lane_change_acknowledged_by_both</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    = true</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contradictory_versions = true</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lane_change_vehicle = A</a:t>
            </a:r>
            <a:endParaRPr lang="en-US" sz="900" dirty="0"/>
          </a:p>
        </p:txBody>
      </p:sp>
      <p:sp>
        <p:nvSpPr>
          <p:cNvPr id="14" name="Text 11"/>
          <p:cNvSpPr txBox="1"/>
          <p:nvPr/>
        </p:nvSpPr>
        <p:spPr>
          <a:xfrm>
            <a:off x="50474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5" name="Shape 12"/>
          <p:cNvSpPr/>
          <p:nvPr/>
        </p:nvSpPr>
        <p:spPr>
          <a:xfrm>
            <a:off x="5184648" y="2377440"/>
            <a:ext cx="2377440" cy="1828800"/>
          </a:xfrm>
          <a:prstGeom prst="roundRect">
            <a:avLst>
              <a:gd name="adj" fmla="val 5000"/>
            </a:avLst>
          </a:prstGeom>
          <a:solidFill>
            <a:srgbClr val="003781"/>
          </a:solidFill>
          <a:ln w="12700">
            <a:solidFill>
              <a:srgbClr val="003781"/>
            </a:solidFill>
            <a:prstDash val="solid"/>
          </a:ln>
        </p:spPr>
      </p:sp>
      <p:sp>
        <p:nvSpPr>
          <p:cNvPr id="16" name="Text 13"/>
          <p:cNvSpPr txBox="1"/>
          <p:nvPr/>
        </p:nvSpPr>
        <p:spPr>
          <a:xfrm>
            <a:off x="5330952" y="2596896"/>
            <a:ext cx="208483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RULESET FIRMADO</a:t>
            </a:r>
            <a:endParaRPr lang="en-US" sz="1150" dirty="0"/>
          </a:p>
        </p:txBody>
      </p:sp>
      <p:sp>
        <p:nvSpPr>
          <p:cNvPr id="17" name="Text 14"/>
          <p:cNvSpPr txBox="1"/>
          <p:nvPr/>
        </p:nvSpPr>
        <p:spPr>
          <a:xfrm>
            <a:off x="5349240" y="2980944"/>
            <a:ext cx="2048256" cy="1097280"/>
          </a:xfrm>
          <a:prstGeom prst="rect">
            <a:avLst/>
          </a:prstGeom>
          <a:noFill/>
          <a:ln/>
        </p:spPr>
        <p:txBody>
          <a:bodyPr wrap="square" lIns="0" tIns="0" rIns="0" bIns="0" rtlCol="0" anchor="t"/>
          <a:lstStyle/>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applies_when: all / any</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eq · ne · is_true · is_false</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evidencia + firma del revisor</a:t>
            </a:r>
            <a:endParaRPr lang="en-US" sz="900" dirty="0"/>
          </a:p>
        </p:txBody>
      </p:sp>
      <p:sp>
        <p:nvSpPr>
          <p:cNvPr id="18" name="Text 15"/>
          <p:cNvSpPr txBox="1"/>
          <p:nvPr/>
        </p:nvSpPr>
        <p:spPr>
          <a:xfrm>
            <a:off x="75620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9" name="Shape 16"/>
          <p:cNvSpPr/>
          <p:nvPr/>
        </p:nvSpPr>
        <p:spPr>
          <a:xfrm>
            <a:off x="7699248" y="2377440"/>
            <a:ext cx="1920240" cy="1828800"/>
          </a:xfrm>
          <a:prstGeom prst="roundRect">
            <a:avLst>
              <a:gd name="adj" fmla="val 5000"/>
            </a:avLst>
          </a:prstGeom>
          <a:solidFill>
            <a:srgbClr val="E6F0F9"/>
          </a:solidFill>
          <a:ln w="12700">
            <a:solidFill>
              <a:srgbClr val="D9E4F0"/>
            </a:solidFill>
            <a:prstDash val="solid"/>
          </a:ln>
        </p:spPr>
      </p:sp>
      <p:sp>
        <p:nvSpPr>
          <p:cNvPr id="20" name="Text 17"/>
          <p:cNvSpPr txBox="1"/>
          <p:nvPr/>
        </p:nvSpPr>
        <p:spPr>
          <a:xfrm>
            <a:off x="7845552" y="2596896"/>
            <a:ext cx="1627632" cy="237744"/>
          </a:xfrm>
          <a:prstGeom prst="rect">
            <a:avLst/>
          </a:prstGeom>
          <a:noFill/>
          <a:ln/>
        </p:spPr>
        <p:txBody>
          <a:bodyPr wrap="square" lIns="0" tIns="0" rIns="0" bIns="0" rtlCol="0" anchor="t"/>
          <a:lstStyle/>
          <a:p>
            <a:pPr algn="ctr" indent="0" marL="0">
              <a:buNone/>
            </a:pPr>
            <a:r>
              <a:rPr lang="en-US" sz="1150" b="1" dirty="0">
                <a:solidFill>
                  <a:srgbClr val="003781"/>
                </a:solidFill>
                <a:latin typeface="Arial" pitchFamily="34" charset="0"/>
                <a:ea typeface="Arial" pitchFamily="34" charset="-122"/>
                <a:cs typeface="Arial" pitchFamily="34" charset="-120"/>
              </a:rPr>
              <a:t>EVALUACIÓN</a:t>
            </a:r>
            <a:endParaRPr lang="en-US" sz="1150" dirty="0"/>
          </a:p>
        </p:txBody>
      </p:sp>
      <p:sp>
        <p:nvSpPr>
          <p:cNvPr id="21" name="Text 18"/>
          <p:cNvSpPr txBox="1"/>
          <p:nvPr/>
        </p:nvSpPr>
        <p:spPr>
          <a:xfrm>
            <a:off x="7863840" y="2980944"/>
            <a:ext cx="1591056" cy="1097280"/>
          </a:xfrm>
          <a:prstGeom prst="rect">
            <a:avLst/>
          </a:prstGeom>
          <a:noFill/>
          <a:ln/>
        </p:spPr>
        <p:txBody>
          <a:bodyPr wrap="square" lIns="0" tIns="0" rIns="0" bIns="0" rtlCol="0" anchor="t"/>
          <a:lstStyle/>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matched</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not_matched</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insufficient_data</a:t>
            </a:r>
            <a:endParaRPr lang="en-US" sz="900" dirty="0"/>
          </a:p>
        </p:txBody>
      </p:sp>
      <p:sp>
        <p:nvSpPr>
          <p:cNvPr id="22" name="Text 19"/>
          <p:cNvSpPr txBox="1"/>
          <p:nvPr/>
        </p:nvSpPr>
        <p:spPr>
          <a:xfrm>
            <a:off x="96194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3" name="Shape 20"/>
          <p:cNvSpPr/>
          <p:nvPr/>
        </p:nvSpPr>
        <p:spPr>
          <a:xfrm>
            <a:off x="9756648" y="2377440"/>
            <a:ext cx="1783080" cy="1828800"/>
          </a:xfrm>
          <a:prstGeom prst="roundRect">
            <a:avLst>
              <a:gd name="adj" fmla="val 5128"/>
            </a:avLst>
          </a:prstGeom>
          <a:solidFill>
            <a:srgbClr val="00807E"/>
          </a:solidFill>
          <a:ln w="12700">
            <a:solidFill>
              <a:srgbClr val="00807E"/>
            </a:solidFill>
            <a:prstDash val="solid"/>
          </a:ln>
        </p:spPr>
      </p:sp>
      <p:sp>
        <p:nvSpPr>
          <p:cNvPr id="24" name="Text 21"/>
          <p:cNvSpPr txBox="1"/>
          <p:nvPr/>
        </p:nvSpPr>
        <p:spPr>
          <a:xfrm>
            <a:off x="9902952" y="2596896"/>
            <a:ext cx="149047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DECISIÓN</a:t>
            </a:r>
            <a:endParaRPr lang="en-US" sz="1150" dirty="0"/>
          </a:p>
        </p:txBody>
      </p:sp>
      <p:sp>
        <p:nvSpPr>
          <p:cNvPr id="25" name="Text 22"/>
          <p:cNvSpPr txBox="1"/>
          <p:nvPr/>
        </p:nvSpPr>
        <p:spPr>
          <a:xfrm>
            <a:off x="9921240" y="2980944"/>
            <a:ext cx="1453896" cy="1097280"/>
          </a:xfrm>
          <a:prstGeom prst="rect">
            <a:avLst/>
          </a:prstGeom>
          <a:noFill/>
          <a:ln/>
        </p:spPr>
        <p:txBody>
          <a:bodyPr wrap="square" lIns="0" tIns="0" rIns="0" bIns="0" rtlCol="0" anchor="t"/>
          <a:lstStyle/>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resuelta</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condicionada</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indeterminada</a:t>
            </a:r>
            <a:endParaRPr lang="en-US" sz="900" dirty="0"/>
          </a:p>
        </p:txBody>
      </p:sp>
      <p:sp>
        <p:nvSpPr>
          <p:cNvPr id="26" name="Shape 23"/>
          <p:cNvSpPr/>
          <p:nvPr/>
        </p:nvSpPr>
        <p:spPr>
          <a:xfrm>
            <a:off x="566928"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7" name="Text 24"/>
          <p:cNvSpPr txBox="1"/>
          <p:nvPr/>
        </p:nvSpPr>
        <p:spPr>
          <a:xfrm>
            <a:off x="804672"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El extractor sólo conoce los hechos que el ruleset consulta</a:t>
            </a:r>
            <a:endParaRPr lang="en-US" sz="1150" dirty="0"/>
          </a:p>
        </p:txBody>
      </p:sp>
      <p:sp>
        <p:nvSpPr>
          <p:cNvPr id="28" name="Text 25"/>
          <p:cNvSpPr txBox="1"/>
          <p:nvPr/>
        </p:nvSpPr>
        <p:spPr>
          <a:xfrm>
            <a:off x="804672"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Los nombres estables se derivan del artefacto firmado: una regla no puede depender de un hecho que nadie pidió extraer.</a:t>
            </a:r>
            <a:endParaRPr lang="en-US" sz="1050" dirty="0"/>
          </a:p>
        </p:txBody>
      </p:sp>
      <p:sp>
        <p:nvSpPr>
          <p:cNvPr id="29" name="Shape 26"/>
          <p:cNvSpPr/>
          <p:nvPr/>
        </p:nvSpPr>
        <p:spPr>
          <a:xfrm>
            <a:off x="4344314"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0" name="Text 27"/>
          <p:cNvSpPr txBox="1"/>
          <p:nvPr/>
        </p:nvSpPr>
        <p:spPr>
          <a:xfrm>
            <a:off x="4582058"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Un hecho ausente produce insufficient_data</a:t>
            </a:r>
            <a:endParaRPr lang="en-US" sz="1150" dirty="0"/>
          </a:p>
        </p:txBody>
      </p:sp>
      <p:sp>
        <p:nvSpPr>
          <p:cNvPr id="31" name="Text 28"/>
          <p:cNvSpPr txBox="1"/>
          <p:nvPr/>
        </p:nvSpPr>
        <p:spPr>
          <a:xfrm>
            <a:off x="4582058"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Nunca un culpable por defecto. La interfaz enseña también las reglas que no casan, y por qué.</a:t>
            </a:r>
            <a:endParaRPr lang="en-US" sz="1050" dirty="0"/>
          </a:p>
        </p:txBody>
      </p:sp>
      <p:sp>
        <p:nvSpPr>
          <p:cNvPr id="32" name="Shape 29"/>
          <p:cNvSpPr/>
          <p:nvPr/>
        </p:nvSpPr>
        <p:spPr>
          <a:xfrm>
            <a:off x="8121701"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3" name="Text 30"/>
          <p:cNvSpPr txBox="1"/>
          <p:nvPr/>
        </p:nvSpPr>
        <p:spPr>
          <a:xfrm>
            <a:off x="8359445"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Una invariante del dominio bloquea la incoherencia</a:t>
            </a:r>
            <a:endParaRPr lang="en-US" sz="1150" dirty="0"/>
          </a:p>
        </p:txBody>
      </p:sp>
      <p:sp>
        <p:nvSpPr>
          <p:cNvPr id="34" name="Text 31"/>
          <p:cNvSpPr txBox="1"/>
          <p:nvPr/>
        </p:nvSpPr>
        <p:spPr>
          <a:xfrm>
            <a:off x="8359445"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Un convenio no aplicable no puede llevar decisión, y una decisión resuelta no puede existir sin las reglas que la sostienen.</a:t>
            </a:r>
            <a:endParaRPr lang="en-US" sz="1050" dirty="0"/>
          </a:p>
        </p:txBody>
      </p:sp>
      <p:sp>
        <p:nvSpPr>
          <p:cNvPr id="35" name="Shape 32"/>
          <p:cNvSpPr/>
          <p:nvPr/>
        </p:nvSpPr>
        <p:spPr>
          <a:xfrm>
            <a:off x="566928" y="5852160"/>
            <a:ext cx="11057839" cy="493776"/>
          </a:xfrm>
          <a:prstGeom prst="roundRect">
            <a:avLst>
              <a:gd name="adj" fmla="val 16667"/>
            </a:avLst>
          </a:prstGeom>
          <a:solidFill>
            <a:srgbClr val="003781"/>
          </a:solidFill>
          <a:ln/>
        </p:spPr>
      </p:sp>
      <p:sp>
        <p:nvSpPr>
          <p:cNvPr id="36" name="Text 33"/>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generador redacta la decisión; no la toma. No hay ningún camino en el código por el que una generación convierta un resultado indeterminado en definitivo.</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tabla de culpabilidad se transcribió dos veces a mano — por eso se puede confiar en ella.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324 celdas leídas de un PDF de 2004 en las que cada error es un error de atribución de responsabilidad. Ninguna se autotranscribió.</a:t>
            </a:r>
            <a:endParaRPr lang="en-US" sz="1350" dirty="0"/>
          </a:p>
        </p:txBody>
      </p:sp>
      <p:sp>
        <p:nvSpPr>
          <p:cNvPr id="7" name="Text 4"/>
          <p:cNvSpPr txBox="1"/>
          <p:nvPr/>
        </p:nvSpPr>
        <p:spPr>
          <a:xfrm>
            <a:off x="1408176" y="2377440"/>
            <a:ext cx="2403043" cy="201168"/>
          </a:xfrm>
          <a:prstGeom prst="rect">
            <a:avLst/>
          </a:prstGeom>
          <a:noFill/>
          <a:ln/>
        </p:spPr>
        <p:txBody>
          <a:bodyPr wrap="square" lIns="0" tIns="0" rIns="0" bIns="0" rtlCol="0" anchor="t"/>
          <a:lstStyle/>
          <a:p>
            <a:pPr algn="ctr" indent="0" marL="0">
              <a:buNone/>
            </a:pPr>
            <a:r>
              <a:rPr lang="en-US" sz="850" b="1" spc="80" kern="0" dirty="0">
                <a:solidFill>
                  <a:srgbClr val="8296AC"/>
                </a:solidFill>
                <a:latin typeface="Arial" pitchFamily="34" charset="0"/>
                <a:ea typeface="Arial" pitchFamily="34" charset="-122"/>
                <a:cs typeface="Arial" pitchFamily="34" charset="-120"/>
              </a:rPr>
              <a:t>VEHÍCULO B  ·  B0 – B17</a:t>
            </a:r>
            <a:endParaRPr lang="en-US" sz="850" dirty="0"/>
          </a:p>
        </p:txBody>
      </p:sp>
      <p:sp>
        <p:nvSpPr>
          <p:cNvPr id="8" name="Text 5"/>
          <p:cNvSpPr txBox="1"/>
          <p:nvPr/>
        </p:nvSpPr>
        <p:spPr>
          <a:xfrm>
            <a:off x="566928" y="3566160"/>
            <a:ext cx="768096" cy="457200"/>
          </a:xfrm>
          <a:prstGeom prst="rect">
            <a:avLst/>
          </a:prstGeom>
          <a:noFill/>
          <a:ln/>
        </p:spPr>
        <p:txBody>
          <a:bodyPr wrap="square" lIns="0" tIns="0" rIns="0" bIns="0" rtlCol="0" anchor="t"/>
          <a:lstStyle/>
          <a:p>
            <a:pPr algn="ctr" indent="0" marL="0">
              <a:lnSpc>
                <a:spcPct val="105000"/>
              </a:lnSpc>
              <a:buNone/>
            </a:pPr>
            <a:r>
              <a:rPr lang="en-US" sz="800" b="1" spc="40" kern="0" dirty="0">
                <a:solidFill>
                  <a:srgbClr val="8296AC"/>
                </a:solidFill>
                <a:latin typeface="Arial" pitchFamily="34" charset="0"/>
                <a:ea typeface="Arial" pitchFamily="34" charset="-122"/>
                <a:cs typeface="Arial" pitchFamily="34" charset="-120"/>
              </a:rPr>
              <a:t>VEHÍCULO A</a:t>
            </a:r>
            <a:endParaRPr lang="en-US" sz="800" dirty="0"/>
          </a:p>
          <a:p>
            <a:pPr algn="ctr" indent="0" marL="0">
              <a:lnSpc>
                <a:spcPct val="105000"/>
              </a:lnSpc>
              <a:buNone/>
            </a:pPr>
            <a:r>
              <a:rPr lang="en-US" sz="800" b="1" spc="40" kern="0" dirty="0">
                <a:solidFill>
                  <a:srgbClr val="8296AC"/>
                </a:solidFill>
                <a:latin typeface="Arial" pitchFamily="34" charset="0"/>
                <a:ea typeface="Arial" pitchFamily="34" charset="-122"/>
                <a:cs typeface="Arial" pitchFamily="34" charset="-120"/>
              </a:rPr>
              <a:t>A0 – A17</a:t>
            </a:r>
            <a:endParaRPr lang="en-US" sz="800" dirty="0"/>
          </a:p>
        </p:txBody>
      </p:sp>
      <p:sp>
        <p:nvSpPr>
          <p:cNvPr id="9" name="Shape 6"/>
          <p:cNvSpPr/>
          <p:nvPr/>
        </p:nvSpPr>
        <p:spPr>
          <a:xfrm>
            <a:off x="1408176" y="2670048"/>
            <a:ext cx="118872" cy="118872"/>
          </a:xfrm>
          <a:prstGeom prst="rect">
            <a:avLst/>
          </a:prstGeom>
          <a:solidFill>
            <a:srgbClr val="003781"/>
          </a:solidFill>
          <a:ln/>
        </p:spPr>
      </p:sp>
      <p:sp>
        <p:nvSpPr>
          <p:cNvPr id="10" name="Shape 7"/>
          <p:cNvSpPr/>
          <p:nvPr/>
        </p:nvSpPr>
        <p:spPr>
          <a:xfrm>
            <a:off x="1541678" y="2670048"/>
            <a:ext cx="118872" cy="118872"/>
          </a:xfrm>
          <a:prstGeom prst="rect">
            <a:avLst/>
          </a:prstGeom>
          <a:solidFill>
            <a:srgbClr val="5AB6E8"/>
          </a:solidFill>
          <a:ln/>
        </p:spPr>
      </p:sp>
      <p:sp>
        <p:nvSpPr>
          <p:cNvPr id="11" name="Shape 8"/>
          <p:cNvSpPr/>
          <p:nvPr/>
        </p:nvSpPr>
        <p:spPr>
          <a:xfrm>
            <a:off x="1675181" y="2670048"/>
            <a:ext cx="118872" cy="118872"/>
          </a:xfrm>
          <a:prstGeom prst="rect">
            <a:avLst/>
          </a:prstGeom>
          <a:solidFill>
            <a:srgbClr val="E6F0F9"/>
          </a:solidFill>
          <a:ln/>
        </p:spPr>
      </p:sp>
      <p:sp>
        <p:nvSpPr>
          <p:cNvPr id="12" name="Shape 9"/>
          <p:cNvSpPr/>
          <p:nvPr/>
        </p:nvSpPr>
        <p:spPr>
          <a:xfrm>
            <a:off x="1808683" y="2670048"/>
            <a:ext cx="118872" cy="118872"/>
          </a:xfrm>
          <a:prstGeom prst="rect">
            <a:avLst/>
          </a:prstGeom>
          <a:solidFill>
            <a:srgbClr val="E6F0F9"/>
          </a:solidFill>
          <a:ln/>
        </p:spPr>
      </p:sp>
      <p:sp>
        <p:nvSpPr>
          <p:cNvPr id="13" name="Shape 10"/>
          <p:cNvSpPr/>
          <p:nvPr/>
        </p:nvSpPr>
        <p:spPr>
          <a:xfrm>
            <a:off x="1942186" y="2670048"/>
            <a:ext cx="118872" cy="118872"/>
          </a:xfrm>
          <a:prstGeom prst="rect">
            <a:avLst/>
          </a:prstGeom>
          <a:solidFill>
            <a:srgbClr val="003781"/>
          </a:solidFill>
          <a:ln/>
        </p:spPr>
      </p:sp>
      <p:sp>
        <p:nvSpPr>
          <p:cNvPr id="14" name="Shape 11"/>
          <p:cNvSpPr/>
          <p:nvPr/>
        </p:nvSpPr>
        <p:spPr>
          <a:xfrm>
            <a:off x="2075688" y="2670048"/>
            <a:ext cx="118872" cy="118872"/>
          </a:xfrm>
          <a:prstGeom prst="rect">
            <a:avLst/>
          </a:prstGeom>
          <a:solidFill>
            <a:srgbClr val="5AB6E8"/>
          </a:solidFill>
          <a:ln/>
        </p:spPr>
      </p:sp>
      <p:sp>
        <p:nvSpPr>
          <p:cNvPr id="15" name="Shape 12"/>
          <p:cNvSpPr/>
          <p:nvPr/>
        </p:nvSpPr>
        <p:spPr>
          <a:xfrm>
            <a:off x="2209190" y="2670048"/>
            <a:ext cx="118872" cy="118872"/>
          </a:xfrm>
          <a:prstGeom prst="rect">
            <a:avLst/>
          </a:prstGeom>
          <a:solidFill>
            <a:srgbClr val="E6F0F9"/>
          </a:solidFill>
          <a:ln/>
        </p:spPr>
      </p:sp>
      <p:sp>
        <p:nvSpPr>
          <p:cNvPr id="16" name="Shape 13"/>
          <p:cNvSpPr/>
          <p:nvPr/>
        </p:nvSpPr>
        <p:spPr>
          <a:xfrm>
            <a:off x="2342693" y="2670048"/>
            <a:ext cx="118872" cy="118872"/>
          </a:xfrm>
          <a:prstGeom prst="rect">
            <a:avLst/>
          </a:prstGeom>
          <a:solidFill>
            <a:srgbClr val="003781"/>
          </a:solidFill>
          <a:ln/>
        </p:spPr>
      </p:sp>
      <p:sp>
        <p:nvSpPr>
          <p:cNvPr id="17" name="Shape 14"/>
          <p:cNvSpPr/>
          <p:nvPr/>
        </p:nvSpPr>
        <p:spPr>
          <a:xfrm>
            <a:off x="2476195" y="2670048"/>
            <a:ext cx="118872" cy="118872"/>
          </a:xfrm>
          <a:prstGeom prst="rect">
            <a:avLst/>
          </a:prstGeom>
          <a:solidFill>
            <a:srgbClr val="5AB6E8"/>
          </a:solidFill>
          <a:ln/>
        </p:spPr>
      </p:sp>
      <p:sp>
        <p:nvSpPr>
          <p:cNvPr id="18" name="Shape 15"/>
          <p:cNvSpPr/>
          <p:nvPr/>
        </p:nvSpPr>
        <p:spPr>
          <a:xfrm>
            <a:off x="2609698" y="2670048"/>
            <a:ext cx="118872" cy="118872"/>
          </a:xfrm>
          <a:prstGeom prst="rect">
            <a:avLst/>
          </a:prstGeom>
          <a:solidFill>
            <a:srgbClr val="E6F0F9"/>
          </a:solidFill>
          <a:ln/>
        </p:spPr>
      </p:sp>
      <p:sp>
        <p:nvSpPr>
          <p:cNvPr id="19" name="Shape 16"/>
          <p:cNvSpPr/>
          <p:nvPr/>
        </p:nvSpPr>
        <p:spPr>
          <a:xfrm>
            <a:off x="2743200" y="2670048"/>
            <a:ext cx="118872" cy="118872"/>
          </a:xfrm>
          <a:prstGeom prst="rect">
            <a:avLst/>
          </a:prstGeom>
          <a:solidFill>
            <a:srgbClr val="003781"/>
          </a:solidFill>
          <a:ln/>
        </p:spPr>
      </p:sp>
      <p:sp>
        <p:nvSpPr>
          <p:cNvPr id="20" name="Shape 17"/>
          <p:cNvSpPr/>
          <p:nvPr/>
        </p:nvSpPr>
        <p:spPr>
          <a:xfrm>
            <a:off x="2876702" y="2670048"/>
            <a:ext cx="118872" cy="118872"/>
          </a:xfrm>
          <a:prstGeom prst="rect">
            <a:avLst/>
          </a:prstGeom>
          <a:solidFill>
            <a:srgbClr val="5AB6E8"/>
          </a:solidFill>
          <a:ln/>
        </p:spPr>
      </p:sp>
      <p:sp>
        <p:nvSpPr>
          <p:cNvPr id="21" name="Shape 18"/>
          <p:cNvSpPr/>
          <p:nvPr/>
        </p:nvSpPr>
        <p:spPr>
          <a:xfrm>
            <a:off x="3010205" y="2670048"/>
            <a:ext cx="118872" cy="118872"/>
          </a:xfrm>
          <a:prstGeom prst="rect">
            <a:avLst/>
          </a:prstGeom>
          <a:solidFill>
            <a:srgbClr val="E6F0F9"/>
          </a:solidFill>
          <a:ln/>
        </p:spPr>
      </p:sp>
      <p:sp>
        <p:nvSpPr>
          <p:cNvPr id="22" name="Shape 19"/>
          <p:cNvSpPr/>
          <p:nvPr/>
        </p:nvSpPr>
        <p:spPr>
          <a:xfrm>
            <a:off x="3143707" y="2670048"/>
            <a:ext cx="118872" cy="118872"/>
          </a:xfrm>
          <a:prstGeom prst="rect">
            <a:avLst/>
          </a:prstGeom>
          <a:solidFill>
            <a:srgbClr val="E6F0F9"/>
          </a:solidFill>
          <a:ln/>
        </p:spPr>
      </p:sp>
      <p:sp>
        <p:nvSpPr>
          <p:cNvPr id="23" name="Shape 20"/>
          <p:cNvSpPr/>
          <p:nvPr/>
        </p:nvSpPr>
        <p:spPr>
          <a:xfrm>
            <a:off x="3277210" y="2670048"/>
            <a:ext cx="118872" cy="118872"/>
          </a:xfrm>
          <a:prstGeom prst="rect">
            <a:avLst/>
          </a:prstGeom>
          <a:solidFill>
            <a:srgbClr val="003781"/>
          </a:solidFill>
          <a:ln/>
        </p:spPr>
      </p:sp>
      <p:sp>
        <p:nvSpPr>
          <p:cNvPr id="24" name="Shape 21"/>
          <p:cNvSpPr/>
          <p:nvPr/>
        </p:nvSpPr>
        <p:spPr>
          <a:xfrm>
            <a:off x="3410712" y="2670048"/>
            <a:ext cx="118872" cy="118872"/>
          </a:xfrm>
          <a:prstGeom prst="rect">
            <a:avLst/>
          </a:prstGeom>
          <a:solidFill>
            <a:srgbClr val="5AB6E8"/>
          </a:solidFill>
          <a:ln/>
        </p:spPr>
      </p:sp>
      <p:sp>
        <p:nvSpPr>
          <p:cNvPr id="25" name="Shape 22"/>
          <p:cNvSpPr/>
          <p:nvPr/>
        </p:nvSpPr>
        <p:spPr>
          <a:xfrm>
            <a:off x="3544214" y="2670048"/>
            <a:ext cx="118872" cy="118872"/>
          </a:xfrm>
          <a:prstGeom prst="rect">
            <a:avLst/>
          </a:prstGeom>
          <a:solidFill>
            <a:srgbClr val="E6F0F9"/>
          </a:solidFill>
          <a:ln/>
        </p:spPr>
      </p:sp>
      <p:sp>
        <p:nvSpPr>
          <p:cNvPr id="26" name="Shape 23"/>
          <p:cNvSpPr/>
          <p:nvPr/>
        </p:nvSpPr>
        <p:spPr>
          <a:xfrm>
            <a:off x="3677717" y="2670048"/>
            <a:ext cx="118872" cy="118872"/>
          </a:xfrm>
          <a:prstGeom prst="rect">
            <a:avLst/>
          </a:prstGeom>
          <a:solidFill>
            <a:srgbClr val="003781"/>
          </a:solidFill>
          <a:ln/>
        </p:spPr>
      </p:sp>
      <p:sp>
        <p:nvSpPr>
          <p:cNvPr id="27" name="Shape 24"/>
          <p:cNvSpPr/>
          <p:nvPr/>
        </p:nvSpPr>
        <p:spPr>
          <a:xfrm>
            <a:off x="1408176" y="2803550"/>
            <a:ext cx="118872" cy="118872"/>
          </a:xfrm>
          <a:prstGeom prst="rect">
            <a:avLst/>
          </a:prstGeom>
          <a:solidFill>
            <a:srgbClr val="E6F0F9"/>
          </a:solidFill>
          <a:ln/>
        </p:spPr>
      </p:sp>
      <p:sp>
        <p:nvSpPr>
          <p:cNvPr id="28" name="Shape 25"/>
          <p:cNvSpPr/>
          <p:nvPr/>
        </p:nvSpPr>
        <p:spPr>
          <a:xfrm>
            <a:off x="1541678" y="2803550"/>
            <a:ext cx="118872" cy="118872"/>
          </a:xfrm>
          <a:prstGeom prst="rect">
            <a:avLst/>
          </a:prstGeom>
          <a:solidFill>
            <a:srgbClr val="003781"/>
          </a:solidFill>
          <a:ln/>
        </p:spPr>
      </p:sp>
      <p:sp>
        <p:nvSpPr>
          <p:cNvPr id="29" name="Shape 26"/>
          <p:cNvSpPr/>
          <p:nvPr/>
        </p:nvSpPr>
        <p:spPr>
          <a:xfrm>
            <a:off x="1675181" y="2803550"/>
            <a:ext cx="118872" cy="118872"/>
          </a:xfrm>
          <a:prstGeom prst="rect">
            <a:avLst/>
          </a:prstGeom>
          <a:solidFill>
            <a:srgbClr val="5AB6E8"/>
          </a:solidFill>
          <a:ln/>
        </p:spPr>
      </p:sp>
      <p:sp>
        <p:nvSpPr>
          <p:cNvPr id="30" name="Shape 27"/>
          <p:cNvSpPr/>
          <p:nvPr/>
        </p:nvSpPr>
        <p:spPr>
          <a:xfrm>
            <a:off x="1808683" y="2803550"/>
            <a:ext cx="118872" cy="118872"/>
          </a:xfrm>
          <a:prstGeom prst="rect">
            <a:avLst/>
          </a:prstGeom>
          <a:solidFill>
            <a:srgbClr val="E6F0F9"/>
          </a:solidFill>
          <a:ln/>
        </p:spPr>
      </p:sp>
      <p:sp>
        <p:nvSpPr>
          <p:cNvPr id="31" name="Shape 28"/>
          <p:cNvSpPr/>
          <p:nvPr/>
        </p:nvSpPr>
        <p:spPr>
          <a:xfrm>
            <a:off x="1942186" y="2803550"/>
            <a:ext cx="118872" cy="118872"/>
          </a:xfrm>
          <a:prstGeom prst="rect">
            <a:avLst/>
          </a:prstGeom>
          <a:solidFill>
            <a:srgbClr val="5AB6E8"/>
          </a:solidFill>
          <a:ln/>
        </p:spPr>
      </p:sp>
      <p:sp>
        <p:nvSpPr>
          <p:cNvPr id="32" name="Shape 29"/>
          <p:cNvSpPr/>
          <p:nvPr/>
        </p:nvSpPr>
        <p:spPr>
          <a:xfrm>
            <a:off x="2075688" y="2803550"/>
            <a:ext cx="118872" cy="118872"/>
          </a:xfrm>
          <a:prstGeom prst="rect">
            <a:avLst/>
          </a:prstGeom>
          <a:solidFill>
            <a:srgbClr val="003781"/>
          </a:solidFill>
          <a:ln/>
        </p:spPr>
      </p:sp>
      <p:sp>
        <p:nvSpPr>
          <p:cNvPr id="33" name="Shape 30"/>
          <p:cNvSpPr/>
          <p:nvPr/>
        </p:nvSpPr>
        <p:spPr>
          <a:xfrm>
            <a:off x="2209190" y="2803550"/>
            <a:ext cx="118872" cy="118872"/>
          </a:xfrm>
          <a:prstGeom prst="rect">
            <a:avLst/>
          </a:prstGeom>
          <a:solidFill>
            <a:srgbClr val="E6F0F9"/>
          </a:solidFill>
          <a:ln/>
        </p:spPr>
      </p:sp>
      <p:sp>
        <p:nvSpPr>
          <p:cNvPr id="34" name="Shape 31"/>
          <p:cNvSpPr/>
          <p:nvPr/>
        </p:nvSpPr>
        <p:spPr>
          <a:xfrm>
            <a:off x="2342693" y="2803550"/>
            <a:ext cx="118872" cy="118872"/>
          </a:xfrm>
          <a:prstGeom prst="rect">
            <a:avLst/>
          </a:prstGeom>
          <a:solidFill>
            <a:srgbClr val="003781"/>
          </a:solidFill>
          <a:ln/>
        </p:spPr>
      </p:sp>
      <p:sp>
        <p:nvSpPr>
          <p:cNvPr id="35" name="Shape 32"/>
          <p:cNvSpPr/>
          <p:nvPr/>
        </p:nvSpPr>
        <p:spPr>
          <a:xfrm>
            <a:off x="2476195" y="2803550"/>
            <a:ext cx="118872" cy="118872"/>
          </a:xfrm>
          <a:prstGeom prst="rect">
            <a:avLst/>
          </a:prstGeom>
          <a:solidFill>
            <a:srgbClr val="5AB6E8"/>
          </a:solidFill>
          <a:ln/>
        </p:spPr>
      </p:sp>
      <p:sp>
        <p:nvSpPr>
          <p:cNvPr id="36" name="Shape 33"/>
          <p:cNvSpPr/>
          <p:nvPr/>
        </p:nvSpPr>
        <p:spPr>
          <a:xfrm>
            <a:off x="2609698" y="2803550"/>
            <a:ext cx="118872" cy="118872"/>
          </a:xfrm>
          <a:prstGeom prst="rect">
            <a:avLst/>
          </a:prstGeom>
          <a:solidFill>
            <a:srgbClr val="E6F0F9"/>
          </a:solidFill>
          <a:ln/>
        </p:spPr>
      </p:sp>
      <p:sp>
        <p:nvSpPr>
          <p:cNvPr id="37" name="Shape 34"/>
          <p:cNvSpPr/>
          <p:nvPr/>
        </p:nvSpPr>
        <p:spPr>
          <a:xfrm>
            <a:off x="2743200" y="2803550"/>
            <a:ext cx="118872" cy="118872"/>
          </a:xfrm>
          <a:prstGeom prst="rect">
            <a:avLst/>
          </a:prstGeom>
          <a:solidFill>
            <a:srgbClr val="E6F0F9"/>
          </a:solidFill>
          <a:ln/>
        </p:spPr>
      </p:sp>
      <p:sp>
        <p:nvSpPr>
          <p:cNvPr id="38" name="Shape 35"/>
          <p:cNvSpPr/>
          <p:nvPr/>
        </p:nvSpPr>
        <p:spPr>
          <a:xfrm>
            <a:off x="2876702" y="2803550"/>
            <a:ext cx="118872" cy="118872"/>
          </a:xfrm>
          <a:prstGeom prst="rect">
            <a:avLst/>
          </a:prstGeom>
          <a:solidFill>
            <a:srgbClr val="003781"/>
          </a:solidFill>
          <a:ln/>
        </p:spPr>
      </p:sp>
      <p:sp>
        <p:nvSpPr>
          <p:cNvPr id="39" name="Shape 36"/>
          <p:cNvSpPr/>
          <p:nvPr/>
        </p:nvSpPr>
        <p:spPr>
          <a:xfrm>
            <a:off x="3010205" y="2803550"/>
            <a:ext cx="118872" cy="118872"/>
          </a:xfrm>
          <a:prstGeom prst="rect">
            <a:avLst/>
          </a:prstGeom>
          <a:solidFill>
            <a:srgbClr val="5AB6E8"/>
          </a:solidFill>
          <a:ln/>
        </p:spPr>
      </p:sp>
      <p:sp>
        <p:nvSpPr>
          <p:cNvPr id="40" name="Shape 37"/>
          <p:cNvSpPr/>
          <p:nvPr/>
        </p:nvSpPr>
        <p:spPr>
          <a:xfrm>
            <a:off x="3143707" y="2803550"/>
            <a:ext cx="118872" cy="118872"/>
          </a:xfrm>
          <a:prstGeom prst="rect">
            <a:avLst/>
          </a:prstGeom>
          <a:solidFill>
            <a:srgbClr val="E6F0F9"/>
          </a:solidFill>
          <a:ln/>
        </p:spPr>
      </p:sp>
      <p:sp>
        <p:nvSpPr>
          <p:cNvPr id="41" name="Shape 38"/>
          <p:cNvSpPr/>
          <p:nvPr/>
        </p:nvSpPr>
        <p:spPr>
          <a:xfrm>
            <a:off x="3277210" y="2803550"/>
            <a:ext cx="118872" cy="118872"/>
          </a:xfrm>
          <a:prstGeom prst="rect">
            <a:avLst/>
          </a:prstGeom>
          <a:solidFill>
            <a:srgbClr val="5AB6E8"/>
          </a:solidFill>
          <a:ln/>
        </p:spPr>
      </p:sp>
      <p:sp>
        <p:nvSpPr>
          <p:cNvPr id="42" name="Shape 39"/>
          <p:cNvSpPr/>
          <p:nvPr/>
        </p:nvSpPr>
        <p:spPr>
          <a:xfrm>
            <a:off x="3410712" y="2803550"/>
            <a:ext cx="118872" cy="118872"/>
          </a:xfrm>
          <a:prstGeom prst="rect">
            <a:avLst/>
          </a:prstGeom>
          <a:solidFill>
            <a:srgbClr val="003781"/>
          </a:solidFill>
          <a:ln/>
        </p:spPr>
      </p:sp>
      <p:sp>
        <p:nvSpPr>
          <p:cNvPr id="43" name="Shape 40"/>
          <p:cNvSpPr/>
          <p:nvPr/>
        </p:nvSpPr>
        <p:spPr>
          <a:xfrm>
            <a:off x="3544214" y="2803550"/>
            <a:ext cx="118872" cy="118872"/>
          </a:xfrm>
          <a:prstGeom prst="rect">
            <a:avLst/>
          </a:prstGeom>
          <a:solidFill>
            <a:srgbClr val="E6F0F9"/>
          </a:solidFill>
          <a:ln/>
        </p:spPr>
      </p:sp>
      <p:sp>
        <p:nvSpPr>
          <p:cNvPr id="44" name="Shape 41"/>
          <p:cNvSpPr/>
          <p:nvPr/>
        </p:nvSpPr>
        <p:spPr>
          <a:xfrm>
            <a:off x="3677717" y="2803550"/>
            <a:ext cx="118872" cy="118872"/>
          </a:xfrm>
          <a:prstGeom prst="rect">
            <a:avLst/>
          </a:prstGeom>
          <a:solidFill>
            <a:srgbClr val="003781"/>
          </a:solidFill>
          <a:ln/>
        </p:spPr>
      </p:sp>
      <p:sp>
        <p:nvSpPr>
          <p:cNvPr id="45" name="Shape 42"/>
          <p:cNvSpPr/>
          <p:nvPr/>
        </p:nvSpPr>
        <p:spPr>
          <a:xfrm>
            <a:off x="1408176" y="2937053"/>
            <a:ext cx="118872" cy="118872"/>
          </a:xfrm>
          <a:prstGeom prst="rect">
            <a:avLst/>
          </a:prstGeom>
          <a:solidFill>
            <a:srgbClr val="5AB6E8"/>
          </a:solidFill>
          <a:ln/>
        </p:spPr>
      </p:sp>
      <p:sp>
        <p:nvSpPr>
          <p:cNvPr id="46" name="Shape 43"/>
          <p:cNvSpPr/>
          <p:nvPr/>
        </p:nvSpPr>
        <p:spPr>
          <a:xfrm>
            <a:off x="1541678" y="2937053"/>
            <a:ext cx="118872" cy="118872"/>
          </a:xfrm>
          <a:prstGeom prst="rect">
            <a:avLst/>
          </a:prstGeom>
          <a:solidFill>
            <a:srgbClr val="E6F0F9"/>
          </a:solidFill>
          <a:ln/>
        </p:spPr>
      </p:sp>
      <p:sp>
        <p:nvSpPr>
          <p:cNvPr id="47" name="Shape 44"/>
          <p:cNvSpPr/>
          <p:nvPr/>
        </p:nvSpPr>
        <p:spPr>
          <a:xfrm>
            <a:off x="1675181" y="2937053"/>
            <a:ext cx="118872" cy="118872"/>
          </a:xfrm>
          <a:prstGeom prst="rect">
            <a:avLst/>
          </a:prstGeom>
          <a:solidFill>
            <a:srgbClr val="5AB6E8"/>
          </a:solidFill>
          <a:ln/>
        </p:spPr>
      </p:sp>
      <p:sp>
        <p:nvSpPr>
          <p:cNvPr id="48" name="Shape 45"/>
          <p:cNvSpPr/>
          <p:nvPr/>
        </p:nvSpPr>
        <p:spPr>
          <a:xfrm>
            <a:off x="1808683" y="2937053"/>
            <a:ext cx="118872" cy="118872"/>
          </a:xfrm>
          <a:prstGeom prst="rect">
            <a:avLst/>
          </a:prstGeom>
          <a:solidFill>
            <a:srgbClr val="5AB6E8"/>
          </a:solidFill>
          <a:ln/>
        </p:spPr>
      </p:sp>
      <p:sp>
        <p:nvSpPr>
          <p:cNvPr id="49" name="Shape 46"/>
          <p:cNvSpPr/>
          <p:nvPr/>
        </p:nvSpPr>
        <p:spPr>
          <a:xfrm>
            <a:off x="1942186" y="2937053"/>
            <a:ext cx="118872" cy="118872"/>
          </a:xfrm>
          <a:prstGeom prst="rect">
            <a:avLst/>
          </a:prstGeom>
          <a:solidFill>
            <a:srgbClr val="A9711A"/>
          </a:solidFill>
          <a:ln/>
        </p:spPr>
      </p:sp>
      <p:sp>
        <p:nvSpPr>
          <p:cNvPr id="50" name="Shape 47"/>
          <p:cNvSpPr/>
          <p:nvPr/>
        </p:nvSpPr>
        <p:spPr>
          <a:xfrm>
            <a:off x="2075688" y="2937053"/>
            <a:ext cx="118872" cy="118872"/>
          </a:xfrm>
          <a:prstGeom prst="rect">
            <a:avLst/>
          </a:prstGeom>
          <a:solidFill>
            <a:srgbClr val="E6F0F9"/>
          </a:solidFill>
          <a:ln/>
        </p:spPr>
      </p:sp>
      <p:sp>
        <p:nvSpPr>
          <p:cNvPr id="51" name="Shape 48"/>
          <p:cNvSpPr/>
          <p:nvPr/>
        </p:nvSpPr>
        <p:spPr>
          <a:xfrm>
            <a:off x="2209190" y="2937053"/>
            <a:ext cx="118872" cy="118872"/>
          </a:xfrm>
          <a:prstGeom prst="rect">
            <a:avLst/>
          </a:prstGeom>
          <a:solidFill>
            <a:srgbClr val="5AB6E8"/>
          </a:solidFill>
          <a:ln/>
        </p:spPr>
      </p:sp>
      <p:sp>
        <p:nvSpPr>
          <p:cNvPr id="52" name="Shape 49"/>
          <p:cNvSpPr/>
          <p:nvPr/>
        </p:nvSpPr>
        <p:spPr>
          <a:xfrm>
            <a:off x="2342693" y="2937053"/>
            <a:ext cx="118872" cy="118872"/>
          </a:xfrm>
          <a:prstGeom prst="rect">
            <a:avLst/>
          </a:prstGeom>
          <a:solidFill>
            <a:srgbClr val="E6F0F9"/>
          </a:solidFill>
          <a:ln/>
        </p:spPr>
      </p:sp>
      <p:sp>
        <p:nvSpPr>
          <p:cNvPr id="53" name="Shape 50"/>
          <p:cNvSpPr/>
          <p:nvPr/>
        </p:nvSpPr>
        <p:spPr>
          <a:xfrm>
            <a:off x="2476195" y="2937053"/>
            <a:ext cx="118872" cy="118872"/>
          </a:xfrm>
          <a:prstGeom prst="rect">
            <a:avLst/>
          </a:prstGeom>
          <a:solidFill>
            <a:srgbClr val="E6F0F9"/>
          </a:solidFill>
          <a:ln/>
        </p:spPr>
      </p:sp>
      <p:sp>
        <p:nvSpPr>
          <p:cNvPr id="54" name="Shape 51"/>
          <p:cNvSpPr/>
          <p:nvPr/>
        </p:nvSpPr>
        <p:spPr>
          <a:xfrm>
            <a:off x="2609698" y="2937053"/>
            <a:ext cx="118872" cy="118872"/>
          </a:xfrm>
          <a:prstGeom prst="rect">
            <a:avLst/>
          </a:prstGeom>
          <a:solidFill>
            <a:srgbClr val="5AB6E8"/>
          </a:solidFill>
          <a:ln/>
        </p:spPr>
      </p:sp>
      <p:sp>
        <p:nvSpPr>
          <p:cNvPr id="55" name="Shape 52"/>
          <p:cNvSpPr/>
          <p:nvPr/>
        </p:nvSpPr>
        <p:spPr>
          <a:xfrm>
            <a:off x="2743200" y="2937053"/>
            <a:ext cx="118872" cy="118872"/>
          </a:xfrm>
          <a:prstGeom prst="rect">
            <a:avLst/>
          </a:prstGeom>
          <a:solidFill>
            <a:srgbClr val="5AB6E8"/>
          </a:solidFill>
          <a:ln/>
        </p:spPr>
      </p:sp>
      <p:sp>
        <p:nvSpPr>
          <p:cNvPr id="56" name="Shape 53"/>
          <p:cNvSpPr/>
          <p:nvPr/>
        </p:nvSpPr>
        <p:spPr>
          <a:xfrm>
            <a:off x="2876702" y="2937053"/>
            <a:ext cx="118872" cy="118872"/>
          </a:xfrm>
          <a:prstGeom prst="rect">
            <a:avLst/>
          </a:prstGeom>
          <a:solidFill>
            <a:srgbClr val="E6F0F9"/>
          </a:solidFill>
          <a:ln/>
        </p:spPr>
      </p:sp>
      <p:sp>
        <p:nvSpPr>
          <p:cNvPr id="57" name="Shape 54"/>
          <p:cNvSpPr/>
          <p:nvPr/>
        </p:nvSpPr>
        <p:spPr>
          <a:xfrm>
            <a:off x="3010205" y="2937053"/>
            <a:ext cx="118872" cy="118872"/>
          </a:xfrm>
          <a:prstGeom prst="rect">
            <a:avLst/>
          </a:prstGeom>
          <a:solidFill>
            <a:srgbClr val="5AB6E8"/>
          </a:solidFill>
          <a:ln/>
        </p:spPr>
      </p:sp>
      <p:sp>
        <p:nvSpPr>
          <p:cNvPr id="58" name="Shape 55"/>
          <p:cNvSpPr/>
          <p:nvPr/>
        </p:nvSpPr>
        <p:spPr>
          <a:xfrm>
            <a:off x="3143707" y="2937053"/>
            <a:ext cx="118872" cy="118872"/>
          </a:xfrm>
          <a:prstGeom prst="rect">
            <a:avLst/>
          </a:prstGeom>
          <a:solidFill>
            <a:srgbClr val="5AB6E8"/>
          </a:solidFill>
          <a:ln/>
        </p:spPr>
      </p:sp>
      <p:sp>
        <p:nvSpPr>
          <p:cNvPr id="59" name="Shape 56"/>
          <p:cNvSpPr/>
          <p:nvPr/>
        </p:nvSpPr>
        <p:spPr>
          <a:xfrm>
            <a:off x="3277210" y="2937053"/>
            <a:ext cx="118872" cy="118872"/>
          </a:xfrm>
          <a:prstGeom prst="rect">
            <a:avLst/>
          </a:prstGeom>
          <a:solidFill>
            <a:srgbClr val="E6F0F9"/>
          </a:solidFill>
          <a:ln/>
        </p:spPr>
      </p:sp>
      <p:sp>
        <p:nvSpPr>
          <p:cNvPr id="60" name="Shape 57"/>
          <p:cNvSpPr/>
          <p:nvPr/>
        </p:nvSpPr>
        <p:spPr>
          <a:xfrm>
            <a:off x="3410712" y="2937053"/>
            <a:ext cx="118872" cy="118872"/>
          </a:xfrm>
          <a:prstGeom prst="rect">
            <a:avLst/>
          </a:prstGeom>
          <a:solidFill>
            <a:srgbClr val="E6F0F9"/>
          </a:solidFill>
          <a:ln/>
        </p:spPr>
      </p:sp>
      <p:sp>
        <p:nvSpPr>
          <p:cNvPr id="61" name="Shape 58"/>
          <p:cNvSpPr/>
          <p:nvPr/>
        </p:nvSpPr>
        <p:spPr>
          <a:xfrm>
            <a:off x="3544214" y="2937053"/>
            <a:ext cx="118872" cy="118872"/>
          </a:xfrm>
          <a:prstGeom prst="rect">
            <a:avLst/>
          </a:prstGeom>
          <a:solidFill>
            <a:srgbClr val="5AB6E8"/>
          </a:solidFill>
          <a:ln/>
        </p:spPr>
      </p:sp>
      <p:sp>
        <p:nvSpPr>
          <p:cNvPr id="62" name="Shape 59"/>
          <p:cNvSpPr/>
          <p:nvPr/>
        </p:nvSpPr>
        <p:spPr>
          <a:xfrm>
            <a:off x="3677717" y="2937053"/>
            <a:ext cx="118872" cy="118872"/>
          </a:xfrm>
          <a:prstGeom prst="rect">
            <a:avLst/>
          </a:prstGeom>
          <a:solidFill>
            <a:srgbClr val="E6F0F9"/>
          </a:solidFill>
          <a:ln/>
        </p:spPr>
      </p:sp>
      <p:sp>
        <p:nvSpPr>
          <p:cNvPr id="63" name="Shape 60"/>
          <p:cNvSpPr/>
          <p:nvPr/>
        </p:nvSpPr>
        <p:spPr>
          <a:xfrm>
            <a:off x="1408176" y="3070555"/>
            <a:ext cx="118872" cy="118872"/>
          </a:xfrm>
          <a:prstGeom prst="rect">
            <a:avLst/>
          </a:prstGeom>
          <a:solidFill>
            <a:srgbClr val="003781"/>
          </a:solidFill>
          <a:ln/>
        </p:spPr>
      </p:sp>
      <p:sp>
        <p:nvSpPr>
          <p:cNvPr id="64" name="Shape 61"/>
          <p:cNvSpPr/>
          <p:nvPr/>
        </p:nvSpPr>
        <p:spPr>
          <a:xfrm>
            <a:off x="1541678" y="3070555"/>
            <a:ext cx="118872" cy="118872"/>
          </a:xfrm>
          <a:prstGeom prst="rect">
            <a:avLst/>
          </a:prstGeom>
          <a:solidFill>
            <a:srgbClr val="E6F0F9"/>
          </a:solidFill>
          <a:ln/>
        </p:spPr>
      </p:sp>
      <p:sp>
        <p:nvSpPr>
          <p:cNvPr id="65" name="Shape 62"/>
          <p:cNvSpPr/>
          <p:nvPr/>
        </p:nvSpPr>
        <p:spPr>
          <a:xfrm>
            <a:off x="1675181" y="3070555"/>
            <a:ext cx="118872" cy="118872"/>
          </a:xfrm>
          <a:prstGeom prst="rect">
            <a:avLst/>
          </a:prstGeom>
          <a:solidFill>
            <a:srgbClr val="E6F0F9"/>
          </a:solidFill>
          <a:ln/>
        </p:spPr>
      </p:sp>
      <p:sp>
        <p:nvSpPr>
          <p:cNvPr id="66" name="Shape 63"/>
          <p:cNvSpPr/>
          <p:nvPr/>
        </p:nvSpPr>
        <p:spPr>
          <a:xfrm>
            <a:off x="1808683" y="3070555"/>
            <a:ext cx="118872" cy="118872"/>
          </a:xfrm>
          <a:prstGeom prst="rect">
            <a:avLst/>
          </a:prstGeom>
          <a:solidFill>
            <a:srgbClr val="5AB6E8"/>
          </a:solidFill>
          <a:ln/>
        </p:spPr>
      </p:sp>
      <p:sp>
        <p:nvSpPr>
          <p:cNvPr id="67" name="Shape 64"/>
          <p:cNvSpPr/>
          <p:nvPr/>
        </p:nvSpPr>
        <p:spPr>
          <a:xfrm>
            <a:off x="1942186" y="3070555"/>
            <a:ext cx="118872" cy="118872"/>
          </a:xfrm>
          <a:prstGeom prst="rect">
            <a:avLst/>
          </a:prstGeom>
          <a:solidFill>
            <a:srgbClr val="5AB6E8"/>
          </a:solidFill>
          <a:ln/>
        </p:spPr>
      </p:sp>
      <p:sp>
        <p:nvSpPr>
          <p:cNvPr id="68" name="Shape 65"/>
          <p:cNvSpPr/>
          <p:nvPr/>
        </p:nvSpPr>
        <p:spPr>
          <a:xfrm>
            <a:off x="2075688" y="3070555"/>
            <a:ext cx="118872" cy="118872"/>
          </a:xfrm>
          <a:prstGeom prst="rect">
            <a:avLst/>
          </a:prstGeom>
          <a:solidFill>
            <a:srgbClr val="E6F0F9"/>
          </a:solidFill>
          <a:ln/>
        </p:spPr>
      </p:sp>
      <p:sp>
        <p:nvSpPr>
          <p:cNvPr id="69" name="Shape 66"/>
          <p:cNvSpPr/>
          <p:nvPr/>
        </p:nvSpPr>
        <p:spPr>
          <a:xfrm>
            <a:off x="2209190" y="3070555"/>
            <a:ext cx="118872" cy="118872"/>
          </a:xfrm>
          <a:prstGeom prst="rect">
            <a:avLst/>
          </a:prstGeom>
          <a:solidFill>
            <a:srgbClr val="003781"/>
          </a:solidFill>
          <a:ln/>
        </p:spPr>
      </p:sp>
      <p:sp>
        <p:nvSpPr>
          <p:cNvPr id="70" name="Shape 67"/>
          <p:cNvSpPr/>
          <p:nvPr/>
        </p:nvSpPr>
        <p:spPr>
          <a:xfrm>
            <a:off x="2342693" y="3070555"/>
            <a:ext cx="118872" cy="118872"/>
          </a:xfrm>
          <a:prstGeom prst="rect">
            <a:avLst/>
          </a:prstGeom>
          <a:solidFill>
            <a:srgbClr val="5AB6E8"/>
          </a:solidFill>
          <a:ln/>
        </p:spPr>
      </p:sp>
      <p:sp>
        <p:nvSpPr>
          <p:cNvPr id="71" name="Shape 68"/>
          <p:cNvSpPr/>
          <p:nvPr/>
        </p:nvSpPr>
        <p:spPr>
          <a:xfrm>
            <a:off x="2476195" y="3070555"/>
            <a:ext cx="118872" cy="118872"/>
          </a:xfrm>
          <a:prstGeom prst="rect">
            <a:avLst/>
          </a:prstGeom>
          <a:solidFill>
            <a:srgbClr val="E6F0F9"/>
          </a:solidFill>
          <a:ln/>
        </p:spPr>
      </p:sp>
      <p:sp>
        <p:nvSpPr>
          <p:cNvPr id="72" name="Shape 69"/>
          <p:cNvSpPr/>
          <p:nvPr/>
        </p:nvSpPr>
        <p:spPr>
          <a:xfrm>
            <a:off x="2609698" y="3070555"/>
            <a:ext cx="118872" cy="118872"/>
          </a:xfrm>
          <a:prstGeom prst="rect">
            <a:avLst/>
          </a:prstGeom>
          <a:solidFill>
            <a:srgbClr val="003781"/>
          </a:solidFill>
          <a:ln/>
        </p:spPr>
      </p:sp>
      <p:sp>
        <p:nvSpPr>
          <p:cNvPr id="73" name="Shape 70"/>
          <p:cNvSpPr/>
          <p:nvPr/>
        </p:nvSpPr>
        <p:spPr>
          <a:xfrm>
            <a:off x="2743200" y="3070555"/>
            <a:ext cx="118872" cy="118872"/>
          </a:xfrm>
          <a:prstGeom prst="rect">
            <a:avLst/>
          </a:prstGeom>
          <a:solidFill>
            <a:srgbClr val="003781"/>
          </a:solidFill>
          <a:ln/>
        </p:spPr>
      </p:sp>
      <p:sp>
        <p:nvSpPr>
          <p:cNvPr id="74" name="Shape 71"/>
          <p:cNvSpPr/>
          <p:nvPr/>
        </p:nvSpPr>
        <p:spPr>
          <a:xfrm>
            <a:off x="2876702" y="3070555"/>
            <a:ext cx="118872" cy="118872"/>
          </a:xfrm>
          <a:prstGeom prst="rect">
            <a:avLst/>
          </a:prstGeom>
          <a:solidFill>
            <a:srgbClr val="E6F0F9"/>
          </a:solidFill>
          <a:ln/>
        </p:spPr>
      </p:sp>
      <p:sp>
        <p:nvSpPr>
          <p:cNvPr id="75" name="Shape 72"/>
          <p:cNvSpPr/>
          <p:nvPr/>
        </p:nvSpPr>
        <p:spPr>
          <a:xfrm>
            <a:off x="3010205" y="3070555"/>
            <a:ext cx="118872" cy="118872"/>
          </a:xfrm>
          <a:prstGeom prst="rect">
            <a:avLst/>
          </a:prstGeom>
          <a:solidFill>
            <a:srgbClr val="E6F0F9"/>
          </a:solidFill>
          <a:ln/>
        </p:spPr>
      </p:sp>
      <p:sp>
        <p:nvSpPr>
          <p:cNvPr id="76" name="Shape 73"/>
          <p:cNvSpPr/>
          <p:nvPr/>
        </p:nvSpPr>
        <p:spPr>
          <a:xfrm>
            <a:off x="3143707" y="3070555"/>
            <a:ext cx="118872" cy="118872"/>
          </a:xfrm>
          <a:prstGeom prst="rect">
            <a:avLst/>
          </a:prstGeom>
          <a:solidFill>
            <a:srgbClr val="5AB6E8"/>
          </a:solidFill>
          <a:ln/>
        </p:spPr>
      </p:sp>
      <p:sp>
        <p:nvSpPr>
          <p:cNvPr id="77" name="Shape 74"/>
          <p:cNvSpPr/>
          <p:nvPr/>
        </p:nvSpPr>
        <p:spPr>
          <a:xfrm>
            <a:off x="3277210" y="3070555"/>
            <a:ext cx="118872" cy="118872"/>
          </a:xfrm>
          <a:prstGeom prst="rect">
            <a:avLst/>
          </a:prstGeom>
          <a:solidFill>
            <a:srgbClr val="5AB6E8"/>
          </a:solidFill>
          <a:ln/>
        </p:spPr>
      </p:sp>
      <p:sp>
        <p:nvSpPr>
          <p:cNvPr id="78" name="Shape 75"/>
          <p:cNvSpPr/>
          <p:nvPr/>
        </p:nvSpPr>
        <p:spPr>
          <a:xfrm>
            <a:off x="3410712" y="3070555"/>
            <a:ext cx="118872" cy="118872"/>
          </a:xfrm>
          <a:prstGeom prst="rect">
            <a:avLst/>
          </a:prstGeom>
          <a:solidFill>
            <a:srgbClr val="E6F0F9"/>
          </a:solidFill>
          <a:ln/>
        </p:spPr>
      </p:sp>
      <p:sp>
        <p:nvSpPr>
          <p:cNvPr id="79" name="Shape 76"/>
          <p:cNvSpPr/>
          <p:nvPr/>
        </p:nvSpPr>
        <p:spPr>
          <a:xfrm>
            <a:off x="3544214" y="3070555"/>
            <a:ext cx="118872" cy="118872"/>
          </a:xfrm>
          <a:prstGeom prst="rect">
            <a:avLst/>
          </a:prstGeom>
          <a:solidFill>
            <a:srgbClr val="003781"/>
          </a:solidFill>
          <a:ln/>
        </p:spPr>
      </p:sp>
      <p:sp>
        <p:nvSpPr>
          <p:cNvPr id="80" name="Shape 77"/>
          <p:cNvSpPr/>
          <p:nvPr/>
        </p:nvSpPr>
        <p:spPr>
          <a:xfrm>
            <a:off x="3677717" y="3070555"/>
            <a:ext cx="118872" cy="118872"/>
          </a:xfrm>
          <a:prstGeom prst="rect">
            <a:avLst/>
          </a:prstGeom>
          <a:solidFill>
            <a:srgbClr val="5AB6E8"/>
          </a:solidFill>
          <a:ln/>
        </p:spPr>
      </p:sp>
      <p:sp>
        <p:nvSpPr>
          <p:cNvPr id="81" name="Shape 78"/>
          <p:cNvSpPr/>
          <p:nvPr/>
        </p:nvSpPr>
        <p:spPr>
          <a:xfrm>
            <a:off x="1408176" y="3204058"/>
            <a:ext cx="118872" cy="118872"/>
          </a:xfrm>
          <a:prstGeom prst="rect">
            <a:avLst/>
          </a:prstGeom>
          <a:solidFill>
            <a:srgbClr val="E6F0F9"/>
          </a:solidFill>
          <a:ln/>
        </p:spPr>
      </p:sp>
      <p:sp>
        <p:nvSpPr>
          <p:cNvPr id="82" name="Shape 79"/>
          <p:cNvSpPr/>
          <p:nvPr/>
        </p:nvSpPr>
        <p:spPr>
          <a:xfrm>
            <a:off x="1541678" y="3204058"/>
            <a:ext cx="118872" cy="118872"/>
          </a:xfrm>
          <a:prstGeom prst="rect">
            <a:avLst/>
          </a:prstGeom>
          <a:solidFill>
            <a:srgbClr val="5AB6E8"/>
          </a:solidFill>
          <a:ln/>
        </p:spPr>
      </p:sp>
      <p:sp>
        <p:nvSpPr>
          <p:cNvPr id="83" name="Shape 80"/>
          <p:cNvSpPr/>
          <p:nvPr/>
        </p:nvSpPr>
        <p:spPr>
          <a:xfrm>
            <a:off x="1675181" y="3204058"/>
            <a:ext cx="118872" cy="118872"/>
          </a:xfrm>
          <a:prstGeom prst="rect">
            <a:avLst/>
          </a:prstGeom>
          <a:solidFill>
            <a:srgbClr val="E6F0F9"/>
          </a:solidFill>
          <a:ln/>
        </p:spPr>
      </p:sp>
      <p:sp>
        <p:nvSpPr>
          <p:cNvPr id="84" name="Shape 81"/>
          <p:cNvSpPr/>
          <p:nvPr/>
        </p:nvSpPr>
        <p:spPr>
          <a:xfrm>
            <a:off x="1808683" y="3204058"/>
            <a:ext cx="118872" cy="118872"/>
          </a:xfrm>
          <a:prstGeom prst="rect">
            <a:avLst/>
          </a:prstGeom>
          <a:solidFill>
            <a:srgbClr val="E6F0F9"/>
          </a:solidFill>
          <a:ln/>
        </p:spPr>
      </p:sp>
      <p:sp>
        <p:nvSpPr>
          <p:cNvPr id="85" name="Shape 82"/>
          <p:cNvSpPr/>
          <p:nvPr/>
        </p:nvSpPr>
        <p:spPr>
          <a:xfrm>
            <a:off x="1942186" y="3204058"/>
            <a:ext cx="118872" cy="118872"/>
          </a:xfrm>
          <a:prstGeom prst="rect">
            <a:avLst/>
          </a:prstGeom>
          <a:solidFill>
            <a:srgbClr val="003781"/>
          </a:solidFill>
          <a:ln/>
        </p:spPr>
      </p:sp>
      <p:sp>
        <p:nvSpPr>
          <p:cNvPr id="86" name="Shape 83"/>
          <p:cNvSpPr/>
          <p:nvPr/>
        </p:nvSpPr>
        <p:spPr>
          <a:xfrm>
            <a:off x="2075688" y="3204058"/>
            <a:ext cx="118872" cy="118872"/>
          </a:xfrm>
          <a:prstGeom prst="rect">
            <a:avLst/>
          </a:prstGeom>
          <a:solidFill>
            <a:srgbClr val="5AB6E8"/>
          </a:solidFill>
          <a:ln/>
        </p:spPr>
      </p:sp>
      <p:sp>
        <p:nvSpPr>
          <p:cNvPr id="87" name="Shape 84"/>
          <p:cNvSpPr/>
          <p:nvPr/>
        </p:nvSpPr>
        <p:spPr>
          <a:xfrm>
            <a:off x="2209190" y="3204058"/>
            <a:ext cx="118872" cy="118872"/>
          </a:xfrm>
          <a:prstGeom prst="rect">
            <a:avLst/>
          </a:prstGeom>
          <a:solidFill>
            <a:srgbClr val="003781"/>
          </a:solidFill>
          <a:ln/>
        </p:spPr>
      </p:sp>
      <p:sp>
        <p:nvSpPr>
          <p:cNvPr id="88" name="Shape 85"/>
          <p:cNvSpPr/>
          <p:nvPr/>
        </p:nvSpPr>
        <p:spPr>
          <a:xfrm>
            <a:off x="2342693" y="3204058"/>
            <a:ext cx="118872" cy="118872"/>
          </a:xfrm>
          <a:prstGeom prst="rect">
            <a:avLst/>
          </a:prstGeom>
          <a:solidFill>
            <a:srgbClr val="003781"/>
          </a:solidFill>
          <a:ln/>
        </p:spPr>
      </p:sp>
      <p:sp>
        <p:nvSpPr>
          <p:cNvPr id="89" name="Shape 86"/>
          <p:cNvSpPr/>
          <p:nvPr/>
        </p:nvSpPr>
        <p:spPr>
          <a:xfrm>
            <a:off x="2476195" y="3204058"/>
            <a:ext cx="118872" cy="118872"/>
          </a:xfrm>
          <a:prstGeom prst="rect">
            <a:avLst/>
          </a:prstGeom>
          <a:solidFill>
            <a:srgbClr val="5AB6E8"/>
          </a:solidFill>
          <a:ln/>
        </p:spPr>
      </p:sp>
      <p:sp>
        <p:nvSpPr>
          <p:cNvPr id="90" name="Shape 87"/>
          <p:cNvSpPr/>
          <p:nvPr/>
        </p:nvSpPr>
        <p:spPr>
          <a:xfrm>
            <a:off x="2609698" y="3204058"/>
            <a:ext cx="118872" cy="118872"/>
          </a:xfrm>
          <a:prstGeom prst="rect">
            <a:avLst/>
          </a:prstGeom>
          <a:solidFill>
            <a:srgbClr val="E6F0F9"/>
          </a:solidFill>
          <a:ln/>
        </p:spPr>
      </p:sp>
      <p:sp>
        <p:nvSpPr>
          <p:cNvPr id="91" name="Shape 88"/>
          <p:cNvSpPr/>
          <p:nvPr/>
        </p:nvSpPr>
        <p:spPr>
          <a:xfrm>
            <a:off x="2743200" y="3204058"/>
            <a:ext cx="118872" cy="118872"/>
          </a:xfrm>
          <a:prstGeom prst="rect">
            <a:avLst/>
          </a:prstGeom>
          <a:solidFill>
            <a:srgbClr val="E6F0F9"/>
          </a:solidFill>
          <a:ln/>
        </p:spPr>
      </p:sp>
      <p:sp>
        <p:nvSpPr>
          <p:cNvPr id="92" name="Shape 89"/>
          <p:cNvSpPr/>
          <p:nvPr/>
        </p:nvSpPr>
        <p:spPr>
          <a:xfrm>
            <a:off x="2876702" y="3204058"/>
            <a:ext cx="118872" cy="118872"/>
          </a:xfrm>
          <a:prstGeom prst="rect">
            <a:avLst/>
          </a:prstGeom>
          <a:solidFill>
            <a:srgbClr val="5AB6E8"/>
          </a:solidFill>
          <a:ln/>
        </p:spPr>
      </p:sp>
      <p:sp>
        <p:nvSpPr>
          <p:cNvPr id="93" name="Shape 90"/>
          <p:cNvSpPr/>
          <p:nvPr/>
        </p:nvSpPr>
        <p:spPr>
          <a:xfrm>
            <a:off x="3010205" y="3204058"/>
            <a:ext cx="118872" cy="118872"/>
          </a:xfrm>
          <a:prstGeom prst="rect">
            <a:avLst/>
          </a:prstGeom>
          <a:solidFill>
            <a:srgbClr val="E6F0F9"/>
          </a:solidFill>
          <a:ln/>
        </p:spPr>
      </p:sp>
      <p:sp>
        <p:nvSpPr>
          <p:cNvPr id="94" name="Shape 91"/>
          <p:cNvSpPr/>
          <p:nvPr/>
        </p:nvSpPr>
        <p:spPr>
          <a:xfrm>
            <a:off x="3143707" y="3204058"/>
            <a:ext cx="118872" cy="118872"/>
          </a:xfrm>
          <a:prstGeom prst="rect">
            <a:avLst/>
          </a:prstGeom>
          <a:solidFill>
            <a:srgbClr val="E6F0F9"/>
          </a:solidFill>
          <a:ln/>
        </p:spPr>
      </p:sp>
      <p:sp>
        <p:nvSpPr>
          <p:cNvPr id="95" name="Shape 92"/>
          <p:cNvSpPr/>
          <p:nvPr/>
        </p:nvSpPr>
        <p:spPr>
          <a:xfrm>
            <a:off x="3277210" y="3204058"/>
            <a:ext cx="118872" cy="118872"/>
          </a:xfrm>
          <a:prstGeom prst="rect">
            <a:avLst/>
          </a:prstGeom>
          <a:solidFill>
            <a:srgbClr val="003781"/>
          </a:solidFill>
          <a:ln/>
        </p:spPr>
      </p:sp>
      <p:sp>
        <p:nvSpPr>
          <p:cNvPr id="96" name="Shape 93"/>
          <p:cNvSpPr/>
          <p:nvPr/>
        </p:nvSpPr>
        <p:spPr>
          <a:xfrm>
            <a:off x="3410712" y="3204058"/>
            <a:ext cx="118872" cy="118872"/>
          </a:xfrm>
          <a:prstGeom prst="rect">
            <a:avLst/>
          </a:prstGeom>
          <a:solidFill>
            <a:srgbClr val="5AB6E8"/>
          </a:solidFill>
          <a:ln/>
        </p:spPr>
      </p:sp>
      <p:sp>
        <p:nvSpPr>
          <p:cNvPr id="97" name="Shape 94"/>
          <p:cNvSpPr/>
          <p:nvPr/>
        </p:nvSpPr>
        <p:spPr>
          <a:xfrm>
            <a:off x="3544214" y="3204058"/>
            <a:ext cx="118872" cy="118872"/>
          </a:xfrm>
          <a:prstGeom prst="rect">
            <a:avLst/>
          </a:prstGeom>
          <a:solidFill>
            <a:srgbClr val="003781"/>
          </a:solidFill>
          <a:ln/>
        </p:spPr>
      </p:sp>
      <p:sp>
        <p:nvSpPr>
          <p:cNvPr id="98" name="Shape 95"/>
          <p:cNvSpPr/>
          <p:nvPr/>
        </p:nvSpPr>
        <p:spPr>
          <a:xfrm>
            <a:off x="3677717" y="3204058"/>
            <a:ext cx="118872" cy="118872"/>
          </a:xfrm>
          <a:prstGeom prst="rect">
            <a:avLst/>
          </a:prstGeom>
          <a:solidFill>
            <a:srgbClr val="003781"/>
          </a:solidFill>
          <a:ln/>
        </p:spPr>
      </p:sp>
      <p:sp>
        <p:nvSpPr>
          <p:cNvPr id="99" name="Shape 96"/>
          <p:cNvSpPr/>
          <p:nvPr/>
        </p:nvSpPr>
        <p:spPr>
          <a:xfrm>
            <a:off x="1408176" y="3337560"/>
            <a:ext cx="118872" cy="118872"/>
          </a:xfrm>
          <a:prstGeom prst="rect">
            <a:avLst/>
          </a:prstGeom>
          <a:solidFill>
            <a:srgbClr val="5AB6E8"/>
          </a:solidFill>
          <a:ln/>
        </p:spPr>
      </p:sp>
      <p:sp>
        <p:nvSpPr>
          <p:cNvPr id="100" name="Shape 97"/>
          <p:cNvSpPr/>
          <p:nvPr/>
        </p:nvSpPr>
        <p:spPr>
          <a:xfrm>
            <a:off x="1541678" y="3337560"/>
            <a:ext cx="118872" cy="118872"/>
          </a:xfrm>
          <a:prstGeom prst="rect">
            <a:avLst/>
          </a:prstGeom>
          <a:solidFill>
            <a:srgbClr val="E6F0F9"/>
          </a:solidFill>
          <a:ln/>
        </p:spPr>
      </p:sp>
      <p:sp>
        <p:nvSpPr>
          <p:cNvPr id="101" name="Shape 98"/>
          <p:cNvSpPr/>
          <p:nvPr/>
        </p:nvSpPr>
        <p:spPr>
          <a:xfrm>
            <a:off x="1675181" y="3337560"/>
            <a:ext cx="118872" cy="118872"/>
          </a:xfrm>
          <a:prstGeom prst="rect">
            <a:avLst/>
          </a:prstGeom>
          <a:solidFill>
            <a:srgbClr val="003781"/>
          </a:solidFill>
          <a:ln/>
        </p:spPr>
      </p:sp>
      <p:sp>
        <p:nvSpPr>
          <p:cNvPr id="102" name="Shape 99"/>
          <p:cNvSpPr/>
          <p:nvPr/>
        </p:nvSpPr>
        <p:spPr>
          <a:xfrm>
            <a:off x="1808683" y="3337560"/>
            <a:ext cx="118872" cy="118872"/>
          </a:xfrm>
          <a:prstGeom prst="rect">
            <a:avLst/>
          </a:prstGeom>
          <a:solidFill>
            <a:srgbClr val="5AB6E8"/>
          </a:solidFill>
          <a:ln/>
        </p:spPr>
      </p:sp>
      <p:sp>
        <p:nvSpPr>
          <p:cNvPr id="103" name="Shape 100"/>
          <p:cNvSpPr/>
          <p:nvPr/>
        </p:nvSpPr>
        <p:spPr>
          <a:xfrm>
            <a:off x="1942186" y="3337560"/>
            <a:ext cx="118872" cy="118872"/>
          </a:xfrm>
          <a:prstGeom prst="rect">
            <a:avLst/>
          </a:prstGeom>
          <a:solidFill>
            <a:srgbClr val="E6F0F9"/>
          </a:solidFill>
          <a:ln/>
        </p:spPr>
      </p:sp>
      <p:sp>
        <p:nvSpPr>
          <p:cNvPr id="104" name="Shape 101"/>
          <p:cNvSpPr/>
          <p:nvPr/>
        </p:nvSpPr>
        <p:spPr>
          <a:xfrm>
            <a:off x="2075688" y="3337560"/>
            <a:ext cx="118872" cy="118872"/>
          </a:xfrm>
          <a:prstGeom prst="rect">
            <a:avLst/>
          </a:prstGeom>
          <a:solidFill>
            <a:srgbClr val="003781"/>
          </a:solidFill>
          <a:ln/>
        </p:spPr>
      </p:sp>
      <p:sp>
        <p:nvSpPr>
          <p:cNvPr id="105" name="Shape 102"/>
          <p:cNvSpPr/>
          <p:nvPr/>
        </p:nvSpPr>
        <p:spPr>
          <a:xfrm>
            <a:off x="2209190" y="3337560"/>
            <a:ext cx="118872" cy="118872"/>
          </a:xfrm>
          <a:prstGeom prst="rect">
            <a:avLst/>
          </a:prstGeom>
          <a:solidFill>
            <a:srgbClr val="5AB6E8"/>
          </a:solidFill>
          <a:ln/>
        </p:spPr>
      </p:sp>
      <p:sp>
        <p:nvSpPr>
          <p:cNvPr id="106" name="Shape 103"/>
          <p:cNvSpPr/>
          <p:nvPr/>
        </p:nvSpPr>
        <p:spPr>
          <a:xfrm>
            <a:off x="2342693" y="3337560"/>
            <a:ext cx="118872" cy="118872"/>
          </a:xfrm>
          <a:prstGeom prst="rect">
            <a:avLst/>
          </a:prstGeom>
          <a:solidFill>
            <a:srgbClr val="E6F0F9"/>
          </a:solidFill>
          <a:ln/>
        </p:spPr>
      </p:sp>
      <p:sp>
        <p:nvSpPr>
          <p:cNvPr id="107" name="Shape 104"/>
          <p:cNvSpPr/>
          <p:nvPr/>
        </p:nvSpPr>
        <p:spPr>
          <a:xfrm>
            <a:off x="2476195" y="3337560"/>
            <a:ext cx="118872" cy="118872"/>
          </a:xfrm>
          <a:prstGeom prst="rect">
            <a:avLst/>
          </a:prstGeom>
          <a:solidFill>
            <a:srgbClr val="E6F0F9"/>
          </a:solidFill>
          <a:ln/>
        </p:spPr>
      </p:sp>
      <p:sp>
        <p:nvSpPr>
          <p:cNvPr id="108" name="Shape 105"/>
          <p:cNvSpPr/>
          <p:nvPr/>
        </p:nvSpPr>
        <p:spPr>
          <a:xfrm>
            <a:off x="2609698" y="3337560"/>
            <a:ext cx="118872" cy="118872"/>
          </a:xfrm>
          <a:prstGeom prst="rect">
            <a:avLst/>
          </a:prstGeom>
          <a:solidFill>
            <a:srgbClr val="003781"/>
          </a:solidFill>
          <a:ln/>
        </p:spPr>
      </p:sp>
      <p:sp>
        <p:nvSpPr>
          <p:cNvPr id="109" name="Shape 106"/>
          <p:cNvSpPr/>
          <p:nvPr/>
        </p:nvSpPr>
        <p:spPr>
          <a:xfrm>
            <a:off x="2743200" y="3337560"/>
            <a:ext cx="118872" cy="118872"/>
          </a:xfrm>
          <a:prstGeom prst="rect">
            <a:avLst/>
          </a:prstGeom>
          <a:solidFill>
            <a:srgbClr val="5AB6E8"/>
          </a:solidFill>
          <a:ln/>
        </p:spPr>
      </p:sp>
      <p:sp>
        <p:nvSpPr>
          <p:cNvPr id="110" name="Shape 107"/>
          <p:cNvSpPr/>
          <p:nvPr/>
        </p:nvSpPr>
        <p:spPr>
          <a:xfrm>
            <a:off x="2876702" y="3337560"/>
            <a:ext cx="118872" cy="118872"/>
          </a:xfrm>
          <a:prstGeom prst="rect">
            <a:avLst/>
          </a:prstGeom>
          <a:solidFill>
            <a:srgbClr val="E6F0F9"/>
          </a:solidFill>
          <a:ln/>
        </p:spPr>
      </p:sp>
      <p:sp>
        <p:nvSpPr>
          <p:cNvPr id="111" name="Shape 108"/>
          <p:cNvSpPr/>
          <p:nvPr/>
        </p:nvSpPr>
        <p:spPr>
          <a:xfrm>
            <a:off x="3010205" y="3337560"/>
            <a:ext cx="118872" cy="118872"/>
          </a:xfrm>
          <a:prstGeom prst="rect">
            <a:avLst/>
          </a:prstGeom>
          <a:solidFill>
            <a:srgbClr val="003781"/>
          </a:solidFill>
          <a:ln/>
        </p:spPr>
      </p:sp>
      <p:sp>
        <p:nvSpPr>
          <p:cNvPr id="112" name="Shape 109"/>
          <p:cNvSpPr/>
          <p:nvPr/>
        </p:nvSpPr>
        <p:spPr>
          <a:xfrm>
            <a:off x="3143707" y="3337560"/>
            <a:ext cx="118872" cy="118872"/>
          </a:xfrm>
          <a:prstGeom prst="rect">
            <a:avLst/>
          </a:prstGeom>
          <a:solidFill>
            <a:srgbClr val="5AB6E8"/>
          </a:solidFill>
          <a:ln/>
        </p:spPr>
      </p:sp>
      <p:sp>
        <p:nvSpPr>
          <p:cNvPr id="113" name="Shape 110"/>
          <p:cNvSpPr/>
          <p:nvPr/>
        </p:nvSpPr>
        <p:spPr>
          <a:xfrm>
            <a:off x="3277210" y="3337560"/>
            <a:ext cx="118872" cy="118872"/>
          </a:xfrm>
          <a:prstGeom prst="rect">
            <a:avLst/>
          </a:prstGeom>
          <a:solidFill>
            <a:srgbClr val="E6F0F9"/>
          </a:solidFill>
          <a:ln/>
        </p:spPr>
      </p:sp>
      <p:sp>
        <p:nvSpPr>
          <p:cNvPr id="114" name="Shape 111"/>
          <p:cNvSpPr/>
          <p:nvPr/>
        </p:nvSpPr>
        <p:spPr>
          <a:xfrm>
            <a:off x="3410712" y="3337560"/>
            <a:ext cx="118872" cy="118872"/>
          </a:xfrm>
          <a:prstGeom prst="rect">
            <a:avLst/>
          </a:prstGeom>
          <a:solidFill>
            <a:srgbClr val="003781"/>
          </a:solidFill>
          <a:ln/>
        </p:spPr>
      </p:sp>
      <p:sp>
        <p:nvSpPr>
          <p:cNvPr id="115" name="Shape 112"/>
          <p:cNvSpPr/>
          <p:nvPr/>
        </p:nvSpPr>
        <p:spPr>
          <a:xfrm>
            <a:off x="3544214" y="3337560"/>
            <a:ext cx="118872" cy="118872"/>
          </a:xfrm>
          <a:prstGeom prst="rect">
            <a:avLst/>
          </a:prstGeom>
          <a:solidFill>
            <a:srgbClr val="5AB6E8"/>
          </a:solidFill>
          <a:ln/>
        </p:spPr>
      </p:sp>
      <p:sp>
        <p:nvSpPr>
          <p:cNvPr id="116" name="Shape 113"/>
          <p:cNvSpPr/>
          <p:nvPr/>
        </p:nvSpPr>
        <p:spPr>
          <a:xfrm>
            <a:off x="3677717" y="3337560"/>
            <a:ext cx="118872" cy="118872"/>
          </a:xfrm>
          <a:prstGeom prst="rect">
            <a:avLst/>
          </a:prstGeom>
          <a:solidFill>
            <a:srgbClr val="E6F0F9"/>
          </a:solidFill>
          <a:ln/>
        </p:spPr>
      </p:sp>
      <p:sp>
        <p:nvSpPr>
          <p:cNvPr id="117" name="Shape 114"/>
          <p:cNvSpPr/>
          <p:nvPr/>
        </p:nvSpPr>
        <p:spPr>
          <a:xfrm>
            <a:off x="1408176" y="3471062"/>
            <a:ext cx="118872" cy="118872"/>
          </a:xfrm>
          <a:prstGeom prst="rect">
            <a:avLst/>
          </a:prstGeom>
          <a:solidFill>
            <a:srgbClr val="003781"/>
          </a:solidFill>
          <a:ln/>
        </p:spPr>
      </p:sp>
      <p:sp>
        <p:nvSpPr>
          <p:cNvPr id="118" name="Shape 115"/>
          <p:cNvSpPr/>
          <p:nvPr/>
        </p:nvSpPr>
        <p:spPr>
          <a:xfrm>
            <a:off x="1541678" y="3471062"/>
            <a:ext cx="118872" cy="118872"/>
          </a:xfrm>
          <a:prstGeom prst="rect">
            <a:avLst/>
          </a:prstGeom>
          <a:solidFill>
            <a:srgbClr val="E6F0F9"/>
          </a:solidFill>
          <a:ln/>
        </p:spPr>
      </p:sp>
      <p:sp>
        <p:nvSpPr>
          <p:cNvPr id="119" name="Shape 116"/>
          <p:cNvSpPr/>
          <p:nvPr/>
        </p:nvSpPr>
        <p:spPr>
          <a:xfrm>
            <a:off x="1675181" y="3471062"/>
            <a:ext cx="118872" cy="118872"/>
          </a:xfrm>
          <a:prstGeom prst="rect">
            <a:avLst/>
          </a:prstGeom>
          <a:solidFill>
            <a:srgbClr val="003781"/>
          </a:solidFill>
          <a:ln/>
        </p:spPr>
      </p:sp>
      <p:sp>
        <p:nvSpPr>
          <p:cNvPr id="120" name="Shape 117"/>
          <p:cNvSpPr/>
          <p:nvPr/>
        </p:nvSpPr>
        <p:spPr>
          <a:xfrm>
            <a:off x="1808683" y="3471062"/>
            <a:ext cx="118872" cy="118872"/>
          </a:xfrm>
          <a:prstGeom prst="rect">
            <a:avLst/>
          </a:prstGeom>
          <a:solidFill>
            <a:srgbClr val="5AB6E8"/>
          </a:solidFill>
          <a:ln/>
        </p:spPr>
      </p:sp>
      <p:sp>
        <p:nvSpPr>
          <p:cNvPr id="121" name="Shape 118"/>
          <p:cNvSpPr/>
          <p:nvPr/>
        </p:nvSpPr>
        <p:spPr>
          <a:xfrm>
            <a:off x="1942186" y="3471062"/>
            <a:ext cx="118872" cy="118872"/>
          </a:xfrm>
          <a:prstGeom prst="rect">
            <a:avLst/>
          </a:prstGeom>
          <a:solidFill>
            <a:srgbClr val="E6F0F9"/>
          </a:solidFill>
          <a:ln/>
        </p:spPr>
      </p:sp>
      <p:sp>
        <p:nvSpPr>
          <p:cNvPr id="122" name="Shape 119"/>
          <p:cNvSpPr/>
          <p:nvPr/>
        </p:nvSpPr>
        <p:spPr>
          <a:xfrm>
            <a:off x="2075688" y="3471062"/>
            <a:ext cx="118872" cy="118872"/>
          </a:xfrm>
          <a:prstGeom prst="rect">
            <a:avLst/>
          </a:prstGeom>
          <a:solidFill>
            <a:srgbClr val="E6F0F9"/>
          </a:solidFill>
          <a:ln/>
        </p:spPr>
      </p:sp>
      <p:sp>
        <p:nvSpPr>
          <p:cNvPr id="123" name="Shape 120"/>
          <p:cNvSpPr/>
          <p:nvPr/>
        </p:nvSpPr>
        <p:spPr>
          <a:xfrm>
            <a:off x="2209190" y="3471062"/>
            <a:ext cx="118872" cy="118872"/>
          </a:xfrm>
          <a:prstGeom prst="rect">
            <a:avLst/>
          </a:prstGeom>
          <a:solidFill>
            <a:srgbClr val="003781"/>
          </a:solidFill>
          <a:ln/>
        </p:spPr>
      </p:sp>
      <p:sp>
        <p:nvSpPr>
          <p:cNvPr id="124" name="Shape 121"/>
          <p:cNvSpPr/>
          <p:nvPr/>
        </p:nvSpPr>
        <p:spPr>
          <a:xfrm>
            <a:off x="2342693" y="3471062"/>
            <a:ext cx="118872" cy="118872"/>
          </a:xfrm>
          <a:prstGeom prst="rect">
            <a:avLst/>
          </a:prstGeom>
          <a:solidFill>
            <a:srgbClr val="5AB6E8"/>
          </a:solidFill>
          <a:ln/>
        </p:spPr>
      </p:sp>
      <p:sp>
        <p:nvSpPr>
          <p:cNvPr id="125" name="Shape 122"/>
          <p:cNvSpPr/>
          <p:nvPr/>
        </p:nvSpPr>
        <p:spPr>
          <a:xfrm>
            <a:off x="2476195" y="3471062"/>
            <a:ext cx="118872" cy="118872"/>
          </a:xfrm>
          <a:prstGeom prst="rect">
            <a:avLst/>
          </a:prstGeom>
          <a:solidFill>
            <a:srgbClr val="E6F0F9"/>
          </a:solidFill>
          <a:ln/>
        </p:spPr>
      </p:sp>
      <p:sp>
        <p:nvSpPr>
          <p:cNvPr id="126" name="Shape 123"/>
          <p:cNvSpPr/>
          <p:nvPr/>
        </p:nvSpPr>
        <p:spPr>
          <a:xfrm>
            <a:off x="2609698" y="3471062"/>
            <a:ext cx="118872" cy="118872"/>
          </a:xfrm>
          <a:prstGeom prst="rect">
            <a:avLst/>
          </a:prstGeom>
          <a:solidFill>
            <a:srgbClr val="5AB6E8"/>
          </a:solidFill>
          <a:ln/>
        </p:spPr>
      </p:sp>
      <p:sp>
        <p:nvSpPr>
          <p:cNvPr id="127" name="Shape 124"/>
          <p:cNvSpPr/>
          <p:nvPr/>
        </p:nvSpPr>
        <p:spPr>
          <a:xfrm>
            <a:off x="2743200" y="3471062"/>
            <a:ext cx="118872" cy="118872"/>
          </a:xfrm>
          <a:prstGeom prst="rect">
            <a:avLst/>
          </a:prstGeom>
          <a:solidFill>
            <a:srgbClr val="003781"/>
          </a:solidFill>
          <a:ln/>
        </p:spPr>
      </p:sp>
      <p:sp>
        <p:nvSpPr>
          <p:cNvPr id="128" name="Shape 125"/>
          <p:cNvSpPr/>
          <p:nvPr/>
        </p:nvSpPr>
        <p:spPr>
          <a:xfrm>
            <a:off x="2876702" y="3471062"/>
            <a:ext cx="118872" cy="118872"/>
          </a:xfrm>
          <a:prstGeom prst="rect">
            <a:avLst/>
          </a:prstGeom>
          <a:solidFill>
            <a:srgbClr val="E6F0F9"/>
          </a:solidFill>
          <a:ln/>
        </p:spPr>
      </p:sp>
      <p:sp>
        <p:nvSpPr>
          <p:cNvPr id="129" name="Shape 126"/>
          <p:cNvSpPr/>
          <p:nvPr/>
        </p:nvSpPr>
        <p:spPr>
          <a:xfrm>
            <a:off x="3010205" y="3471062"/>
            <a:ext cx="118872" cy="118872"/>
          </a:xfrm>
          <a:prstGeom prst="rect">
            <a:avLst/>
          </a:prstGeom>
          <a:solidFill>
            <a:srgbClr val="003781"/>
          </a:solidFill>
          <a:ln/>
        </p:spPr>
      </p:sp>
      <p:sp>
        <p:nvSpPr>
          <p:cNvPr id="130" name="Shape 127"/>
          <p:cNvSpPr/>
          <p:nvPr/>
        </p:nvSpPr>
        <p:spPr>
          <a:xfrm>
            <a:off x="3143707" y="3471062"/>
            <a:ext cx="118872" cy="118872"/>
          </a:xfrm>
          <a:prstGeom prst="rect">
            <a:avLst/>
          </a:prstGeom>
          <a:solidFill>
            <a:srgbClr val="5AB6E8"/>
          </a:solidFill>
          <a:ln/>
        </p:spPr>
      </p:sp>
      <p:sp>
        <p:nvSpPr>
          <p:cNvPr id="131" name="Shape 128"/>
          <p:cNvSpPr/>
          <p:nvPr/>
        </p:nvSpPr>
        <p:spPr>
          <a:xfrm>
            <a:off x="3277210" y="3471062"/>
            <a:ext cx="118872" cy="118872"/>
          </a:xfrm>
          <a:prstGeom prst="rect">
            <a:avLst/>
          </a:prstGeom>
          <a:solidFill>
            <a:srgbClr val="E6F0F9"/>
          </a:solidFill>
          <a:ln/>
        </p:spPr>
      </p:sp>
      <p:sp>
        <p:nvSpPr>
          <p:cNvPr id="132" name="Shape 129"/>
          <p:cNvSpPr/>
          <p:nvPr/>
        </p:nvSpPr>
        <p:spPr>
          <a:xfrm>
            <a:off x="3410712" y="3471062"/>
            <a:ext cx="118872" cy="118872"/>
          </a:xfrm>
          <a:prstGeom prst="rect">
            <a:avLst/>
          </a:prstGeom>
          <a:solidFill>
            <a:srgbClr val="E6F0F9"/>
          </a:solidFill>
          <a:ln/>
        </p:spPr>
      </p:sp>
      <p:sp>
        <p:nvSpPr>
          <p:cNvPr id="133" name="Shape 130"/>
          <p:cNvSpPr/>
          <p:nvPr/>
        </p:nvSpPr>
        <p:spPr>
          <a:xfrm>
            <a:off x="3544214" y="3471062"/>
            <a:ext cx="118872" cy="118872"/>
          </a:xfrm>
          <a:prstGeom prst="rect">
            <a:avLst/>
          </a:prstGeom>
          <a:solidFill>
            <a:srgbClr val="003781"/>
          </a:solidFill>
          <a:ln/>
        </p:spPr>
      </p:sp>
      <p:sp>
        <p:nvSpPr>
          <p:cNvPr id="134" name="Shape 131"/>
          <p:cNvSpPr/>
          <p:nvPr/>
        </p:nvSpPr>
        <p:spPr>
          <a:xfrm>
            <a:off x="3677717" y="3471062"/>
            <a:ext cx="118872" cy="118872"/>
          </a:xfrm>
          <a:prstGeom prst="rect">
            <a:avLst/>
          </a:prstGeom>
          <a:solidFill>
            <a:srgbClr val="5AB6E8"/>
          </a:solidFill>
          <a:ln/>
        </p:spPr>
      </p:sp>
      <p:sp>
        <p:nvSpPr>
          <p:cNvPr id="135" name="Shape 132"/>
          <p:cNvSpPr/>
          <p:nvPr/>
        </p:nvSpPr>
        <p:spPr>
          <a:xfrm>
            <a:off x="1408176" y="3604565"/>
            <a:ext cx="118872" cy="118872"/>
          </a:xfrm>
          <a:prstGeom prst="rect">
            <a:avLst/>
          </a:prstGeom>
          <a:solidFill>
            <a:srgbClr val="E6F0F9"/>
          </a:solidFill>
          <a:ln/>
        </p:spPr>
      </p:sp>
      <p:sp>
        <p:nvSpPr>
          <p:cNvPr id="136" name="Shape 133"/>
          <p:cNvSpPr/>
          <p:nvPr/>
        </p:nvSpPr>
        <p:spPr>
          <a:xfrm>
            <a:off x="1541678" y="3604565"/>
            <a:ext cx="118872" cy="118872"/>
          </a:xfrm>
          <a:prstGeom prst="rect">
            <a:avLst/>
          </a:prstGeom>
          <a:solidFill>
            <a:srgbClr val="5AB6E8"/>
          </a:solidFill>
          <a:ln/>
        </p:spPr>
      </p:sp>
      <p:sp>
        <p:nvSpPr>
          <p:cNvPr id="137" name="Shape 134"/>
          <p:cNvSpPr/>
          <p:nvPr/>
        </p:nvSpPr>
        <p:spPr>
          <a:xfrm>
            <a:off x="1675181" y="3604565"/>
            <a:ext cx="118872" cy="118872"/>
          </a:xfrm>
          <a:prstGeom prst="rect">
            <a:avLst/>
          </a:prstGeom>
          <a:solidFill>
            <a:srgbClr val="E6F0F9"/>
          </a:solidFill>
          <a:ln/>
        </p:spPr>
      </p:sp>
      <p:sp>
        <p:nvSpPr>
          <p:cNvPr id="138" name="Shape 135"/>
          <p:cNvSpPr/>
          <p:nvPr/>
        </p:nvSpPr>
        <p:spPr>
          <a:xfrm>
            <a:off x="1808683" y="3604565"/>
            <a:ext cx="118872" cy="118872"/>
          </a:xfrm>
          <a:prstGeom prst="rect">
            <a:avLst/>
          </a:prstGeom>
          <a:solidFill>
            <a:srgbClr val="E6F0F9"/>
          </a:solidFill>
          <a:ln/>
        </p:spPr>
      </p:sp>
      <p:sp>
        <p:nvSpPr>
          <p:cNvPr id="139" name="Shape 136"/>
          <p:cNvSpPr/>
          <p:nvPr/>
        </p:nvSpPr>
        <p:spPr>
          <a:xfrm>
            <a:off x="1942186" y="3604565"/>
            <a:ext cx="118872" cy="118872"/>
          </a:xfrm>
          <a:prstGeom prst="rect">
            <a:avLst/>
          </a:prstGeom>
          <a:solidFill>
            <a:srgbClr val="5AB6E8"/>
          </a:solidFill>
          <a:ln/>
        </p:spPr>
      </p:sp>
      <p:sp>
        <p:nvSpPr>
          <p:cNvPr id="140" name="Shape 137"/>
          <p:cNvSpPr/>
          <p:nvPr/>
        </p:nvSpPr>
        <p:spPr>
          <a:xfrm>
            <a:off x="2075688" y="3604565"/>
            <a:ext cx="118872" cy="118872"/>
          </a:xfrm>
          <a:prstGeom prst="rect">
            <a:avLst/>
          </a:prstGeom>
          <a:solidFill>
            <a:srgbClr val="5AB6E8"/>
          </a:solidFill>
          <a:ln/>
        </p:spPr>
      </p:sp>
      <p:sp>
        <p:nvSpPr>
          <p:cNvPr id="141" name="Shape 138"/>
          <p:cNvSpPr/>
          <p:nvPr/>
        </p:nvSpPr>
        <p:spPr>
          <a:xfrm>
            <a:off x="2209190" y="3604565"/>
            <a:ext cx="118872" cy="118872"/>
          </a:xfrm>
          <a:prstGeom prst="rect">
            <a:avLst/>
          </a:prstGeom>
          <a:solidFill>
            <a:srgbClr val="E6F0F9"/>
          </a:solidFill>
          <a:ln/>
        </p:spPr>
      </p:sp>
      <p:sp>
        <p:nvSpPr>
          <p:cNvPr id="142" name="Shape 139"/>
          <p:cNvSpPr/>
          <p:nvPr/>
        </p:nvSpPr>
        <p:spPr>
          <a:xfrm>
            <a:off x="2342693" y="3604565"/>
            <a:ext cx="118872" cy="118872"/>
          </a:xfrm>
          <a:prstGeom prst="rect">
            <a:avLst/>
          </a:prstGeom>
          <a:solidFill>
            <a:srgbClr val="5AB6E8"/>
          </a:solidFill>
          <a:ln/>
        </p:spPr>
      </p:sp>
      <p:sp>
        <p:nvSpPr>
          <p:cNvPr id="143" name="Shape 140"/>
          <p:cNvSpPr/>
          <p:nvPr/>
        </p:nvSpPr>
        <p:spPr>
          <a:xfrm>
            <a:off x="2476195" y="3604565"/>
            <a:ext cx="118872" cy="118872"/>
          </a:xfrm>
          <a:prstGeom prst="rect">
            <a:avLst/>
          </a:prstGeom>
          <a:solidFill>
            <a:srgbClr val="5AB6E8"/>
          </a:solidFill>
          <a:ln/>
        </p:spPr>
      </p:sp>
      <p:sp>
        <p:nvSpPr>
          <p:cNvPr id="144" name="Shape 141"/>
          <p:cNvSpPr/>
          <p:nvPr/>
        </p:nvSpPr>
        <p:spPr>
          <a:xfrm>
            <a:off x="2609698" y="3604565"/>
            <a:ext cx="118872" cy="118872"/>
          </a:xfrm>
          <a:prstGeom prst="rect">
            <a:avLst/>
          </a:prstGeom>
          <a:solidFill>
            <a:srgbClr val="E6F0F9"/>
          </a:solidFill>
          <a:ln/>
        </p:spPr>
      </p:sp>
      <p:sp>
        <p:nvSpPr>
          <p:cNvPr id="145" name="Shape 142"/>
          <p:cNvSpPr/>
          <p:nvPr/>
        </p:nvSpPr>
        <p:spPr>
          <a:xfrm>
            <a:off x="2743200" y="3604565"/>
            <a:ext cx="118872" cy="118872"/>
          </a:xfrm>
          <a:prstGeom prst="rect">
            <a:avLst/>
          </a:prstGeom>
          <a:solidFill>
            <a:srgbClr val="E6F0F9"/>
          </a:solidFill>
          <a:ln/>
        </p:spPr>
      </p:sp>
      <p:sp>
        <p:nvSpPr>
          <p:cNvPr id="146" name="Shape 143"/>
          <p:cNvSpPr/>
          <p:nvPr/>
        </p:nvSpPr>
        <p:spPr>
          <a:xfrm>
            <a:off x="2876702" y="3604565"/>
            <a:ext cx="118872" cy="118872"/>
          </a:xfrm>
          <a:prstGeom prst="rect">
            <a:avLst/>
          </a:prstGeom>
          <a:solidFill>
            <a:srgbClr val="5AB6E8"/>
          </a:solidFill>
          <a:ln/>
        </p:spPr>
      </p:sp>
      <p:sp>
        <p:nvSpPr>
          <p:cNvPr id="147" name="Shape 144"/>
          <p:cNvSpPr/>
          <p:nvPr/>
        </p:nvSpPr>
        <p:spPr>
          <a:xfrm>
            <a:off x="3010205" y="3604565"/>
            <a:ext cx="118872" cy="118872"/>
          </a:xfrm>
          <a:prstGeom prst="rect">
            <a:avLst/>
          </a:prstGeom>
          <a:solidFill>
            <a:srgbClr val="E6F0F9"/>
          </a:solidFill>
          <a:ln/>
        </p:spPr>
      </p:sp>
      <p:sp>
        <p:nvSpPr>
          <p:cNvPr id="148" name="Shape 145"/>
          <p:cNvSpPr/>
          <p:nvPr/>
        </p:nvSpPr>
        <p:spPr>
          <a:xfrm>
            <a:off x="3143707" y="3604565"/>
            <a:ext cx="118872" cy="118872"/>
          </a:xfrm>
          <a:prstGeom prst="rect">
            <a:avLst/>
          </a:prstGeom>
          <a:solidFill>
            <a:srgbClr val="E6F0F9"/>
          </a:solidFill>
          <a:ln/>
        </p:spPr>
      </p:sp>
      <p:sp>
        <p:nvSpPr>
          <p:cNvPr id="149" name="Shape 146"/>
          <p:cNvSpPr/>
          <p:nvPr/>
        </p:nvSpPr>
        <p:spPr>
          <a:xfrm>
            <a:off x="3277210" y="3604565"/>
            <a:ext cx="118872" cy="118872"/>
          </a:xfrm>
          <a:prstGeom prst="rect">
            <a:avLst/>
          </a:prstGeom>
          <a:solidFill>
            <a:srgbClr val="5AB6E8"/>
          </a:solidFill>
          <a:ln/>
        </p:spPr>
      </p:sp>
      <p:sp>
        <p:nvSpPr>
          <p:cNvPr id="150" name="Shape 147"/>
          <p:cNvSpPr/>
          <p:nvPr/>
        </p:nvSpPr>
        <p:spPr>
          <a:xfrm>
            <a:off x="3410712" y="3604565"/>
            <a:ext cx="118872" cy="118872"/>
          </a:xfrm>
          <a:prstGeom prst="rect">
            <a:avLst/>
          </a:prstGeom>
          <a:solidFill>
            <a:srgbClr val="5AB6E8"/>
          </a:solidFill>
          <a:ln/>
        </p:spPr>
      </p:sp>
      <p:sp>
        <p:nvSpPr>
          <p:cNvPr id="151" name="Shape 148"/>
          <p:cNvSpPr/>
          <p:nvPr/>
        </p:nvSpPr>
        <p:spPr>
          <a:xfrm>
            <a:off x="3544214" y="3604565"/>
            <a:ext cx="118872" cy="118872"/>
          </a:xfrm>
          <a:prstGeom prst="rect">
            <a:avLst/>
          </a:prstGeom>
          <a:solidFill>
            <a:srgbClr val="E6F0F9"/>
          </a:solidFill>
          <a:ln/>
        </p:spPr>
      </p:sp>
      <p:sp>
        <p:nvSpPr>
          <p:cNvPr id="152" name="Shape 149"/>
          <p:cNvSpPr/>
          <p:nvPr/>
        </p:nvSpPr>
        <p:spPr>
          <a:xfrm>
            <a:off x="3677717" y="3604565"/>
            <a:ext cx="118872" cy="118872"/>
          </a:xfrm>
          <a:prstGeom prst="rect">
            <a:avLst/>
          </a:prstGeom>
          <a:solidFill>
            <a:srgbClr val="5AB6E8"/>
          </a:solidFill>
          <a:ln/>
        </p:spPr>
      </p:sp>
      <p:sp>
        <p:nvSpPr>
          <p:cNvPr id="153" name="Shape 150"/>
          <p:cNvSpPr/>
          <p:nvPr/>
        </p:nvSpPr>
        <p:spPr>
          <a:xfrm>
            <a:off x="1408176" y="3738067"/>
            <a:ext cx="118872" cy="118872"/>
          </a:xfrm>
          <a:prstGeom prst="rect">
            <a:avLst/>
          </a:prstGeom>
          <a:solidFill>
            <a:srgbClr val="E6F0F9"/>
          </a:solidFill>
          <a:ln/>
        </p:spPr>
      </p:sp>
      <p:sp>
        <p:nvSpPr>
          <p:cNvPr id="154" name="Shape 151"/>
          <p:cNvSpPr/>
          <p:nvPr/>
        </p:nvSpPr>
        <p:spPr>
          <a:xfrm>
            <a:off x="1541678" y="3738067"/>
            <a:ext cx="118872" cy="118872"/>
          </a:xfrm>
          <a:prstGeom prst="rect">
            <a:avLst/>
          </a:prstGeom>
          <a:solidFill>
            <a:srgbClr val="003781"/>
          </a:solidFill>
          <a:ln/>
        </p:spPr>
      </p:sp>
      <p:sp>
        <p:nvSpPr>
          <p:cNvPr id="155" name="Shape 152"/>
          <p:cNvSpPr/>
          <p:nvPr/>
        </p:nvSpPr>
        <p:spPr>
          <a:xfrm>
            <a:off x="1675181" y="3738067"/>
            <a:ext cx="118872" cy="118872"/>
          </a:xfrm>
          <a:prstGeom prst="rect">
            <a:avLst/>
          </a:prstGeom>
          <a:solidFill>
            <a:srgbClr val="5AB6E8"/>
          </a:solidFill>
          <a:ln/>
        </p:spPr>
      </p:sp>
      <p:sp>
        <p:nvSpPr>
          <p:cNvPr id="156" name="Shape 153"/>
          <p:cNvSpPr/>
          <p:nvPr/>
        </p:nvSpPr>
        <p:spPr>
          <a:xfrm>
            <a:off x="1808683" y="3738067"/>
            <a:ext cx="118872" cy="118872"/>
          </a:xfrm>
          <a:prstGeom prst="rect">
            <a:avLst/>
          </a:prstGeom>
          <a:solidFill>
            <a:srgbClr val="E6F0F9"/>
          </a:solidFill>
          <a:ln/>
        </p:spPr>
      </p:sp>
      <p:sp>
        <p:nvSpPr>
          <p:cNvPr id="157" name="Shape 154"/>
          <p:cNvSpPr/>
          <p:nvPr/>
        </p:nvSpPr>
        <p:spPr>
          <a:xfrm>
            <a:off x="1942186" y="3738067"/>
            <a:ext cx="118872" cy="118872"/>
          </a:xfrm>
          <a:prstGeom prst="rect">
            <a:avLst/>
          </a:prstGeom>
          <a:solidFill>
            <a:srgbClr val="003781"/>
          </a:solidFill>
          <a:ln/>
        </p:spPr>
      </p:sp>
      <p:sp>
        <p:nvSpPr>
          <p:cNvPr id="158" name="Shape 155"/>
          <p:cNvSpPr/>
          <p:nvPr/>
        </p:nvSpPr>
        <p:spPr>
          <a:xfrm>
            <a:off x="2075688" y="3738067"/>
            <a:ext cx="118872" cy="118872"/>
          </a:xfrm>
          <a:prstGeom prst="rect">
            <a:avLst/>
          </a:prstGeom>
          <a:solidFill>
            <a:srgbClr val="003781"/>
          </a:solidFill>
          <a:ln/>
        </p:spPr>
      </p:sp>
      <p:sp>
        <p:nvSpPr>
          <p:cNvPr id="159" name="Shape 156"/>
          <p:cNvSpPr/>
          <p:nvPr/>
        </p:nvSpPr>
        <p:spPr>
          <a:xfrm>
            <a:off x="2209190" y="3738067"/>
            <a:ext cx="118872" cy="118872"/>
          </a:xfrm>
          <a:prstGeom prst="rect">
            <a:avLst/>
          </a:prstGeom>
          <a:solidFill>
            <a:srgbClr val="E6F0F9"/>
          </a:solidFill>
          <a:ln/>
        </p:spPr>
      </p:sp>
      <p:sp>
        <p:nvSpPr>
          <p:cNvPr id="160" name="Shape 157"/>
          <p:cNvSpPr/>
          <p:nvPr/>
        </p:nvSpPr>
        <p:spPr>
          <a:xfrm>
            <a:off x="2342693" y="3738067"/>
            <a:ext cx="118872" cy="118872"/>
          </a:xfrm>
          <a:prstGeom prst="rect">
            <a:avLst/>
          </a:prstGeom>
          <a:solidFill>
            <a:srgbClr val="E6F0F9"/>
          </a:solidFill>
          <a:ln/>
        </p:spPr>
      </p:sp>
      <p:sp>
        <p:nvSpPr>
          <p:cNvPr id="161" name="Shape 158"/>
          <p:cNvSpPr/>
          <p:nvPr/>
        </p:nvSpPr>
        <p:spPr>
          <a:xfrm>
            <a:off x="2476195" y="3738067"/>
            <a:ext cx="118872" cy="118872"/>
          </a:xfrm>
          <a:prstGeom prst="rect">
            <a:avLst/>
          </a:prstGeom>
          <a:solidFill>
            <a:srgbClr val="5AB6E8"/>
          </a:solidFill>
          <a:ln/>
        </p:spPr>
      </p:sp>
      <p:sp>
        <p:nvSpPr>
          <p:cNvPr id="162" name="Shape 159"/>
          <p:cNvSpPr/>
          <p:nvPr/>
        </p:nvSpPr>
        <p:spPr>
          <a:xfrm>
            <a:off x="2609698" y="3738067"/>
            <a:ext cx="118872" cy="118872"/>
          </a:xfrm>
          <a:prstGeom prst="rect">
            <a:avLst/>
          </a:prstGeom>
          <a:solidFill>
            <a:srgbClr val="5AB6E8"/>
          </a:solidFill>
          <a:ln/>
        </p:spPr>
      </p:sp>
      <p:sp>
        <p:nvSpPr>
          <p:cNvPr id="163" name="Shape 160"/>
          <p:cNvSpPr/>
          <p:nvPr/>
        </p:nvSpPr>
        <p:spPr>
          <a:xfrm>
            <a:off x="2743200" y="3738067"/>
            <a:ext cx="118872" cy="118872"/>
          </a:xfrm>
          <a:prstGeom prst="rect">
            <a:avLst/>
          </a:prstGeom>
          <a:solidFill>
            <a:srgbClr val="E6F0F9"/>
          </a:solidFill>
          <a:ln/>
        </p:spPr>
      </p:sp>
      <p:sp>
        <p:nvSpPr>
          <p:cNvPr id="164" name="Shape 161"/>
          <p:cNvSpPr/>
          <p:nvPr/>
        </p:nvSpPr>
        <p:spPr>
          <a:xfrm>
            <a:off x="2876702" y="3738067"/>
            <a:ext cx="118872" cy="118872"/>
          </a:xfrm>
          <a:prstGeom prst="rect">
            <a:avLst/>
          </a:prstGeom>
          <a:solidFill>
            <a:srgbClr val="003781"/>
          </a:solidFill>
          <a:ln/>
        </p:spPr>
      </p:sp>
      <p:sp>
        <p:nvSpPr>
          <p:cNvPr id="165" name="Shape 162"/>
          <p:cNvSpPr/>
          <p:nvPr/>
        </p:nvSpPr>
        <p:spPr>
          <a:xfrm>
            <a:off x="3010205" y="3738067"/>
            <a:ext cx="118872" cy="118872"/>
          </a:xfrm>
          <a:prstGeom prst="rect">
            <a:avLst/>
          </a:prstGeom>
          <a:solidFill>
            <a:srgbClr val="5AB6E8"/>
          </a:solidFill>
          <a:ln/>
        </p:spPr>
      </p:sp>
      <p:sp>
        <p:nvSpPr>
          <p:cNvPr id="166" name="Shape 163"/>
          <p:cNvSpPr/>
          <p:nvPr/>
        </p:nvSpPr>
        <p:spPr>
          <a:xfrm>
            <a:off x="3143707" y="3738067"/>
            <a:ext cx="118872" cy="118872"/>
          </a:xfrm>
          <a:prstGeom prst="rect">
            <a:avLst/>
          </a:prstGeom>
          <a:solidFill>
            <a:srgbClr val="E6F0F9"/>
          </a:solidFill>
          <a:ln/>
        </p:spPr>
      </p:sp>
      <p:sp>
        <p:nvSpPr>
          <p:cNvPr id="167" name="Shape 164"/>
          <p:cNvSpPr/>
          <p:nvPr/>
        </p:nvSpPr>
        <p:spPr>
          <a:xfrm>
            <a:off x="3277210" y="3738067"/>
            <a:ext cx="118872" cy="118872"/>
          </a:xfrm>
          <a:prstGeom prst="rect">
            <a:avLst/>
          </a:prstGeom>
          <a:solidFill>
            <a:srgbClr val="003781"/>
          </a:solidFill>
          <a:ln/>
        </p:spPr>
      </p:sp>
      <p:sp>
        <p:nvSpPr>
          <p:cNvPr id="168" name="Shape 165"/>
          <p:cNvSpPr/>
          <p:nvPr/>
        </p:nvSpPr>
        <p:spPr>
          <a:xfrm>
            <a:off x="3410712" y="3738067"/>
            <a:ext cx="118872" cy="118872"/>
          </a:xfrm>
          <a:prstGeom prst="rect">
            <a:avLst/>
          </a:prstGeom>
          <a:solidFill>
            <a:srgbClr val="003781"/>
          </a:solidFill>
          <a:ln/>
        </p:spPr>
      </p:sp>
      <p:sp>
        <p:nvSpPr>
          <p:cNvPr id="169" name="Shape 166"/>
          <p:cNvSpPr/>
          <p:nvPr/>
        </p:nvSpPr>
        <p:spPr>
          <a:xfrm>
            <a:off x="3544214" y="3738067"/>
            <a:ext cx="118872" cy="118872"/>
          </a:xfrm>
          <a:prstGeom prst="rect">
            <a:avLst/>
          </a:prstGeom>
          <a:solidFill>
            <a:srgbClr val="E6F0F9"/>
          </a:solidFill>
          <a:ln/>
        </p:spPr>
      </p:sp>
      <p:sp>
        <p:nvSpPr>
          <p:cNvPr id="170" name="Shape 167"/>
          <p:cNvSpPr/>
          <p:nvPr/>
        </p:nvSpPr>
        <p:spPr>
          <a:xfrm>
            <a:off x="3677717" y="3738067"/>
            <a:ext cx="118872" cy="118872"/>
          </a:xfrm>
          <a:prstGeom prst="rect">
            <a:avLst/>
          </a:prstGeom>
          <a:solidFill>
            <a:srgbClr val="E6F0F9"/>
          </a:solidFill>
          <a:ln/>
        </p:spPr>
      </p:sp>
      <p:sp>
        <p:nvSpPr>
          <p:cNvPr id="171" name="Shape 168"/>
          <p:cNvSpPr/>
          <p:nvPr/>
        </p:nvSpPr>
        <p:spPr>
          <a:xfrm>
            <a:off x="1408176" y="3871570"/>
            <a:ext cx="118872" cy="118872"/>
          </a:xfrm>
          <a:prstGeom prst="rect">
            <a:avLst/>
          </a:prstGeom>
          <a:solidFill>
            <a:srgbClr val="5AB6E8"/>
          </a:solidFill>
          <a:ln/>
        </p:spPr>
      </p:sp>
      <p:sp>
        <p:nvSpPr>
          <p:cNvPr id="172" name="Shape 169"/>
          <p:cNvSpPr/>
          <p:nvPr/>
        </p:nvSpPr>
        <p:spPr>
          <a:xfrm>
            <a:off x="1541678" y="3871570"/>
            <a:ext cx="118872" cy="118872"/>
          </a:xfrm>
          <a:prstGeom prst="rect">
            <a:avLst/>
          </a:prstGeom>
          <a:solidFill>
            <a:srgbClr val="003781"/>
          </a:solidFill>
          <a:ln/>
        </p:spPr>
      </p:sp>
      <p:sp>
        <p:nvSpPr>
          <p:cNvPr id="173" name="Shape 170"/>
          <p:cNvSpPr/>
          <p:nvPr/>
        </p:nvSpPr>
        <p:spPr>
          <a:xfrm>
            <a:off x="1675181" y="3871570"/>
            <a:ext cx="118872" cy="118872"/>
          </a:xfrm>
          <a:prstGeom prst="rect">
            <a:avLst/>
          </a:prstGeom>
          <a:solidFill>
            <a:srgbClr val="003781"/>
          </a:solidFill>
          <a:ln/>
        </p:spPr>
      </p:sp>
      <p:sp>
        <p:nvSpPr>
          <p:cNvPr id="174" name="Shape 171"/>
          <p:cNvSpPr/>
          <p:nvPr/>
        </p:nvSpPr>
        <p:spPr>
          <a:xfrm>
            <a:off x="1808683" y="3871570"/>
            <a:ext cx="118872" cy="118872"/>
          </a:xfrm>
          <a:prstGeom prst="rect">
            <a:avLst/>
          </a:prstGeom>
          <a:solidFill>
            <a:srgbClr val="5AB6E8"/>
          </a:solidFill>
          <a:ln/>
        </p:spPr>
      </p:sp>
      <p:sp>
        <p:nvSpPr>
          <p:cNvPr id="175" name="Shape 172"/>
          <p:cNvSpPr/>
          <p:nvPr/>
        </p:nvSpPr>
        <p:spPr>
          <a:xfrm>
            <a:off x="1942186" y="3871570"/>
            <a:ext cx="118872" cy="118872"/>
          </a:xfrm>
          <a:prstGeom prst="rect">
            <a:avLst/>
          </a:prstGeom>
          <a:solidFill>
            <a:srgbClr val="E6F0F9"/>
          </a:solidFill>
          <a:ln/>
        </p:spPr>
      </p:sp>
      <p:sp>
        <p:nvSpPr>
          <p:cNvPr id="176" name="Shape 173"/>
          <p:cNvSpPr/>
          <p:nvPr/>
        </p:nvSpPr>
        <p:spPr>
          <a:xfrm>
            <a:off x="2075688" y="3871570"/>
            <a:ext cx="118872" cy="118872"/>
          </a:xfrm>
          <a:prstGeom prst="rect">
            <a:avLst/>
          </a:prstGeom>
          <a:solidFill>
            <a:srgbClr val="E6F0F9"/>
          </a:solidFill>
          <a:ln/>
        </p:spPr>
      </p:sp>
      <p:sp>
        <p:nvSpPr>
          <p:cNvPr id="177" name="Shape 174"/>
          <p:cNvSpPr/>
          <p:nvPr/>
        </p:nvSpPr>
        <p:spPr>
          <a:xfrm>
            <a:off x="2209190" y="3871570"/>
            <a:ext cx="118872" cy="118872"/>
          </a:xfrm>
          <a:prstGeom prst="rect">
            <a:avLst/>
          </a:prstGeom>
          <a:solidFill>
            <a:srgbClr val="5AB6E8"/>
          </a:solidFill>
          <a:ln/>
        </p:spPr>
      </p:sp>
      <p:sp>
        <p:nvSpPr>
          <p:cNvPr id="178" name="Shape 175"/>
          <p:cNvSpPr/>
          <p:nvPr/>
        </p:nvSpPr>
        <p:spPr>
          <a:xfrm>
            <a:off x="2342693" y="3871570"/>
            <a:ext cx="118872" cy="118872"/>
          </a:xfrm>
          <a:prstGeom prst="rect">
            <a:avLst/>
          </a:prstGeom>
          <a:solidFill>
            <a:srgbClr val="E6F0F9"/>
          </a:solidFill>
          <a:ln/>
        </p:spPr>
      </p:sp>
      <p:sp>
        <p:nvSpPr>
          <p:cNvPr id="179" name="Shape 176"/>
          <p:cNvSpPr/>
          <p:nvPr/>
        </p:nvSpPr>
        <p:spPr>
          <a:xfrm>
            <a:off x="2476195" y="3871570"/>
            <a:ext cx="118872" cy="118872"/>
          </a:xfrm>
          <a:prstGeom prst="rect">
            <a:avLst/>
          </a:prstGeom>
          <a:solidFill>
            <a:srgbClr val="E6F0F9"/>
          </a:solidFill>
          <a:ln/>
        </p:spPr>
      </p:sp>
      <p:sp>
        <p:nvSpPr>
          <p:cNvPr id="180" name="Shape 177"/>
          <p:cNvSpPr/>
          <p:nvPr/>
        </p:nvSpPr>
        <p:spPr>
          <a:xfrm>
            <a:off x="2609698" y="3871570"/>
            <a:ext cx="118872" cy="118872"/>
          </a:xfrm>
          <a:prstGeom prst="rect">
            <a:avLst/>
          </a:prstGeom>
          <a:solidFill>
            <a:srgbClr val="003781"/>
          </a:solidFill>
          <a:ln/>
        </p:spPr>
      </p:sp>
      <p:sp>
        <p:nvSpPr>
          <p:cNvPr id="181" name="Shape 178"/>
          <p:cNvSpPr/>
          <p:nvPr/>
        </p:nvSpPr>
        <p:spPr>
          <a:xfrm>
            <a:off x="2743200" y="3871570"/>
            <a:ext cx="118872" cy="118872"/>
          </a:xfrm>
          <a:prstGeom prst="rect">
            <a:avLst/>
          </a:prstGeom>
          <a:solidFill>
            <a:srgbClr val="5AB6E8"/>
          </a:solidFill>
          <a:ln/>
        </p:spPr>
      </p:sp>
      <p:sp>
        <p:nvSpPr>
          <p:cNvPr id="182" name="Shape 179"/>
          <p:cNvSpPr/>
          <p:nvPr/>
        </p:nvSpPr>
        <p:spPr>
          <a:xfrm>
            <a:off x="2876702" y="3871570"/>
            <a:ext cx="118872" cy="118872"/>
          </a:xfrm>
          <a:prstGeom prst="rect">
            <a:avLst/>
          </a:prstGeom>
          <a:solidFill>
            <a:srgbClr val="003781"/>
          </a:solidFill>
          <a:ln/>
        </p:spPr>
      </p:sp>
      <p:sp>
        <p:nvSpPr>
          <p:cNvPr id="183" name="Shape 180"/>
          <p:cNvSpPr/>
          <p:nvPr/>
        </p:nvSpPr>
        <p:spPr>
          <a:xfrm>
            <a:off x="3010205" y="3871570"/>
            <a:ext cx="118872" cy="118872"/>
          </a:xfrm>
          <a:prstGeom prst="rect">
            <a:avLst/>
          </a:prstGeom>
          <a:solidFill>
            <a:srgbClr val="003781"/>
          </a:solidFill>
          <a:ln/>
        </p:spPr>
      </p:sp>
      <p:sp>
        <p:nvSpPr>
          <p:cNvPr id="184" name="Shape 181"/>
          <p:cNvSpPr/>
          <p:nvPr/>
        </p:nvSpPr>
        <p:spPr>
          <a:xfrm>
            <a:off x="3143707" y="3871570"/>
            <a:ext cx="118872" cy="118872"/>
          </a:xfrm>
          <a:prstGeom prst="rect">
            <a:avLst/>
          </a:prstGeom>
          <a:solidFill>
            <a:srgbClr val="5AB6E8"/>
          </a:solidFill>
          <a:ln/>
        </p:spPr>
      </p:sp>
      <p:sp>
        <p:nvSpPr>
          <p:cNvPr id="185" name="Shape 182"/>
          <p:cNvSpPr/>
          <p:nvPr/>
        </p:nvSpPr>
        <p:spPr>
          <a:xfrm>
            <a:off x="3277210" y="3871570"/>
            <a:ext cx="118872" cy="118872"/>
          </a:xfrm>
          <a:prstGeom prst="rect">
            <a:avLst/>
          </a:prstGeom>
          <a:solidFill>
            <a:srgbClr val="E6F0F9"/>
          </a:solidFill>
          <a:ln/>
        </p:spPr>
      </p:sp>
      <p:sp>
        <p:nvSpPr>
          <p:cNvPr id="186" name="Shape 183"/>
          <p:cNvSpPr/>
          <p:nvPr/>
        </p:nvSpPr>
        <p:spPr>
          <a:xfrm>
            <a:off x="3410712" y="3871570"/>
            <a:ext cx="118872" cy="118872"/>
          </a:xfrm>
          <a:prstGeom prst="rect">
            <a:avLst/>
          </a:prstGeom>
          <a:solidFill>
            <a:srgbClr val="E6F0F9"/>
          </a:solidFill>
          <a:ln/>
        </p:spPr>
      </p:sp>
      <p:sp>
        <p:nvSpPr>
          <p:cNvPr id="187" name="Shape 184"/>
          <p:cNvSpPr/>
          <p:nvPr/>
        </p:nvSpPr>
        <p:spPr>
          <a:xfrm>
            <a:off x="3544214" y="3871570"/>
            <a:ext cx="118872" cy="118872"/>
          </a:xfrm>
          <a:prstGeom prst="rect">
            <a:avLst/>
          </a:prstGeom>
          <a:solidFill>
            <a:srgbClr val="5AB6E8"/>
          </a:solidFill>
          <a:ln/>
        </p:spPr>
      </p:sp>
      <p:sp>
        <p:nvSpPr>
          <p:cNvPr id="188" name="Shape 185"/>
          <p:cNvSpPr/>
          <p:nvPr/>
        </p:nvSpPr>
        <p:spPr>
          <a:xfrm>
            <a:off x="3677717" y="3871570"/>
            <a:ext cx="118872" cy="118872"/>
          </a:xfrm>
          <a:prstGeom prst="rect">
            <a:avLst/>
          </a:prstGeom>
          <a:solidFill>
            <a:srgbClr val="E6F0F9"/>
          </a:solidFill>
          <a:ln/>
        </p:spPr>
      </p:sp>
      <p:sp>
        <p:nvSpPr>
          <p:cNvPr id="189" name="Shape 186"/>
          <p:cNvSpPr/>
          <p:nvPr/>
        </p:nvSpPr>
        <p:spPr>
          <a:xfrm>
            <a:off x="1408176" y="4005072"/>
            <a:ext cx="118872" cy="118872"/>
          </a:xfrm>
          <a:prstGeom prst="rect">
            <a:avLst/>
          </a:prstGeom>
          <a:solidFill>
            <a:srgbClr val="003781"/>
          </a:solidFill>
          <a:ln/>
        </p:spPr>
      </p:sp>
      <p:sp>
        <p:nvSpPr>
          <p:cNvPr id="190" name="Shape 187"/>
          <p:cNvSpPr/>
          <p:nvPr/>
        </p:nvSpPr>
        <p:spPr>
          <a:xfrm>
            <a:off x="1541678" y="4005072"/>
            <a:ext cx="118872" cy="118872"/>
          </a:xfrm>
          <a:prstGeom prst="rect">
            <a:avLst/>
          </a:prstGeom>
          <a:solidFill>
            <a:srgbClr val="5AB6E8"/>
          </a:solidFill>
          <a:ln/>
        </p:spPr>
      </p:sp>
      <p:sp>
        <p:nvSpPr>
          <p:cNvPr id="191" name="Shape 188"/>
          <p:cNvSpPr/>
          <p:nvPr/>
        </p:nvSpPr>
        <p:spPr>
          <a:xfrm>
            <a:off x="1675181" y="4005072"/>
            <a:ext cx="118872" cy="118872"/>
          </a:xfrm>
          <a:prstGeom prst="rect">
            <a:avLst/>
          </a:prstGeom>
          <a:solidFill>
            <a:srgbClr val="E6F0F9"/>
          </a:solidFill>
          <a:ln/>
        </p:spPr>
      </p:sp>
      <p:sp>
        <p:nvSpPr>
          <p:cNvPr id="192" name="Shape 189"/>
          <p:cNvSpPr/>
          <p:nvPr/>
        </p:nvSpPr>
        <p:spPr>
          <a:xfrm>
            <a:off x="1808683" y="4005072"/>
            <a:ext cx="118872" cy="118872"/>
          </a:xfrm>
          <a:prstGeom prst="rect">
            <a:avLst/>
          </a:prstGeom>
          <a:solidFill>
            <a:srgbClr val="E6F0F9"/>
          </a:solidFill>
          <a:ln/>
        </p:spPr>
      </p:sp>
      <p:sp>
        <p:nvSpPr>
          <p:cNvPr id="193" name="Shape 190"/>
          <p:cNvSpPr/>
          <p:nvPr/>
        </p:nvSpPr>
        <p:spPr>
          <a:xfrm>
            <a:off x="1942186" y="4005072"/>
            <a:ext cx="118872" cy="118872"/>
          </a:xfrm>
          <a:prstGeom prst="rect">
            <a:avLst/>
          </a:prstGeom>
          <a:solidFill>
            <a:srgbClr val="003781"/>
          </a:solidFill>
          <a:ln/>
        </p:spPr>
      </p:sp>
      <p:sp>
        <p:nvSpPr>
          <p:cNvPr id="194" name="Shape 191"/>
          <p:cNvSpPr/>
          <p:nvPr/>
        </p:nvSpPr>
        <p:spPr>
          <a:xfrm>
            <a:off x="2075688" y="4005072"/>
            <a:ext cx="118872" cy="118872"/>
          </a:xfrm>
          <a:prstGeom prst="rect">
            <a:avLst/>
          </a:prstGeom>
          <a:solidFill>
            <a:srgbClr val="5AB6E8"/>
          </a:solidFill>
          <a:ln/>
        </p:spPr>
      </p:sp>
      <p:sp>
        <p:nvSpPr>
          <p:cNvPr id="195" name="Shape 192"/>
          <p:cNvSpPr/>
          <p:nvPr/>
        </p:nvSpPr>
        <p:spPr>
          <a:xfrm>
            <a:off x="2209190" y="4005072"/>
            <a:ext cx="118872" cy="118872"/>
          </a:xfrm>
          <a:prstGeom prst="rect">
            <a:avLst/>
          </a:prstGeom>
          <a:solidFill>
            <a:srgbClr val="E6F0F9"/>
          </a:solidFill>
          <a:ln/>
        </p:spPr>
      </p:sp>
      <p:sp>
        <p:nvSpPr>
          <p:cNvPr id="196" name="Shape 193"/>
          <p:cNvSpPr/>
          <p:nvPr/>
        </p:nvSpPr>
        <p:spPr>
          <a:xfrm>
            <a:off x="2342693" y="4005072"/>
            <a:ext cx="118872" cy="118872"/>
          </a:xfrm>
          <a:prstGeom prst="rect">
            <a:avLst/>
          </a:prstGeom>
          <a:solidFill>
            <a:srgbClr val="003781"/>
          </a:solidFill>
          <a:ln/>
        </p:spPr>
      </p:sp>
      <p:sp>
        <p:nvSpPr>
          <p:cNvPr id="197" name="Shape 194"/>
          <p:cNvSpPr/>
          <p:nvPr/>
        </p:nvSpPr>
        <p:spPr>
          <a:xfrm>
            <a:off x="2476195" y="4005072"/>
            <a:ext cx="118872" cy="118872"/>
          </a:xfrm>
          <a:prstGeom prst="rect">
            <a:avLst/>
          </a:prstGeom>
          <a:solidFill>
            <a:srgbClr val="5AB6E8"/>
          </a:solidFill>
          <a:ln/>
        </p:spPr>
      </p:sp>
      <p:sp>
        <p:nvSpPr>
          <p:cNvPr id="198" name="Shape 195"/>
          <p:cNvSpPr/>
          <p:nvPr/>
        </p:nvSpPr>
        <p:spPr>
          <a:xfrm>
            <a:off x="2609698" y="4005072"/>
            <a:ext cx="118872" cy="118872"/>
          </a:xfrm>
          <a:prstGeom prst="rect">
            <a:avLst/>
          </a:prstGeom>
          <a:solidFill>
            <a:srgbClr val="E6F0F9"/>
          </a:solidFill>
          <a:ln/>
        </p:spPr>
      </p:sp>
      <p:sp>
        <p:nvSpPr>
          <p:cNvPr id="199" name="Shape 196"/>
          <p:cNvSpPr/>
          <p:nvPr/>
        </p:nvSpPr>
        <p:spPr>
          <a:xfrm>
            <a:off x="2743200" y="4005072"/>
            <a:ext cx="118872" cy="118872"/>
          </a:xfrm>
          <a:prstGeom prst="rect">
            <a:avLst/>
          </a:prstGeom>
          <a:solidFill>
            <a:srgbClr val="003781"/>
          </a:solidFill>
          <a:ln/>
        </p:spPr>
      </p:sp>
      <p:sp>
        <p:nvSpPr>
          <p:cNvPr id="200" name="Shape 197"/>
          <p:cNvSpPr/>
          <p:nvPr/>
        </p:nvSpPr>
        <p:spPr>
          <a:xfrm>
            <a:off x="2876702" y="4005072"/>
            <a:ext cx="118872" cy="118872"/>
          </a:xfrm>
          <a:prstGeom prst="rect">
            <a:avLst/>
          </a:prstGeom>
          <a:solidFill>
            <a:srgbClr val="5AB6E8"/>
          </a:solidFill>
          <a:ln/>
        </p:spPr>
      </p:sp>
      <p:sp>
        <p:nvSpPr>
          <p:cNvPr id="201" name="Shape 198"/>
          <p:cNvSpPr/>
          <p:nvPr/>
        </p:nvSpPr>
        <p:spPr>
          <a:xfrm>
            <a:off x="3010205" y="4005072"/>
            <a:ext cx="118872" cy="118872"/>
          </a:xfrm>
          <a:prstGeom prst="rect">
            <a:avLst/>
          </a:prstGeom>
          <a:solidFill>
            <a:srgbClr val="E6F0F9"/>
          </a:solidFill>
          <a:ln/>
        </p:spPr>
      </p:sp>
      <p:sp>
        <p:nvSpPr>
          <p:cNvPr id="202" name="Shape 199"/>
          <p:cNvSpPr/>
          <p:nvPr/>
        </p:nvSpPr>
        <p:spPr>
          <a:xfrm>
            <a:off x="3143707" y="4005072"/>
            <a:ext cx="118872" cy="118872"/>
          </a:xfrm>
          <a:prstGeom prst="rect">
            <a:avLst/>
          </a:prstGeom>
          <a:solidFill>
            <a:srgbClr val="E6F0F9"/>
          </a:solidFill>
          <a:ln/>
        </p:spPr>
      </p:sp>
      <p:sp>
        <p:nvSpPr>
          <p:cNvPr id="203" name="Shape 200"/>
          <p:cNvSpPr/>
          <p:nvPr/>
        </p:nvSpPr>
        <p:spPr>
          <a:xfrm>
            <a:off x="3277210" y="4005072"/>
            <a:ext cx="118872" cy="118872"/>
          </a:xfrm>
          <a:prstGeom prst="rect">
            <a:avLst/>
          </a:prstGeom>
          <a:solidFill>
            <a:srgbClr val="003781"/>
          </a:solidFill>
          <a:ln/>
        </p:spPr>
      </p:sp>
      <p:sp>
        <p:nvSpPr>
          <p:cNvPr id="204" name="Shape 201"/>
          <p:cNvSpPr/>
          <p:nvPr/>
        </p:nvSpPr>
        <p:spPr>
          <a:xfrm>
            <a:off x="3410712" y="4005072"/>
            <a:ext cx="118872" cy="118872"/>
          </a:xfrm>
          <a:prstGeom prst="rect">
            <a:avLst/>
          </a:prstGeom>
          <a:solidFill>
            <a:srgbClr val="5AB6E8"/>
          </a:solidFill>
          <a:ln/>
        </p:spPr>
      </p:sp>
      <p:sp>
        <p:nvSpPr>
          <p:cNvPr id="205" name="Shape 202"/>
          <p:cNvSpPr/>
          <p:nvPr/>
        </p:nvSpPr>
        <p:spPr>
          <a:xfrm>
            <a:off x="3544214" y="4005072"/>
            <a:ext cx="118872" cy="118872"/>
          </a:xfrm>
          <a:prstGeom prst="rect">
            <a:avLst/>
          </a:prstGeom>
          <a:solidFill>
            <a:srgbClr val="E6F0F9"/>
          </a:solidFill>
          <a:ln/>
        </p:spPr>
      </p:sp>
      <p:sp>
        <p:nvSpPr>
          <p:cNvPr id="206" name="Shape 203"/>
          <p:cNvSpPr/>
          <p:nvPr/>
        </p:nvSpPr>
        <p:spPr>
          <a:xfrm>
            <a:off x="3677717" y="4005072"/>
            <a:ext cx="118872" cy="118872"/>
          </a:xfrm>
          <a:prstGeom prst="rect">
            <a:avLst/>
          </a:prstGeom>
          <a:solidFill>
            <a:srgbClr val="003781"/>
          </a:solidFill>
          <a:ln/>
        </p:spPr>
      </p:sp>
      <p:sp>
        <p:nvSpPr>
          <p:cNvPr id="207" name="Shape 204"/>
          <p:cNvSpPr/>
          <p:nvPr/>
        </p:nvSpPr>
        <p:spPr>
          <a:xfrm>
            <a:off x="1408176" y="4138574"/>
            <a:ext cx="118872" cy="118872"/>
          </a:xfrm>
          <a:prstGeom prst="rect">
            <a:avLst/>
          </a:prstGeom>
          <a:solidFill>
            <a:srgbClr val="E6F0F9"/>
          </a:solidFill>
          <a:ln/>
        </p:spPr>
      </p:sp>
      <p:sp>
        <p:nvSpPr>
          <p:cNvPr id="208" name="Shape 205"/>
          <p:cNvSpPr/>
          <p:nvPr/>
        </p:nvSpPr>
        <p:spPr>
          <a:xfrm>
            <a:off x="1541678" y="4138574"/>
            <a:ext cx="118872" cy="118872"/>
          </a:xfrm>
          <a:prstGeom prst="rect">
            <a:avLst/>
          </a:prstGeom>
          <a:solidFill>
            <a:srgbClr val="003781"/>
          </a:solidFill>
          <a:ln/>
        </p:spPr>
      </p:sp>
      <p:sp>
        <p:nvSpPr>
          <p:cNvPr id="209" name="Shape 206"/>
          <p:cNvSpPr/>
          <p:nvPr/>
        </p:nvSpPr>
        <p:spPr>
          <a:xfrm>
            <a:off x="1675181" y="4138574"/>
            <a:ext cx="118872" cy="118872"/>
          </a:xfrm>
          <a:prstGeom prst="rect">
            <a:avLst/>
          </a:prstGeom>
          <a:solidFill>
            <a:srgbClr val="5AB6E8"/>
          </a:solidFill>
          <a:ln/>
        </p:spPr>
      </p:sp>
      <p:sp>
        <p:nvSpPr>
          <p:cNvPr id="210" name="Shape 207"/>
          <p:cNvSpPr/>
          <p:nvPr/>
        </p:nvSpPr>
        <p:spPr>
          <a:xfrm>
            <a:off x="1808683" y="4138574"/>
            <a:ext cx="118872" cy="118872"/>
          </a:xfrm>
          <a:prstGeom prst="rect">
            <a:avLst/>
          </a:prstGeom>
          <a:solidFill>
            <a:srgbClr val="E6F0F9"/>
          </a:solidFill>
          <a:ln/>
        </p:spPr>
      </p:sp>
      <p:sp>
        <p:nvSpPr>
          <p:cNvPr id="211" name="Shape 208"/>
          <p:cNvSpPr/>
          <p:nvPr/>
        </p:nvSpPr>
        <p:spPr>
          <a:xfrm>
            <a:off x="1942186" y="4138574"/>
            <a:ext cx="118872" cy="118872"/>
          </a:xfrm>
          <a:prstGeom prst="rect">
            <a:avLst/>
          </a:prstGeom>
          <a:solidFill>
            <a:srgbClr val="5AB6E8"/>
          </a:solidFill>
          <a:ln/>
        </p:spPr>
      </p:sp>
      <p:sp>
        <p:nvSpPr>
          <p:cNvPr id="212" name="Shape 209"/>
          <p:cNvSpPr/>
          <p:nvPr/>
        </p:nvSpPr>
        <p:spPr>
          <a:xfrm>
            <a:off x="2075688" y="4138574"/>
            <a:ext cx="118872" cy="118872"/>
          </a:xfrm>
          <a:prstGeom prst="rect">
            <a:avLst/>
          </a:prstGeom>
          <a:solidFill>
            <a:srgbClr val="003781"/>
          </a:solidFill>
          <a:ln/>
        </p:spPr>
      </p:sp>
      <p:sp>
        <p:nvSpPr>
          <p:cNvPr id="213" name="Shape 210"/>
          <p:cNvSpPr/>
          <p:nvPr/>
        </p:nvSpPr>
        <p:spPr>
          <a:xfrm>
            <a:off x="2209190" y="4138574"/>
            <a:ext cx="118872" cy="118872"/>
          </a:xfrm>
          <a:prstGeom prst="rect">
            <a:avLst/>
          </a:prstGeom>
          <a:solidFill>
            <a:srgbClr val="E6F0F9"/>
          </a:solidFill>
          <a:ln/>
        </p:spPr>
      </p:sp>
      <p:sp>
        <p:nvSpPr>
          <p:cNvPr id="214" name="Shape 211"/>
          <p:cNvSpPr/>
          <p:nvPr/>
        </p:nvSpPr>
        <p:spPr>
          <a:xfrm>
            <a:off x="2342693" y="4138574"/>
            <a:ext cx="118872" cy="118872"/>
          </a:xfrm>
          <a:prstGeom prst="rect">
            <a:avLst/>
          </a:prstGeom>
          <a:solidFill>
            <a:srgbClr val="003781"/>
          </a:solidFill>
          <a:ln/>
        </p:spPr>
      </p:sp>
      <p:sp>
        <p:nvSpPr>
          <p:cNvPr id="215" name="Shape 212"/>
          <p:cNvSpPr/>
          <p:nvPr/>
        </p:nvSpPr>
        <p:spPr>
          <a:xfrm>
            <a:off x="2476195" y="4138574"/>
            <a:ext cx="118872" cy="118872"/>
          </a:xfrm>
          <a:prstGeom prst="rect">
            <a:avLst/>
          </a:prstGeom>
          <a:solidFill>
            <a:srgbClr val="5AB6E8"/>
          </a:solidFill>
          <a:ln/>
        </p:spPr>
      </p:sp>
      <p:sp>
        <p:nvSpPr>
          <p:cNvPr id="216" name="Shape 213"/>
          <p:cNvSpPr/>
          <p:nvPr/>
        </p:nvSpPr>
        <p:spPr>
          <a:xfrm>
            <a:off x="2609698" y="4138574"/>
            <a:ext cx="118872" cy="118872"/>
          </a:xfrm>
          <a:prstGeom prst="rect">
            <a:avLst/>
          </a:prstGeom>
          <a:solidFill>
            <a:srgbClr val="E6F0F9"/>
          </a:solidFill>
          <a:ln/>
        </p:spPr>
      </p:sp>
      <p:sp>
        <p:nvSpPr>
          <p:cNvPr id="217" name="Shape 214"/>
          <p:cNvSpPr/>
          <p:nvPr/>
        </p:nvSpPr>
        <p:spPr>
          <a:xfrm>
            <a:off x="2743200" y="4138574"/>
            <a:ext cx="118872" cy="118872"/>
          </a:xfrm>
          <a:prstGeom prst="rect">
            <a:avLst/>
          </a:prstGeom>
          <a:solidFill>
            <a:srgbClr val="E6F0F9"/>
          </a:solidFill>
          <a:ln/>
        </p:spPr>
      </p:sp>
      <p:sp>
        <p:nvSpPr>
          <p:cNvPr id="218" name="Shape 215"/>
          <p:cNvSpPr/>
          <p:nvPr/>
        </p:nvSpPr>
        <p:spPr>
          <a:xfrm>
            <a:off x="2876702" y="4138574"/>
            <a:ext cx="118872" cy="118872"/>
          </a:xfrm>
          <a:prstGeom prst="rect">
            <a:avLst/>
          </a:prstGeom>
          <a:solidFill>
            <a:srgbClr val="003781"/>
          </a:solidFill>
          <a:ln/>
        </p:spPr>
      </p:sp>
      <p:sp>
        <p:nvSpPr>
          <p:cNvPr id="219" name="Shape 216"/>
          <p:cNvSpPr/>
          <p:nvPr/>
        </p:nvSpPr>
        <p:spPr>
          <a:xfrm>
            <a:off x="3010205" y="4138574"/>
            <a:ext cx="118872" cy="118872"/>
          </a:xfrm>
          <a:prstGeom prst="rect">
            <a:avLst/>
          </a:prstGeom>
          <a:solidFill>
            <a:srgbClr val="5AB6E8"/>
          </a:solidFill>
          <a:ln/>
        </p:spPr>
      </p:sp>
      <p:sp>
        <p:nvSpPr>
          <p:cNvPr id="220" name="Shape 217"/>
          <p:cNvSpPr/>
          <p:nvPr/>
        </p:nvSpPr>
        <p:spPr>
          <a:xfrm>
            <a:off x="3143707" y="4138574"/>
            <a:ext cx="118872" cy="118872"/>
          </a:xfrm>
          <a:prstGeom prst="rect">
            <a:avLst/>
          </a:prstGeom>
          <a:solidFill>
            <a:srgbClr val="E6F0F9"/>
          </a:solidFill>
          <a:ln/>
        </p:spPr>
      </p:sp>
      <p:sp>
        <p:nvSpPr>
          <p:cNvPr id="221" name="Shape 218"/>
          <p:cNvSpPr/>
          <p:nvPr/>
        </p:nvSpPr>
        <p:spPr>
          <a:xfrm>
            <a:off x="3277210" y="4138574"/>
            <a:ext cx="118872" cy="118872"/>
          </a:xfrm>
          <a:prstGeom prst="rect">
            <a:avLst/>
          </a:prstGeom>
          <a:solidFill>
            <a:srgbClr val="5AB6E8"/>
          </a:solidFill>
          <a:ln/>
        </p:spPr>
      </p:sp>
      <p:sp>
        <p:nvSpPr>
          <p:cNvPr id="222" name="Shape 219"/>
          <p:cNvSpPr/>
          <p:nvPr/>
        </p:nvSpPr>
        <p:spPr>
          <a:xfrm>
            <a:off x="3410712" y="4138574"/>
            <a:ext cx="118872" cy="118872"/>
          </a:xfrm>
          <a:prstGeom prst="rect">
            <a:avLst/>
          </a:prstGeom>
          <a:solidFill>
            <a:srgbClr val="003781"/>
          </a:solidFill>
          <a:ln/>
        </p:spPr>
      </p:sp>
      <p:sp>
        <p:nvSpPr>
          <p:cNvPr id="223" name="Shape 220"/>
          <p:cNvSpPr/>
          <p:nvPr/>
        </p:nvSpPr>
        <p:spPr>
          <a:xfrm>
            <a:off x="3544214" y="4138574"/>
            <a:ext cx="118872" cy="118872"/>
          </a:xfrm>
          <a:prstGeom prst="rect">
            <a:avLst/>
          </a:prstGeom>
          <a:solidFill>
            <a:srgbClr val="E6F0F9"/>
          </a:solidFill>
          <a:ln/>
        </p:spPr>
      </p:sp>
      <p:sp>
        <p:nvSpPr>
          <p:cNvPr id="224" name="Shape 221"/>
          <p:cNvSpPr/>
          <p:nvPr/>
        </p:nvSpPr>
        <p:spPr>
          <a:xfrm>
            <a:off x="3677717" y="4138574"/>
            <a:ext cx="118872" cy="118872"/>
          </a:xfrm>
          <a:prstGeom prst="rect">
            <a:avLst/>
          </a:prstGeom>
          <a:solidFill>
            <a:srgbClr val="003781"/>
          </a:solidFill>
          <a:ln/>
        </p:spPr>
      </p:sp>
      <p:sp>
        <p:nvSpPr>
          <p:cNvPr id="225" name="Shape 222"/>
          <p:cNvSpPr/>
          <p:nvPr/>
        </p:nvSpPr>
        <p:spPr>
          <a:xfrm>
            <a:off x="1408176" y="4272077"/>
            <a:ext cx="118872" cy="118872"/>
          </a:xfrm>
          <a:prstGeom prst="rect">
            <a:avLst/>
          </a:prstGeom>
          <a:solidFill>
            <a:srgbClr val="5AB6E8"/>
          </a:solidFill>
          <a:ln/>
        </p:spPr>
      </p:sp>
      <p:sp>
        <p:nvSpPr>
          <p:cNvPr id="226" name="Shape 223"/>
          <p:cNvSpPr/>
          <p:nvPr/>
        </p:nvSpPr>
        <p:spPr>
          <a:xfrm>
            <a:off x="1541678" y="4272077"/>
            <a:ext cx="118872" cy="118872"/>
          </a:xfrm>
          <a:prstGeom prst="rect">
            <a:avLst/>
          </a:prstGeom>
          <a:solidFill>
            <a:srgbClr val="E6F0F9"/>
          </a:solidFill>
          <a:ln/>
        </p:spPr>
      </p:sp>
      <p:sp>
        <p:nvSpPr>
          <p:cNvPr id="227" name="Shape 224"/>
          <p:cNvSpPr/>
          <p:nvPr/>
        </p:nvSpPr>
        <p:spPr>
          <a:xfrm>
            <a:off x="1675181" y="4272077"/>
            <a:ext cx="118872" cy="118872"/>
          </a:xfrm>
          <a:prstGeom prst="rect">
            <a:avLst/>
          </a:prstGeom>
          <a:solidFill>
            <a:srgbClr val="5AB6E8"/>
          </a:solidFill>
          <a:ln/>
        </p:spPr>
      </p:sp>
      <p:sp>
        <p:nvSpPr>
          <p:cNvPr id="228" name="Shape 225"/>
          <p:cNvSpPr/>
          <p:nvPr/>
        </p:nvSpPr>
        <p:spPr>
          <a:xfrm>
            <a:off x="1808683" y="4272077"/>
            <a:ext cx="118872" cy="118872"/>
          </a:xfrm>
          <a:prstGeom prst="rect">
            <a:avLst/>
          </a:prstGeom>
          <a:solidFill>
            <a:srgbClr val="5AB6E8"/>
          </a:solidFill>
          <a:ln/>
        </p:spPr>
      </p:sp>
      <p:sp>
        <p:nvSpPr>
          <p:cNvPr id="229" name="Shape 226"/>
          <p:cNvSpPr/>
          <p:nvPr/>
        </p:nvSpPr>
        <p:spPr>
          <a:xfrm>
            <a:off x="1942186" y="4272077"/>
            <a:ext cx="118872" cy="118872"/>
          </a:xfrm>
          <a:prstGeom prst="rect">
            <a:avLst/>
          </a:prstGeom>
          <a:solidFill>
            <a:srgbClr val="E6F0F9"/>
          </a:solidFill>
          <a:ln/>
        </p:spPr>
      </p:sp>
      <p:sp>
        <p:nvSpPr>
          <p:cNvPr id="230" name="Shape 227"/>
          <p:cNvSpPr/>
          <p:nvPr/>
        </p:nvSpPr>
        <p:spPr>
          <a:xfrm>
            <a:off x="2075688" y="4272077"/>
            <a:ext cx="118872" cy="118872"/>
          </a:xfrm>
          <a:prstGeom prst="rect">
            <a:avLst/>
          </a:prstGeom>
          <a:solidFill>
            <a:srgbClr val="E6F0F9"/>
          </a:solidFill>
          <a:ln/>
        </p:spPr>
      </p:sp>
      <p:sp>
        <p:nvSpPr>
          <p:cNvPr id="231" name="Shape 228"/>
          <p:cNvSpPr/>
          <p:nvPr/>
        </p:nvSpPr>
        <p:spPr>
          <a:xfrm>
            <a:off x="2209190" y="4272077"/>
            <a:ext cx="118872" cy="118872"/>
          </a:xfrm>
          <a:prstGeom prst="rect">
            <a:avLst/>
          </a:prstGeom>
          <a:solidFill>
            <a:srgbClr val="5AB6E8"/>
          </a:solidFill>
          <a:ln/>
        </p:spPr>
      </p:sp>
      <p:sp>
        <p:nvSpPr>
          <p:cNvPr id="232" name="Shape 229"/>
          <p:cNvSpPr/>
          <p:nvPr/>
        </p:nvSpPr>
        <p:spPr>
          <a:xfrm>
            <a:off x="2342693" y="4272077"/>
            <a:ext cx="118872" cy="118872"/>
          </a:xfrm>
          <a:prstGeom prst="rect">
            <a:avLst/>
          </a:prstGeom>
          <a:solidFill>
            <a:srgbClr val="E6F0F9"/>
          </a:solidFill>
          <a:ln/>
        </p:spPr>
      </p:sp>
      <p:sp>
        <p:nvSpPr>
          <p:cNvPr id="233" name="Shape 230"/>
          <p:cNvSpPr/>
          <p:nvPr/>
        </p:nvSpPr>
        <p:spPr>
          <a:xfrm>
            <a:off x="2476195" y="4272077"/>
            <a:ext cx="118872" cy="118872"/>
          </a:xfrm>
          <a:prstGeom prst="rect">
            <a:avLst/>
          </a:prstGeom>
          <a:solidFill>
            <a:srgbClr val="E6F0F9"/>
          </a:solidFill>
          <a:ln/>
        </p:spPr>
      </p:sp>
      <p:sp>
        <p:nvSpPr>
          <p:cNvPr id="234" name="Shape 231"/>
          <p:cNvSpPr/>
          <p:nvPr/>
        </p:nvSpPr>
        <p:spPr>
          <a:xfrm>
            <a:off x="2609698" y="4272077"/>
            <a:ext cx="118872" cy="118872"/>
          </a:xfrm>
          <a:prstGeom prst="rect">
            <a:avLst/>
          </a:prstGeom>
          <a:solidFill>
            <a:srgbClr val="5AB6E8"/>
          </a:solidFill>
          <a:ln/>
        </p:spPr>
      </p:sp>
      <p:sp>
        <p:nvSpPr>
          <p:cNvPr id="235" name="Shape 232"/>
          <p:cNvSpPr/>
          <p:nvPr/>
        </p:nvSpPr>
        <p:spPr>
          <a:xfrm>
            <a:off x="2743200" y="4272077"/>
            <a:ext cx="118872" cy="118872"/>
          </a:xfrm>
          <a:prstGeom prst="rect">
            <a:avLst/>
          </a:prstGeom>
          <a:solidFill>
            <a:srgbClr val="5AB6E8"/>
          </a:solidFill>
          <a:ln/>
        </p:spPr>
      </p:sp>
      <p:sp>
        <p:nvSpPr>
          <p:cNvPr id="236" name="Shape 233"/>
          <p:cNvSpPr/>
          <p:nvPr/>
        </p:nvSpPr>
        <p:spPr>
          <a:xfrm>
            <a:off x="2876702" y="4272077"/>
            <a:ext cx="118872" cy="118872"/>
          </a:xfrm>
          <a:prstGeom prst="rect">
            <a:avLst/>
          </a:prstGeom>
          <a:solidFill>
            <a:srgbClr val="E6F0F9"/>
          </a:solidFill>
          <a:ln/>
        </p:spPr>
      </p:sp>
      <p:sp>
        <p:nvSpPr>
          <p:cNvPr id="237" name="Shape 234"/>
          <p:cNvSpPr/>
          <p:nvPr/>
        </p:nvSpPr>
        <p:spPr>
          <a:xfrm>
            <a:off x="3010205" y="4272077"/>
            <a:ext cx="118872" cy="118872"/>
          </a:xfrm>
          <a:prstGeom prst="rect">
            <a:avLst/>
          </a:prstGeom>
          <a:solidFill>
            <a:srgbClr val="5AB6E8"/>
          </a:solidFill>
          <a:ln/>
        </p:spPr>
      </p:sp>
      <p:sp>
        <p:nvSpPr>
          <p:cNvPr id="238" name="Shape 235"/>
          <p:cNvSpPr/>
          <p:nvPr/>
        </p:nvSpPr>
        <p:spPr>
          <a:xfrm>
            <a:off x="3143707" y="4272077"/>
            <a:ext cx="118872" cy="118872"/>
          </a:xfrm>
          <a:prstGeom prst="rect">
            <a:avLst/>
          </a:prstGeom>
          <a:solidFill>
            <a:srgbClr val="5AB6E8"/>
          </a:solidFill>
          <a:ln/>
        </p:spPr>
      </p:sp>
      <p:sp>
        <p:nvSpPr>
          <p:cNvPr id="239" name="Shape 236"/>
          <p:cNvSpPr/>
          <p:nvPr/>
        </p:nvSpPr>
        <p:spPr>
          <a:xfrm>
            <a:off x="3277210" y="4272077"/>
            <a:ext cx="118872" cy="118872"/>
          </a:xfrm>
          <a:prstGeom prst="rect">
            <a:avLst/>
          </a:prstGeom>
          <a:solidFill>
            <a:srgbClr val="E6F0F9"/>
          </a:solidFill>
          <a:ln/>
        </p:spPr>
      </p:sp>
      <p:sp>
        <p:nvSpPr>
          <p:cNvPr id="240" name="Shape 237"/>
          <p:cNvSpPr/>
          <p:nvPr/>
        </p:nvSpPr>
        <p:spPr>
          <a:xfrm>
            <a:off x="3410712" y="4272077"/>
            <a:ext cx="118872" cy="118872"/>
          </a:xfrm>
          <a:prstGeom prst="rect">
            <a:avLst/>
          </a:prstGeom>
          <a:solidFill>
            <a:srgbClr val="E6F0F9"/>
          </a:solidFill>
          <a:ln/>
        </p:spPr>
      </p:sp>
      <p:sp>
        <p:nvSpPr>
          <p:cNvPr id="241" name="Shape 238"/>
          <p:cNvSpPr/>
          <p:nvPr/>
        </p:nvSpPr>
        <p:spPr>
          <a:xfrm>
            <a:off x="3544214" y="4272077"/>
            <a:ext cx="118872" cy="118872"/>
          </a:xfrm>
          <a:prstGeom prst="rect">
            <a:avLst/>
          </a:prstGeom>
          <a:solidFill>
            <a:srgbClr val="5AB6E8"/>
          </a:solidFill>
          <a:ln/>
        </p:spPr>
      </p:sp>
      <p:sp>
        <p:nvSpPr>
          <p:cNvPr id="242" name="Shape 239"/>
          <p:cNvSpPr/>
          <p:nvPr/>
        </p:nvSpPr>
        <p:spPr>
          <a:xfrm>
            <a:off x="3677717" y="4272077"/>
            <a:ext cx="118872" cy="118872"/>
          </a:xfrm>
          <a:prstGeom prst="rect">
            <a:avLst/>
          </a:prstGeom>
          <a:solidFill>
            <a:srgbClr val="E6F0F9"/>
          </a:solidFill>
          <a:ln/>
        </p:spPr>
      </p:sp>
      <p:sp>
        <p:nvSpPr>
          <p:cNvPr id="243" name="Shape 240"/>
          <p:cNvSpPr/>
          <p:nvPr/>
        </p:nvSpPr>
        <p:spPr>
          <a:xfrm>
            <a:off x="1408176" y="4405579"/>
            <a:ext cx="118872" cy="118872"/>
          </a:xfrm>
          <a:prstGeom prst="rect">
            <a:avLst/>
          </a:prstGeom>
          <a:solidFill>
            <a:srgbClr val="003781"/>
          </a:solidFill>
          <a:ln/>
        </p:spPr>
      </p:sp>
      <p:sp>
        <p:nvSpPr>
          <p:cNvPr id="244" name="Shape 241"/>
          <p:cNvSpPr/>
          <p:nvPr/>
        </p:nvSpPr>
        <p:spPr>
          <a:xfrm>
            <a:off x="1541678" y="4405579"/>
            <a:ext cx="118872" cy="118872"/>
          </a:xfrm>
          <a:prstGeom prst="rect">
            <a:avLst/>
          </a:prstGeom>
          <a:solidFill>
            <a:srgbClr val="E6F0F9"/>
          </a:solidFill>
          <a:ln/>
        </p:spPr>
      </p:sp>
      <p:sp>
        <p:nvSpPr>
          <p:cNvPr id="245" name="Shape 242"/>
          <p:cNvSpPr/>
          <p:nvPr/>
        </p:nvSpPr>
        <p:spPr>
          <a:xfrm>
            <a:off x="1675181" y="4405579"/>
            <a:ext cx="118872" cy="118872"/>
          </a:xfrm>
          <a:prstGeom prst="rect">
            <a:avLst/>
          </a:prstGeom>
          <a:solidFill>
            <a:srgbClr val="E6F0F9"/>
          </a:solidFill>
          <a:ln/>
        </p:spPr>
      </p:sp>
      <p:sp>
        <p:nvSpPr>
          <p:cNvPr id="246" name="Shape 243"/>
          <p:cNvSpPr/>
          <p:nvPr/>
        </p:nvSpPr>
        <p:spPr>
          <a:xfrm>
            <a:off x="1808683" y="4405579"/>
            <a:ext cx="118872" cy="118872"/>
          </a:xfrm>
          <a:prstGeom prst="rect">
            <a:avLst/>
          </a:prstGeom>
          <a:solidFill>
            <a:srgbClr val="5AB6E8"/>
          </a:solidFill>
          <a:ln/>
        </p:spPr>
      </p:sp>
      <p:sp>
        <p:nvSpPr>
          <p:cNvPr id="247" name="Shape 244"/>
          <p:cNvSpPr/>
          <p:nvPr/>
        </p:nvSpPr>
        <p:spPr>
          <a:xfrm>
            <a:off x="1942186" y="4405579"/>
            <a:ext cx="118872" cy="118872"/>
          </a:xfrm>
          <a:prstGeom prst="rect">
            <a:avLst/>
          </a:prstGeom>
          <a:solidFill>
            <a:srgbClr val="5AB6E8"/>
          </a:solidFill>
          <a:ln/>
        </p:spPr>
      </p:sp>
      <p:sp>
        <p:nvSpPr>
          <p:cNvPr id="248" name="Shape 245"/>
          <p:cNvSpPr/>
          <p:nvPr/>
        </p:nvSpPr>
        <p:spPr>
          <a:xfrm>
            <a:off x="2075688" y="4405579"/>
            <a:ext cx="118872" cy="118872"/>
          </a:xfrm>
          <a:prstGeom prst="rect">
            <a:avLst/>
          </a:prstGeom>
          <a:solidFill>
            <a:srgbClr val="E6F0F9"/>
          </a:solidFill>
          <a:ln/>
        </p:spPr>
      </p:sp>
      <p:sp>
        <p:nvSpPr>
          <p:cNvPr id="249" name="Shape 246"/>
          <p:cNvSpPr/>
          <p:nvPr/>
        </p:nvSpPr>
        <p:spPr>
          <a:xfrm>
            <a:off x="2209190" y="4405579"/>
            <a:ext cx="118872" cy="118872"/>
          </a:xfrm>
          <a:prstGeom prst="rect">
            <a:avLst/>
          </a:prstGeom>
          <a:solidFill>
            <a:srgbClr val="003781"/>
          </a:solidFill>
          <a:ln/>
        </p:spPr>
      </p:sp>
      <p:sp>
        <p:nvSpPr>
          <p:cNvPr id="250" name="Shape 247"/>
          <p:cNvSpPr/>
          <p:nvPr/>
        </p:nvSpPr>
        <p:spPr>
          <a:xfrm>
            <a:off x="2342693" y="4405579"/>
            <a:ext cx="118872" cy="118872"/>
          </a:xfrm>
          <a:prstGeom prst="rect">
            <a:avLst/>
          </a:prstGeom>
          <a:solidFill>
            <a:srgbClr val="5AB6E8"/>
          </a:solidFill>
          <a:ln/>
        </p:spPr>
      </p:sp>
      <p:sp>
        <p:nvSpPr>
          <p:cNvPr id="251" name="Shape 248"/>
          <p:cNvSpPr/>
          <p:nvPr/>
        </p:nvSpPr>
        <p:spPr>
          <a:xfrm>
            <a:off x="2476195" y="4405579"/>
            <a:ext cx="118872" cy="118872"/>
          </a:xfrm>
          <a:prstGeom prst="rect">
            <a:avLst/>
          </a:prstGeom>
          <a:solidFill>
            <a:srgbClr val="E6F0F9"/>
          </a:solidFill>
          <a:ln/>
        </p:spPr>
      </p:sp>
      <p:sp>
        <p:nvSpPr>
          <p:cNvPr id="252" name="Shape 249"/>
          <p:cNvSpPr/>
          <p:nvPr/>
        </p:nvSpPr>
        <p:spPr>
          <a:xfrm>
            <a:off x="2609698" y="4405579"/>
            <a:ext cx="118872" cy="118872"/>
          </a:xfrm>
          <a:prstGeom prst="rect">
            <a:avLst/>
          </a:prstGeom>
          <a:solidFill>
            <a:srgbClr val="003781"/>
          </a:solidFill>
          <a:ln/>
        </p:spPr>
      </p:sp>
      <p:sp>
        <p:nvSpPr>
          <p:cNvPr id="253" name="Shape 250"/>
          <p:cNvSpPr/>
          <p:nvPr/>
        </p:nvSpPr>
        <p:spPr>
          <a:xfrm>
            <a:off x="2743200" y="4405579"/>
            <a:ext cx="118872" cy="118872"/>
          </a:xfrm>
          <a:prstGeom prst="rect">
            <a:avLst/>
          </a:prstGeom>
          <a:solidFill>
            <a:srgbClr val="003781"/>
          </a:solidFill>
          <a:ln/>
        </p:spPr>
      </p:sp>
      <p:sp>
        <p:nvSpPr>
          <p:cNvPr id="254" name="Shape 251"/>
          <p:cNvSpPr/>
          <p:nvPr/>
        </p:nvSpPr>
        <p:spPr>
          <a:xfrm>
            <a:off x="2876702" y="4405579"/>
            <a:ext cx="118872" cy="118872"/>
          </a:xfrm>
          <a:prstGeom prst="rect">
            <a:avLst/>
          </a:prstGeom>
          <a:solidFill>
            <a:srgbClr val="E6F0F9"/>
          </a:solidFill>
          <a:ln/>
        </p:spPr>
      </p:sp>
      <p:sp>
        <p:nvSpPr>
          <p:cNvPr id="255" name="Shape 252"/>
          <p:cNvSpPr/>
          <p:nvPr/>
        </p:nvSpPr>
        <p:spPr>
          <a:xfrm>
            <a:off x="3010205" y="4405579"/>
            <a:ext cx="118872" cy="118872"/>
          </a:xfrm>
          <a:prstGeom prst="rect">
            <a:avLst/>
          </a:prstGeom>
          <a:solidFill>
            <a:srgbClr val="E6F0F9"/>
          </a:solidFill>
          <a:ln/>
        </p:spPr>
      </p:sp>
      <p:sp>
        <p:nvSpPr>
          <p:cNvPr id="256" name="Shape 253"/>
          <p:cNvSpPr/>
          <p:nvPr/>
        </p:nvSpPr>
        <p:spPr>
          <a:xfrm>
            <a:off x="3143707" y="4405579"/>
            <a:ext cx="118872" cy="118872"/>
          </a:xfrm>
          <a:prstGeom prst="rect">
            <a:avLst/>
          </a:prstGeom>
          <a:solidFill>
            <a:srgbClr val="5AB6E8"/>
          </a:solidFill>
          <a:ln/>
        </p:spPr>
      </p:sp>
      <p:sp>
        <p:nvSpPr>
          <p:cNvPr id="257" name="Shape 254"/>
          <p:cNvSpPr/>
          <p:nvPr/>
        </p:nvSpPr>
        <p:spPr>
          <a:xfrm>
            <a:off x="3277210" y="4405579"/>
            <a:ext cx="118872" cy="118872"/>
          </a:xfrm>
          <a:prstGeom prst="rect">
            <a:avLst/>
          </a:prstGeom>
          <a:solidFill>
            <a:srgbClr val="5AB6E8"/>
          </a:solidFill>
          <a:ln/>
        </p:spPr>
      </p:sp>
      <p:sp>
        <p:nvSpPr>
          <p:cNvPr id="258" name="Shape 255"/>
          <p:cNvSpPr/>
          <p:nvPr/>
        </p:nvSpPr>
        <p:spPr>
          <a:xfrm>
            <a:off x="3410712" y="4405579"/>
            <a:ext cx="118872" cy="118872"/>
          </a:xfrm>
          <a:prstGeom prst="rect">
            <a:avLst/>
          </a:prstGeom>
          <a:solidFill>
            <a:srgbClr val="E6F0F9"/>
          </a:solidFill>
          <a:ln/>
        </p:spPr>
      </p:sp>
      <p:sp>
        <p:nvSpPr>
          <p:cNvPr id="259" name="Shape 256"/>
          <p:cNvSpPr/>
          <p:nvPr/>
        </p:nvSpPr>
        <p:spPr>
          <a:xfrm>
            <a:off x="3544214" y="4405579"/>
            <a:ext cx="118872" cy="118872"/>
          </a:xfrm>
          <a:prstGeom prst="rect">
            <a:avLst/>
          </a:prstGeom>
          <a:solidFill>
            <a:srgbClr val="003781"/>
          </a:solidFill>
          <a:ln/>
        </p:spPr>
      </p:sp>
      <p:sp>
        <p:nvSpPr>
          <p:cNvPr id="260" name="Shape 257"/>
          <p:cNvSpPr/>
          <p:nvPr/>
        </p:nvSpPr>
        <p:spPr>
          <a:xfrm>
            <a:off x="3677717" y="4405579"/>
            <a:ext cx="118872" cy="118872"/>
          </a:xfrm>
          <a:prstGeom prst="rect">
            <a:avLst/>
          </a:prstGeom>
          <a:solidFill>
            <a:srgbClr val="5AB6E8"/>
          </a:solidFill>
          <a:ln/>
        </p:spPr>
      </p:sp>
      <p:sp>
        <p:nvSpPr>
          <p:cNvPr id="261" name="Shape 258"/>
          <p:cNvSpPr/>
          <p:nvPr/>
        </p:nvSpPr>
        <p:spPr>
          <a:xfrm>
            <a:off x="1408176" y="4539082"/>
            <a:ext cx="118872" cy="118872"/>
          </a:xfrm>
          <a:prstGeom prst="rect">
            <a:avLst/>
          </a:prstGeom>
          <a:solidFill>
            <a:srgbClr val="E6F0F9"/>
          </a:solidFill>
          <a:ln/>
        </p:spPr>
      </p:sp>
      <p:sp>
        <p:nvSpPr>
          <p:cNvPr id="262" name="Shape 259"/>
          <p:cNvSpPr/>
          <p:nvPr/>
        </p:nvSpPr>
        <p:spPr>
          <a:xfrm>
            <a:off x="1541678" y="4539082"/>
            <a:ext cx="118872" cy="118872"/>
          </a:xfrm>
          <a:prstGeom prst="rect">
            <a:avLst/>
          </a:prstGeom>
          <a:solidFill>
            <a:srgbClr val="5AB6E8"/>
          </a:solidFill>
          <a:ln/>
        </p:spPr>
      </p:sp>
      <p:sp>
        <p:nvSpPr>
          <p:cNvPr id="263" name="Shape 260"/>
          <p:cNvSpPr/>
          <p:nvPr/>
        </p:nvSpPr>
        <p:spPr>
          <a:xfrm>
            <a:off x="1675181" y="4539082"/>
            <a:ext cx="118872" cy="118872"/>
          </a:xfrm>
          <a:prstGeom prst="rect">
            <a:avLst/>
          </a:prstGeom>
          <a:solidFill>
            <a:srgbClr val="E6F0F9"/>
          </a:solidFill>
          <a:ln/>
        </p:spPr>
      </p:sp>
      <p:sp>
        <p:nvSpPr>
          <p:cNvPr id="264" name="Shape 261"/>
          <p:cNvSpPr/>
          <p:nvPr/>
        </p:nvSpPr>
        <p:spPr>
          <a:xfrm>
            <a:off x="1808683" y="4539082"/>
            <a:ext cx="118872" cy="118872"/>
          </a:xfrm>
          <a:prstGeom prst="rect">
            <a:avLst/>
          </a:prstGeom>
          <a:solidFill>
            <a:srgbClr val="E6F0F9"/>
          </a:solidFill>
          <a:ln/>
        </p:spPr>
      </p:sp>
      <p:sp>
        <p:nvSpPr>
          <p:cNvPr id="265" name="Shape 262"/>
          <p:cNvSpPr/>
          <p:nvPr/>
        </p:nvSpPr>
        <p:spPr>
          <a:xfrm>
            <a:off x="1942186" y="4539082"/>
            <a:ext cx="118872" cy="118872"/>
          </a:xfrm>
          <a:prstGeom prst="rect">
            <a:avLst/>
          </a:prstGeom>
          <a:solidFill>
            <a:srgbClr val="003781"/>
          </a:solidFill>
          <a:ln/>
        </p:spPr>
      </p:sp>
      <p:sp>
        <p:nvSpPr>
          <p:cNvPr id="266" name="Shape 263"/>
          <p:cNvSpPr/>
          <p:nvPr/>
        </p:nvSpPr>
        <p:spPr>
          <a:xfrm>
            <a:off x="2075688" y="4539082"/>
            <a:ext cx="118872" cy="118872"/>
          </a:xfrm>
          <a:prstGeom prst="rect">
            <a:avLst/>
          </a:prstGeom>
          <a:solidFill>
            <a:srgbClr val="5AB6E8"/>
          </a:solidFill>
          <a:ln/>
        </p:spPr>
      </p:sp>
      <p:sp>
        <p:nvSpPr>
          <p:cNvPr id="267" name="Shape 264"/>
          <p:cNvSpPr/>
          <p:nvPr/>
        </p:nvSpPr>
        <p:spPr>
          <a:xfrm>
            <a:off x="2209190" y="4539082"/>
            <a:ext cx="118872" cy="118872"/>
          </a:xfrm>
          <a:prstGeom prst="rect">
            <a:avLst/>
          </a:prstGeom>
          <a:solidFill>
            <a:srgbClr val="003781"/>
          </a:solidFill>
          <a:ln/>
        </p:spPr>
      </p:sp>
      <p:sp>
        <p:nvSpPr>
          <p:cNvPr id="268" name="Shape 265"/>
          <p:cNvSpPr/>
          <p:nvPr/>
        </p:nvSpPr>
        <p:spPr>
          <a:xfrm>
            <a:off x="2342693" y="4539082"/>
            <a:ext cx="118872" cy="118872"/>
          </a:xfrm>
          <a:prstGeom prst="rect">
            <a:avLst/>
          </a:prstGeom>
          <a:solidFill>
            <a:srgbClr val="003781"/>
          </a:solidFill>
          <a:ln/>
        </p:spPr>
      </p:sp>
      <p:sp>
        <p:nvSpPr>
          <p:cNvPr id="269" name="Shape 266"/>
          <p:cNvSpPr/>
          <p:nvPr/>
        </p:nvSpPr>
        <p:spPr>
          <a:xfrm>
            <a:off x="2476195" y="4539082"/>
            <a:ext cx="118872" cy="118872"/>
          </a:xfrm>
          <a:prstGeom prst="rect">
            <a:avLst/>
          </a:prstGeom>
          <a:solidFill>
            <a:srgbClr val="5AB6E8"/>
          </a:solidFill>
          <a:ln/>
        </p:spPr>
      </p:sp>
      <p:sp>
        <p:nvSpPr>
          <p:cNvPr id="270" name="Shape 267"/>
          <p:cNvSpPr/>
          <p:nvPr/>
        </p:nvSpPr>
        <p:spPr>
          <a:xfrm>
            <a:off x="2609698" y="4539082"/>
            <a:ext cx="118872" cy="118872"/>
          </a:xfrm>
          <a:prstGeom prst="rect">
            <a:avLst/>
          </a:prstGeom>
          <a:solidFill>
            <a:srgbClr val="E6F0F9"/>
          </a:solidFill>
          <a:ln/>
        </p:spPr>
      </p:sp>
      <p:sp>
        <p:nvSpPr>
          <p:cNvPr id="271" name="Shape 268"/>
          <p:cNvSpPr/>
          <p:nvPr/>
        </p:nvSpPr>
        <p:spPr>
          <a:xfrm>
            <a:off x="2743200" y="4539082"/>
            <a:ext cx="118872" cy="118872"/>
          </a:xfrm>
          <a:prstGeom prst="rect">
            <a:avLst/>
          </a:prstGeom>
          <a:solidFill>
            <a:srgbClr val="E6F0F9"/>
          </a:solidFill>
          <a:ln/>
        </p:spPr>
      </p:sp>
      <p:sp>
        <p:nvSpPr>
          <p:cNvPr id="272" name="Shape 269"/>
          <p:cNvSpPr/>
          <p:nvPr/>
        </p:nvSpPr>
        <p:spPr>
          <a:xfrm>
            <a:off x="2876702" y="4539082"/>
            <a:ext cx="118872" cy="118872"/>
          </a:xfrm>
          <a:prstGeom prst="rect">
            <a:avLst/>
          </a:prstGeom>
          <a:solidFill>
            <a:srgbClr val="5AB6E8"/>
          </a:solidFill>
          <a:ln/>
        </p:spPr>
      </p:sp>
      <p:sp>
        <p:nvSpPr>
          <p:cNvPr id="273" name="Shape 270"/>
          <p:cNvSpPr/>
          <p:nvPr/>
        </p:nvSpPr>
        <p:spPr>
          <a:xfrm>
            <a:off x="3010205" y="4539082"/>
            <a:ext cx="118872" cy="118872"/>
          </a:xfrm>
          <a:prstGeom prst="rect">
            <a:avLst/>
          </a:prstGeom>
          <a:solidFill>
            <a:srgbClr val="E6F0F9"/>
          </a:solidFill>
          <a:ln/>
        </p:spPr>
      </p:sp>
      <p:sp>
        <p:nvSpPr>
          <p:cNvPr id="274" name="Shape 271"/>
          <p:cNvSpPr/>
          <p:nvPr/>
        </p:nvSpPr>
        <p:spPr>
          <a:xfrm>
            <a:off x="3143707" y="4539082"/>
            <a:ext cx="118872" cy="118872"/>
          </a:xfrm>
          <a:prstGeom prst="rect">
            <a:avLst/>
          </a:prstGeom>
          <a:solidFill>
            <a:srgbClr val="E6F0F9"/>
          </a:solidFill>
          <a:ln/>
        </p:spPr>
      </p:sp>
      <p:sp>
        <p:nvSpPr>
          <p:cNvPr id="275" name="Shape 272"/>
          <p:cNvSpPr/>
          <p:nvPr/>
        </p:nvSpPr>
        <p:spPr>
          <a:xfrm>
            <a:off x="3277210" y="4539082"/>
            <a:ext cx="118872" cy="118872"/>
          </a:xfrm>
          <a:prstGeom prst="rect">
            <a:avLst/>
          </a:prstGeom>
          <a:solidFill>
            <a:srgbClr val="003781"/>
          </a:solidFill>
          <a:ln/>
        </p:spPr>
      </p:sp>
      <p:sp>
        <p:nvSpPr>
          <p:cNvPr id="276" name="Shape 273"/>
          <p:cNvSpPr/>
          <p:nvPr/>
        </p:nvSpPr>
        <p:spPr>
          <a:xfrm>
            <a:off x="3410712" y="4539082"/>
            <a:ext cx="118872" cy="118872"/>
          </a:xfrm>
          <a:prstGeom prst="rect">
            <a:avLst/>
          </a:prstGeom>
          <a:solidFill>
            <a:srgbClr val="5AB6E8"/>
          </a:solidFill>
          <a:ln/>
        </p:spPr>
      </p:sp>
      <p:sp>
        <p:nvSpPr>
          <p:cNvPr id="277" name="Shape 274"/>
          <p:cNvSpPr/>
          <p:nvPr/>
        </p:nvSpPr>
        <p:spPr>
          <a:xfrm>
            <a:off x="3544214" y="4539082"/>
            <a:ext cx="118872" cy="118872"/>
          </a:xfrm>
          <a:prstGeom prst="rect">
            <a:avLst/>
          </a:prstGeom>
          <a:solidFill>
            <a:srgbClr val="003781"/>
          </a:solidFill>
          <a:ln/>
        </p:spPr>
      </p:sp>
      <p:sp>
        <p:nvSpPr>
          <p:cNvPr id="278" name="Shape 275"/>
          <p:cNvSpPr/>
          <p:nvPr/>
        </p:nvSpPr>
        <p:spPr>
          <a:xfrm>
            <a:off x="3677717" y="4539082"/>
            <a:ext cx="118872" cy="118872"/>
          </a:xfrm>
          <a:prstGeom prst="rect">
            <a:avLst/>
          </a:prstGeom>
          <a:solidFill>
            <a:srgbClr val="003781"/>
          </a:solidFill>
          <a:ln/>
        </p:spPr>
      </p:sp>
      <p:sp>
        <p:nvSpPr>
          <p:cNvPr id="279" name="Shape 276"/>
          <p:cNvSpPr/>
          <p:nvPr/>
        </p:nvSpPr>
        <p:spPr>
          <a:xfrm>
            <a:off x="1408176" y="4672584"/>
            <a:ext cx="118872" cy="118872"/>
          </a:xfrm>
          <a:prstGeom prst="rect">
            <a:avLst/>
          </a:prstGeom>
          <a:solidFill>
            <a:srgbClr val="5AB6E8"/>
          </a:solidFill>
          <a:ln/>
        </p:spPr>
      </p:sp>
      <p:sp>
        <p:nvSpPr>
          <p:cNvPr id="280" name="Shape 277"/>
          <p:cNvSpPr/>
          <p:nvPr/>
        </p:nvSpPr>
        <p:spPr>
          <a:xfrm>
            <a:off x="1541678" y="4672584"/>
            <a:ext cx="118872" cy="118872"/>
          </a:xfrm>
          <a:prstGeom prst="rect">
            <a:avLst/>
          </a:prstGeom>
          <a:solidFill>
            <a:srgbClr val="E6F0F9"/>
          </a:solidFill>
          <a:ln/>
        </p:spPr>
      </p:sp>
      <p:sp>
        <p:nvSpPr>
          <p:cNvPr id="281" name="Shape 278"/>
          <p:cNvSpPr/>
          <p:nvPr/>
        </p:nvSpPr>
        <p:spPr>
          <a:xfrm>
            <a:off x="1675181" y="4672584"/>
            <a:ext cx="118872" cy="118872"/>
          </a:xfrm>
          <a:prstGeom prst="rect">
            <a:avLst/>
          </a:prstGeom>
          <a:solidFill>
            <a:srgbClr val="003781"/>
          </a:solidFill>
          <a:ln/>
        </p:spPr>
      </p:sp>
      <p:sp>
        <p:nvSpPr>
          <p:cNvPr id="282" name="Shape 279"/>
          <p:cNvSpPr/>
          <p:nvPr/>
        </p:nvSpPr>
        <p:spPr>
          <a:xfrm>
            <a:off x="1808683" y="4672584"/>
            <a:ext cx="118872" cy="118872"/>
          </a:xfrm>
          <a:prstGeom prst="rect">
            <a:avLst/>
          </a:prstGeom>
          <a:solidFill>
            <a:srgbClr val="5AB6E8"/>
          </a:solidFill>
          <a:ln/>
        </p:spPr>
      </p:sp>
      <p:sp>
        <p:nvSpPr>
          <p:cNvPr id="283" name="Shape 280"/>
          <p:cNvSpPr/>
          <p:nvPr/>
        </p:nvSpPr>
        <p:spPr>
          <a:xfrm>
            <a:off x="1942186" y="4672584"/>
            <a:ext cx="118872" cy="118872"/>
          </a:xfrm>
          <a:prstGeom prst="rect">
            <a:avLst/>
          </a:prstGeom>
          <a:solidFill>
            <a:srgbClr val="E6F0F9"/>
          </a:solidFill>
          <a:ln/>
        </p:spPr>
      </p:sp>
      <p:sp>
        <p:nvSpPr>
          <p:cNvPr id="284" name="Shape 281"/>
          <p:cNvSpPr/>
          <p:nvPr/>
        </p:nvSpPr>
        <p:spPr>
          <a:xfrm>
            <a:off x="2075688" y="4672584"/>
            <a:ext cx="118872" cy="118872"/>
          </a:xfrm>
          <a:prstGeom prst="rect">
            <a:avLst/>
          </a:prstGeom>
          <a:solidFill>
            <a:srgbClr val="003781"/>
          </a:solidFill>
          <a:ln/>
        </p:spPr>
      </p:sp>
      <p:sp>
        <p:nvSpPr>
          <p:cNvPr id="285" name="Shape 282"/>
          <p:cNvSpPr/>
          <p:nvPr/>
        </p:nvSpPr>
        <p:spPr>
          <a:xfrm>
            <a:off x="2209190" y="4672584"/>
            <a:ext cx="118872" cy="118872"/>
          </a:xfrm>
          <a:prstGeom prst="rect">
            <a:avLst/>
          </a:prstGeom>
          <a:solidFill>
            <a:srgbClr val="5AB6E8"/>
          </a:solidFill>
          <a:ln/>
        </p:spPr>
      </p:sp>
      <p:sp>
        <p:nvSpPr>
          <p:cNvPr id="286" name="Shape 283"/>
          <p:cNvSpPr/>
          <p:nvPr/>
        </p:nvSpPr>
        <p:spPr>
          <a:xfrm>
            <a:off x="2342693" y="4672584"/>
            <a:ext cx="118872" cy="118872"/>
          </a:xfrm>
          <a:prstGeom prst="rect">
            <a:avLst/>
          </a:prstGeom>
          <a:solidFill>
            <a:srgbClr val="E6F0F9"/>
          </a:solidFill>
          <a:ln/>
        </p:spPr>
      </p:sp>
      <p:sp>
        <p:nvSpPr>
          <p:cNvPr id="287" name="Shape 284"/>
          <p:cNvSpPr/>
          <p:nvPr/>
        </p:nvSpPr>
        <p:spPr>
          <a:xfrm>
            <a:off x="2476195" y="4672584"/>
            <a:ext cx="118872" cy="118872"/>
          </a:xfrm>
          <a:prstGeom prst="rect">
            <a:avLst/>
          </a:prstGeom>
          <a:solidFill>
            <a:srgbClr val="E6F0F9"/>
          </a:solidFill>
          <a:ln/>
        </p:spPr>
      </p:sp>
      <p:sp>
        <p:nvSpPr>
          <p:cNvPr id="288" name="Shape 285"/>
          <p:cNvSpPr/>
          <p:nvPr/>
        </p:nvSpPr>
        <p:spPr>
          <a:xfrm>
            <a:off x="2609698" y="4672584"/>
            <a:ext cx="118872" cy="118872"/>
          </a:xfrm>
          <a:prstGeom prst="rect">
            <a:avLst/>
          </a:prstGeom>
          <a:solidFill>
            <a:srgbClr val="003781"/>
          </a:solidFill>
          <a:ln/>
        </p:spPr>
      </p:sp>
      <p:sp>
        <p:nvSpPr>
          <p:cNvPr id="289" name="Shape 286"/>
          <p:cNvSpPr/>
          <p:nvPr/>
        </p:nvSpPr>
        <p:spPr>
          <a:xfrm>
            <a:off x="2743200" y="4672584"/>
            <a:ext cx="118872" cy="118872"/>
          </a:xfrm>
          <a:prstGeom prst="rect">
            <a:avLst/>
          </a:prstGeom>
          <a:solidFill>
            <a:srgbClr val="5AB6E8"/>
          </a:solidFill>
          <a:ln/>
        </p:spPr>
      </p:sp>
      <p:sp>
        <p:nvSpPr>
          <p:cNvPr id="290" name="Shape 287"/>
          <p:cNvSpPr/>
          <p:nvPr/>
        </p:nvSpPr>
        <p:spPr>
          <a:xfrm>
            <a:off x="2876702" y="4672584"/>
            <a:ext cx="118872" cy="118872"/>
          </a:xfrm>
          <a:prstGeom prst="rect">
            <a:avLst/>
          </a:prstGeom>
          <a:solidFill>
            <a:srgbClr val="E6F0F9"/>
          </a:solidFill>
          <a:ln/>
        </p:spPr>
      </p:sp>
      <p:sp>
        <p:nvSpPr>
          <p:cNvPr id="291" name="Shape 288"/>
          <p:cNvSpPr/>
          <p:nvPr/>
        </p:nvSpPr>
        <p:spPr>
          <a:xfrm>
            <a:off x="3010205" y="4672584"/>
            <a:ext cx="118872" cy="118872"/>
          </a:xfrm>
          <a:prstGeom prst="rect">
            <a:avLst/>
          </a:prstGeom>
          <a:solidFill>
            <a:srgbClr val="003781"/>
          </a:solidFill>
          <a:ln/>
        </p:spPr>
      </p:sp>
      <p:sp>
        <p:nvSpPr>
          <p:cNvPr id="292" name="Shape 289"/>
          <p:cNvSpPr/>
          <p:nvPr/>
        </p:nvSpPr>
        <p:spPr>
          <a:xfrm>
            <a:off x="3143707" y="4672584"/>
            <a:ext cx="118872" cy="118872"/>
          </a:xfrm>
          <a:prstGeom prst="rect">
            <a:avLst/>
          </a:prstGeom>
          <a:solidFill>
            <a:srgbClr val="5AB6E8"/>
          </a:solidFill>
          <a:ln/>
        </p:spPr>
      </p:sp>
      <p:sp>
        <p:nvSpPr>
          <p:cNvPr id="293" name="Shape 290"/>
          <p:cNvSpPr/>
          <p:nvPr/>
        </p:nvSpPr>
        <p:spPr>
          <a:xfrm>
            <a:off x="3277210" y="4672584"/>
            <a:ext cx="118872" cy="118872"/>
          </a:xfrm>
          <a:prstGeom prst="rect">
            <a:avLst/>
          </a:prstGeom>
          <a:solidFill>
            <a:srgbClr val="E6F0F9"/>
          </a:solidFill>
          <a:ln/>
        </p:spPr>
      </p:sp>
      <p:sp>
        <p:nvSpPr>
          <p:cNvPr id="294" name="Shape 291"/>
          <p:cNvSpPr/>
          <p:nvPr/>
        </p:nvSpPr>
        <p:spPr>
          <a:xfrm>
            <a:off x="3410712" y="4672584"/>
            <a:ext cx="118872" cy="118872"/>
          </a:xfrm>
          <a:prstGeom prst="rect">
            <a:avLst/>
          </a:prstGeom>
          <a:solidFill>
            <a:srgbClr val="003781"/>
          </a:solidFill>
          <a:ln/>
        </p:spPr>
      </p:sp>
      <p:sp>
        <p:nvSpPr>
          <p:cNvPr id="295" name="Shape 292"/>
          <p:cNvSpPr/>
          <p:nvPr/>
        </p:nvSpPr>
        <p:spPr>
          <a:xfrm>
            <a:off x="3544214" y="4672584"/>
            <a:ext cx="118872" cy="118872"/>
          </a:xfrm>
          <a:prstGeom prst="rect">
            <a:avLst/>
          </a:prstGeom>
          <a:solidFill>
            <a:srgbClr val="5AB6E8"/>
          </a:solidFill>
          <a:ln/>
        </p:spPr>
      </p:sp>
      <p:sp>
        <p:nvSpPr>
          <p:cNvPr id="296" name="Shape 293"/>
          <p:cNvSpPr/>
          <p:nvPr/>
        </p:nvSpPr>
        <p:spPr>
          <a:xfrm>
            <a:off x="3677717" y="4672584"/>
            <a:ext cx="118872" cy="118872"/>
          </a:xfrm>
          <a:prstGeom prst="rect">
            <a:avLst/>
          </a:prstGeom>
          <a:solidFill>
            <a:srgbClr val="E6F0F9"/>
          </a:solidFill>
          <a:ln/>
        </p:spPr>
      </p:sp>
      <p:sp>
        <p:nvSpPr>
          <p:cNvPr id="297" name="Shape 294"/>
          <p:cNvSpPr/>
          <p:nvPr/>
        </p:nvSpPr>
        <p:spPr>
          <a:xfrm>
            <a:off x="1408176" y="4806086"/>
            <a:ext cx="118872" cy="118872"/>
          </a:xfrm>
          <a:prstGeom prst="rect">
            <a:avLst/>
          </a:prstGeom>
          <a:solidFill>
            <a:srgbClr val="003781"/>
          </a:solidFill>
          <a:ln/>
        </p:spPr>
      </p:sp>
      <p:sp>
        <p:nvSpPr>
          <p:cNvPr id="298" name="Shape 295"/>
          <p:cNvSpPr/>
          <p:nvPr/>
        </p:nvSpPr>
        <p:spPr>
          <a:xfrm>
            <a:off x="1541678" y="4806086"/>
            <a:ext cx="118872" cy="118872"/>
          </a:xfrm>
          <a:prstGeom prst="rect">
            <a:avLst/>
          </a:prstGeom>
          <a:solidFill>
            <a:srgbClr val="E6F0F9"/>
          </a:solidFill>
          <a:ln/>
        </p:spPr>
      </p:sp>
      <p:sp>
        <p:nvSpPr>
          <p:cNvPr id="299" name="Shape 296"/>
          <p:cNvSpPr/>
          <p:nvPr/>
        </p:nvSpPr>
        <p:spPr>
          <a:xfrm>
            <a:off x="1675181" y="4806086"/>
            <a:ext cx="118872" cy="118872"/>
          </a:xfrm>
          <a:prstGeom prst="rect">
            <a:avLst/>
          </a:prstGeom>
          <a:solidFill>
            <a:srgbClr val="003781"/>
          </a:solidFill>
          <a:ln/>
        </p:spPr>
      </p:sp>
      <p:sp>
        <p:nvSpPr>
          <p:cNvPr id="300" name="Shape 297"/>
          <p:cNvSpPr/>
          <p:nvPr/>
        </p:nvSpPr>
        <p:spPr>
          <a:xfrm>
            <a:off x="1808683" y="4806086"/>
            <a:ext cx="118872" cy="118872"/>
          </a:xfrm>
          <a:prstGeom prst="rect">
            <a:avLst/>
          </a:prstGeom>
          <a:solidFill>
            <a:srgbClr val="5AB6E8"/>
          </a:solidFill>
          <a:ln/>
        </p:spPr>
      </p:sp>
      <p:sp>
        <p:nvSpPr>
          <p:cNvPr id="301" name="Shape 298"/>
          <p:cNvSpPr/>
          <p:nvPr/>
        </p:nvSpPr>
        <p:spPr>
          <a:xfrm>
            <a:off x="1942186" y="4806086"/>
            <a:ext cx="118872" cy="118872"/>
          </a:xfrm>
          <a:prstGeom prst="rect">
            <a:avLst/>
          </a:prstGeom>
          <a:solidFill>
            <a:srgbClr val="E6F0F9"/>
          </a:solidFill>
          <a:ln/>
        </p:spPr>
      </p:sp>
      <p:sp>
        <p:nvSpPr>
          <p:cNvPr id="302" name="Shape 299"/>
          <p:cNvSpPr/>
          <p:nvPr/>
        </p:nvSpPr>
        <p:spPr>
          <a:xfrm>
            <a:off x="2075688" y="4806086"/>
            <a:ext cx="118872" cy="118872"/>
          </a:xfrm>
          <a:prstGeom prst="rect">
            <a:avLst/>
          </a:prstGeom>
          <a:solidFill>
            <a:srgbClr val="E6F0F9"/>
          </a:solidFill>
          <a:ln/>
        </p:spPr>
      </p:sp>
      <p:sp>
        <p:nvSpPr>
          <p:cNvPr id="303" name="Shape 300"/>
          <p:cNvSpPr/>
          <p:nvPr/>
        </p:nvSpPr>
        <p:spPr>
          <a:xfrm>
            <a:off x="2209190" y="4806086"/>
            <a:ext cx="118872" cy="118872"/>
          </a:xfrm>
          <a:prstGeom prst="rect">
            <a:avLst/>
          </a:prstGeom>
          <a:solidFill>
            <a:srgbClr val="003781"/>
          </a:solidFill>
          <a:ln/>
        </p:spPr>
      </p:sp>
      <p:sp>
        <p:nvSpPr>
          <p:cNvPr id="304" name="Shape 301"/>
          <p:cNvSpPr/>
          <p:nvPr/>
        </p:nvSpPr>
        <p:spPr>
          <a:xfrm>
            <a:off x="2342693" y="4806086"/>
            <a:ext cx="118872" cy="118872"/>
          </a:xfrm>
          <a:prstGeom prst="rect">
            <a:avLst/>
          </a:prstGeom>
          <a:solidFill>
            <a:srgbClr val="5AB6E8"/>
          </a:solidFill>
          <a:ln/>
        </p:spPr>
      </p:sp>
      <p:sp>
        <p:nvSpPr>
          <p:cNvPr id="305" name="Shape 302"/>
          <p:cNvSpPr/>
          <p:nvPr/>
        </p:nvSpPr>
        <p:spPr>
          <a:xfrm>
            <a:off x="2476195" y="4806086"/>
            <a:ext cx="118872" cy="118872"/>
          </a:xfrm>
          <a:prstGeom prst="rect">
            <a:avLst/>
          </a:prstGeom>
          <a:solidFill>
            <a:srgbClr val="E6F0F9"/>
          </a:solidFill>
          <a:ln/>
        </p:spPr>
      </p:sp>
      <p:sp>
        <p:nvSpPr>
          <p:cNvPr id="306" name="Shape 303"/>
          <p:cNvSpPr/>
          <p:nvPr/>
        </p:nvSpPr>
        <p:spPr>
          <a:xfrm>
            <a:off x="2609698" y="4806086"/>
            <a:ext cx="118872" cy="118872"/>
          </a:xfrm>
          <a:prstGeom prst="rect">
            <a:avLst/>
          </a:prstGeom>
          <a:solidFill>
            <a:srgbClr val="5AB6E8"/>
          </a:solidFill>
          <a:ln/>
        </p:spPr>
      </p:sp>
      <p:sp>
        <p:nvSpPr>
          <p:cNvPr id="307" name="Shape 304"/>
          <p:cNvSpPr/>
          <p:nvPr/>
        </p:nvSpPr>
        <p:spPr>
          <a:xfrm>
            <a:off x="2743200" y="4806086"/>
            <a:ext cx="118872" cy="118872"/>
          </a:xfrm>
          <a:prstGeom prst="rect">
            <a:avLst/>
          </a:prstGeom>
          <a:solidFill>
            <a:srgbClr val="003781"/>
          </a:solidFill>
          <a:ln/>
        </p:spPr>
      </p:sp>
      <p:sp>
        <p:nvSpPr>
          <p:cNvPr id="308" name="Shape 305"/>
          <p:cNvSpPr/>
          <p:nvPr/>
        </p:nvSpPr>
        <p:spPr>
          <a:xfrm>
            <a:off x="2876702" y="4806086"/>
            <a:ext cx="118872" cy="118872"/>
          </a:xfrm>
          <a:prstGeom prst="rect">
            <a:avLst/>
          </a:prstGeom>
          <a:solidFill>
            <a:srgbClr val="E6F0F9"/>
          </a:solidFill>
          <a:ln/>
        </p:spPr>
      </p:sp>
      <p:sp>
        <p:nvSpPr>
          <p:cNvPr id="309" name="Shape 306"/>
          <p:cNvSpPr/>
          <p:nvPr/>
        </p:nvSpPr>
        <p:spPr>
          <a:xfrm>
            <a:off x="3010205" y="4806086"/>
            <a:ext cx="118872" cy="118872"/>
          </a:xfrm>
          <a:prstGeom prst="rect">
            <a:avLst/>
          </a:prstGeom>
          <a:solidFill>
            <a:srgbClr val="003781"/>
          </a:solidFill>
          <a:ln/>
        </p:spPr>
      </p:sp>
      <p:sp>
        <p:nvSpPr>
          <p:cNvPr id="310" name="Shape 307"/>
          <p:cNvSpPr/>
          <p:nvPr/>
        </p:nvSpPr>
        <p:spPr>
          <a:xfrm>
            <a:off x="3143707" y="4806086"/>
            <a:ext cx="118872" cy="118872"/>
          </a:xfrm>
          <a:prstGeom prst="rect">
            <a:avLst/>
          </a:prstGeom>
          <a:solidFill>
            <a:srgbClr val="5AB6E8"/>
          </a:solidFill>
          <a:ln/>
        </p:spPr>
      </p:sp>
      <p:sp>
        <p:nvSpPr>
          <p:cNvPr id="311" name="Shape 308"/>
          <p:cNvSpPr/>
          <p:nvPr/>
        </p:nvSpPr>
        <p:spPr>
          <a:xfrm>
            <a:off x="3277210" y="4806086"/>
            <a:ext cx="118872" cy="118872"/>
          </a:xfrm>
          <a:prstGeom prst="rect">
            <a:avLst/>
          </a:prstGeom>
          <a:solidFill>
            <a:srgbClr val="E6F0F9"/>
          </a:solidFill>
          <a:ln/>
        </p:spPr>
      </p:sp>
      <p:sp>
        <p:nvSpPr>
          <p:cNvPr id="312" name="Shape 309"/>
          <p:cNvSpPr/>
          <p:nvPr/>
        </p:nvSpPr>
        <p:spPr>
          <a:xfrm>
            <a:off x="3410712" y="4806086"/>
            <a:ext cx="118872" cy="118872"/>
          </a:xfrm>
          <a:prstGeom prst="rect">
            <a:avLst/>
          </a:prstGeom>
          <a:solidFill>
            <a:srgbClr val="E6F0F9"/>
          </a:solidFill>
          <a:ln/>
        </p:spPr>
      </p:sp>
      <p:sp>
        <p:nvSpPr>
          <p:cNvPr id="313" name="Shape 310"/>
          <p:cNvSpPr/>
          <p:nvPr/>
        </p:nvSpPr>
        <p:spPr>
          <a:xfrm>
            <a:off x="3544214" y="4806086"/>
            <a:ext cx="118872" cy="118872"/>
          </a:xfrm>
          <a:prstGeom prst="rect">
            <a:avLst/>
          </a:prstGeom>
          <a:solidFill>
            <a:srgbClr val="003781"/>
          </a:solidFill>
          <a:ln/>
        </p:spPr>
      </p:sp>
      <p:sp>
        <p:nvSpPr>
          <p:cNvPr id="314" name="Shape 311"/>
          <p:cNvSpPr/>
          <p:nvPr/>
        </p:nvSpPr>
        <p:spPr>
          <a:xfrm>
            <a:off x="3677717" y="4806086"/>
            <a:ext cx="118872" cy="118872"/>
          </a:xfrm>
          <a:prstGeom prst="rect">
            <a:avLst/>
          </a:prstGeom>
          <a:solidFill>
            <a:srgbClr val="5AB6E8"/>
          </a:solidFill>
          <a:ln/>
        </p:spPr>
      </p:sp>
      <p:sp>
        <p:nvSpPr>
          <p:cNvPr id="315" name="Shape 312"/>
          <p:cNvSpPr/>
          <p:nvPr/>
        </p:nvSpPr>
        <p:spPr>
          <a:xfrm>
            <a:off x="1408176" y="4939589"/>
            <a:ext cx="118872" cy="118872"/>
          </a:xfrm>
          <a:prstGeom prst="rect">
            <a:avLst/>
          </a:prstGeom>
          <a:solidFill>
            <a:srgbClr val="E6F0F9"/>
          </a:solidFill>
          <a:ln/>
        </p:spPr>
      </p:sp>
      <p:sp>
        <p:nvSpPr>
          <p:cNvPr id="316" name="Shape 313"/>
          <p:cNvSpPr/>
          <p:nvPr/>
        </p:nvSpPr>
        <p:spPr>
          <a:xfrm>
            <a:off x="1541678" y="4939589"/>
            <a:ext cx="118872" cy="118872"/>
          </a:xfrm>
          <a:prstGeom prst="rect">
            <a:avLst/>
          </a:prstGeom>
          <a:solidFill>
            <a:srgbClr val="5AB6E8"/>
          </a:solidFill>
          <a:ln/>
        </p:spPr>
      </p:sp>
      <p:sp>
        <p:nvSpPr>
          <p:cNvPr id="317" name="Shape 314"/>
          <p:cNvSpPr/>
          <p:nvPr/>
        </p:nvSpPr>
        <p:spPr>
          <a:xfrm>
            <a:off x="1675181" y="4939589"/>
            <a:ext cx="118872" cy="118872"/>
          </a:xfrm>
          <a:prstGeom prst="rect">
            <a:avLst/>
          </a:prstGeom>
          <a:solidFill>
            <a:srgbClr val="E6F0F9"/>
          </a:solidFill>
          <a:ln/>
        </p:spPr>
      </p:sp>
      <p:sp>
        <p:nvSpPr>
          <p:cNvPr id="318" name="Shape 315"/>
          <p:cNvSpPr/>
          <p:nvPr/>
        </p:nvSpPr>
        <p:spPr>
          <a:xfrm>
            <a:off x="1808683" y="4939589"/>
            <a:ext cx="118872" cy="118872"/>
          </a:xfrm>
          <a:prstGeom prst="rect">
            <a:avLst/>
          </a:prstGeom>
          <a:solidFill>
            <a:srgbClr val="E6F0F9"/>
          </a:solidFill>
          <a:ln/>
        </p:spPr>
      </p:sp>
      <p:sp>
        <p:nvSpPr>
          <p:cNvPr id="319" name="Shape 316"/>
          <p:cNvSpPr/>
          <p:nvPr/>
        </p:nvSpPr>
        <p:spPr>
          <a:xfrm>
            <a:off x="1942186" y="4939589"/>
            <a:ext cx="118872" cy="118872"/>
          </a:xfrm>
          <a:prstGeom prst="rect">
            <a:avLst/>
          </a:prstGeom>
          <a:solidFill>
            <a:srgbClr val="5AB6E8"/>
          </a:solidFill>
          <a:ln/>
        </p:spPr>
      </p:sp>
      <p:sp>
        <p:nvSpPr>
          <p:cNvPr id="320" name="Shape 317"/>
          <p:cNvSpPr/>
          <p:nvPr/>
        </p:nvSpPr>
        <p:spPr>
          <a:xfrm>
            <a:off x="2075688" y="4939589"/>
            <a:ext cx="118872" cy="118872"/>
          </a:xfrm>
          <a:prstGeom prst="rect">
            <a:avLst/>
          </a:prstGeom>
          <a:solidFill>
            <a:srgbClr val="5AB6E8"/>
          </a:solidFill>
          <a:ln/>
        </p:spPr>
      </p:sp>
      <p:sp>
        <p:nvSpPr>
          <p:cNvPr id="321" name="Shape 318"/>
          <p:cNvSpPr/>
          <p:nvPr/>
        </p:nvSpPr>
        <p:spPr>
          <a:xfrm>
            <a:off x="2209190" y="4939589"/>
            <a:ext cx="118872" cy="118872"/>
          </a:xfrm>
          <a:prstGeom prst="rect">
            <a:avLst/>
          </a:prstGeom>
          <a:solidFill>
            <a:srgbClr val="E6F0F9"/>
          </a:solidFill>
          <a:ln/>
        </p:spPr>
      </p:sp>
      <p:sp>
        <p:nvSpPr>
          <p:cNvPr id="322" name="Shape 319"/>
          <p:cNvSpPr/>
          <p:nvPr/>
        </p:nvSpPr>
        <p:spPr>
          <a:xfrm>
            <a:off x="2342693" y="4939589"/>
            <a:ext cx="118872" cy="118872"/>
          </a:xfrm>
          <a:prstGeom prst="rect">
            <a:avLst/>
          </a:prstGeom>
          <a:solidFill>
            <a:srgbClr val="5AB6E8"/>
          </a:solidFill>
          <a:ln/>
        </p:spPr>
      </p:sp>
      <p:sp>
        <p:nvSpPr>
          <p:cNvPr id="323" name="Shape 320"/>
          <p:cNvSpPr/>
          <p:nvPr/>
        </p:nvSpPr>
        <p:spPr>
          <a:xfrm>
            <a:off x="2476195" y="4939589"/>
            <a:ext cx="118872" cy="118872"/>
          </a:xfrm>
          <a:prstGeom prst="rect">
            <a:avLst/>
          </a:prstGeom>
          <a:solidFill>
            <a:srgbClr val="5AB6E8"/>
          </a:solidFill>
          <a:ln/>
        </p:spPr>
      </p:sp>
      <p:sp>
        <p:nvSpPr>
          <p:cNvPr id="324" name="Shape 321"/>
          <p:cNvSpPr/>
          <p:nvPr/>
        </p:nvSpPr>
        <p:spPr>
          <a:xfrm>
            <a:off x="2609698" y="4939589"/>
            <a:ext cx="118872" cy="118872"/>
          </a:xfrm>
          <a:prstGeom prst="rect">
            <a:avLst/>
          </a:prstGeom>
          <a:solidFill>
            <a:srgbClr val="E6F0F9"/>
          </a:solidFill>
          <a:ln/>
        </p:spPr>
      </p:sp>
      <p:sp>
        <p:nvSpPr>
          <p:cNvPr id="325" name="Shape 322"/>
          <p:cNvSpPr/>
          <p:nvPr/>
        </p:nvSpPr>
        <p:spPr>
          <a:xfrm>
            <a:off x="2743200" y="4939589"/>
            <a:ext cx="118872" cy="118872"/>
          </a:xfrm>
          <a:prstGeom prst="rect">
            <a:avLst/>
          </a:prstGeom>
          <a:solidFill>
            <a:srgbClr val="E6F0F9"/>
          </a:solidFill>
          <a:ln/>
        </p:spPr>
      </p:sp>
      <p:sp>
        <p:nvSpPr>
          <p:cNvPr id="326" name="Shape 323"/>
          <p:cNvSpPr/>
          <p:nvPr/>
        </p:nvSpPr>
        <p:spPr>
          <a:xfrm>
            <a:off x="2876702" y="4939589"/>
            <a:ext cx="118872" cy="118872"/>
          </a:xfrm>
          <a:prstGeom prst="rect">
            <a:avLst/>
          </a:prstGeom>
          <a:solidFill>
            <a:srgbClr val="5AB6E8"/>
          </a:solidFill>
          <a:ln/>
        </p:spPr>
      </p:sp>
      <p:sp>
        <p:nvSpPr>
          <p:cNvPr id="327" name="Shape 324"/>
          <p:cNvSpPr/>
          <p:nvPr/>
        </p:nvSpPr>
        <p:spPr>
          <a:xfrm>
            <a:off x="3010205" y="4939589"/>
            <a:ext cx="118872" cy="118872"/>
          </a:xfrm>
          <a:prstGeom prst="rect">
            <a:avLst/>
          </a:prstGeom>
          <a:solidFill>
            <a:srgbClr val="E6F0F9"/>
          </a:solidFill>
          <a:ln/>
        </p:spPr>
      </p:sp>
      <p:sp>
        <p:nvSpPr>
          <p:cNvPr id="328" name="Shape 325"/>
          <p:cNvSpPr/>
          <p:nvPr/>
        </p:nvSpPr>
        <p:spPr>
          <a:xfrm>
            <a:off x="3143707" y="4939589"/>
            <a:ext cx="118872" cy="118872"/>
          </a:xfrm>
          <a:prstGeom prst="rect">
            <a:avLst/>
          </a:prstGeom>
          <a:solidFill>
            <a:srgbClr val="E6F0F9"/>
          </a:solidFill>
          <a:ln/>
        </p:spPr>
      </p:sp>
      <p:sp>
        <p:nvSpPr>
          <p:cNvPr id="329" name="Shape 326"/>
          <p:cNvSpPr/>
          <p:nvPr/>
        </p:nvSpPr>
        <p:spPr>
          <a:xfrm>
            <a:off x="3277210" y="4939589"/>
            <a:ext cx="118872" cy="118872"/>
          </a:xfrm>
          <a:prstGeom prst="rect">
            <a:avLst/>
          </a:prstGeom>
          <a:solidFill>
            <a:srgbClr val="5AB6E8"/>
          </a:solidFill>
          <a:ln/>
        </p:spPr>
      </p:sp>
      <p:sp>
        <p:nvSpPr>
          <p:cNvPr id="330" name="Shape 327"/>
          <p:cNvSpPr/>
          <p:nvPr/>
        </p:nvSpPr>
        <p:spPr>
          <a:xfrm>
            <a:off x="3410712" y="4939589"/>
            <a:ext cx="118872" cy="118872"/>
          </a:xfrm>
          <a:prstGeom prst="rect">
            <a:avLst/>
          </a:prstGeom>
          <a:solidFill>
            <a:srgbClr val="5AB6E8"/>
          </a:solidFill>
          <a:ln/>
        </p:spPr>
      </p:sp>
      <p:sp>
        <p:nvSpPr>
          <p:cNvPr id="331" name="Shape 328"/>
          <p:cNvSpPr/>
          <p:nvPr/>
        </p:nvSpPr>
        <p:spPr>
          <a:xfrm>
            <a:off x="3544214" y="4939589"/>
            <a:ext cx="118872" cy="118872"/>
          </a:xfrm>
          <a:prstGeom prst="rect">
            <a:avLst/>
          </a:prstGeom>
          <a:solidFill>
            <a:srgbClr val="E6F0F9"/>
          </a:solidFill>
          <a:ln/>
        </p:spPr>
      </p:sp>
      <p:sp>
        <p:nvSpPr>
          <p:cNvPr id="332" name="Shape 329"/>
          <p:cNvSpPr/>
          <p:nvPr/>
        </p:nvSpPr>
        <p:spPr>
          <a:xfrm>
            <a:off x="3677717" y="4939589"/>
            <a:ext cx="118872" cy="118872"/>
          </a:xfrm>
          <a:prstGeom prst="rect">
            <a:avLst/>
          </a:prstGeom>
          <a:solidFill>
            <a:srgbClr val="5AB6E8"/>
          </a:solidFill>
          <a:ln/>
        </p:spPr>
      </p:sp>
      <p:sp>
        <p:nvSpPr>
          <p:cNvPr id="333" name="Shape 330"/>
          <p:cNvSpPr/>
          <p:nvPr/>
        </p:nvSpPr>
        <p:spPr>
          <a:xfrm>
            <a:off x="1914754" y="2909621"/>
            <a:ext cx="173736" cy="173736"/>
          </a:xfrm>
          <a:prstGeom prst="roundRect">
            <a:avLst>
              <a:gd name="adj" fmla="val 10526"/>
            </a:avLst>
          </a:prstGeom>
          <a:ln w="22225">
            <a:solidFill>
              <a:srgbClr val="A9711A"/>
            </a:solidFill>
            <a:prstDash val="solid"/>
          </a:ln>
        </p:spPr>
      </p:sp>
      <p:sp>
        <p:nvSpPr>
          <p:cNvPr id="334" name="Text 331"/>
          <p:cNvSpPr txBox="1"/>
          <p:nvPr/>
        </p:nvSpPr>
        <p:spPr>
          <a:xfrm>
            <a:off x="950976" y="5201107"/>
            <a:ext cx="3317443" cy="219456"/>
          </a:xfrm>
          <a:prstGeom prst="rect">
            <a:avLst/>
          </a:prstGeom>
          <a:noFill/>
          <a:ln/>
        </p:spPr>
        <p:txBody>
          <a:bodyPr wrap="square" lIns="0" tIns="0" rIns="0" bIns="0" rtlCol="0" anchor="t"/>
          <a:lstStyle/>
          <a:p>
            <a:pPr algn="ctr" indent="0" marL="0">
              <a:buNone/>
            </a:pPr>
            <a:r>
              <a:rPr lang="en-US" sz="1000" i="1" dirty="0">
                <a:solidFill>
                  <a:srgbClr val="A9711A"/>
                </a:solidFill>
                <a:latin typeface="Calibri" pitchFamily="34" charset="0"/>
                <a:ea typeface="Calibri" pitchFamily="34" charset="-122"/>
                <a:cs typeface="Calibri" pitchFamily="34" charset="-120"/>
              </a:rPr>
              <a:t>A2 + B4 — celda con observación impresa</a:t>
            </a:r>
            <a:endParaRPr lang="en-US" sz="1000" dirty="0"/>
          </a:p>
        </p:txBody>
      </p:sp>
      <p:sp>
        <p:nvSpPr>
          <p:cNvPr id="335" name="Text 332"/>
          <p:cNvSpPr txBox="1"/>
          <p:nvPr/>
        </p:nvSpPr>
        <p:spPr>
          <a:xfrm>
            <a:off x="950976" y="5457139"/>
            <a:ext cx="3317443" cy="384048"/>
          </a:xfrm>
          <a:prstGeom prst="rect">
            <a:avLst/>
          </a:prstGeom>
          <a:noFill/>
          <a:ln/>
        </p:spPr>
        <p:txBody>
          <a:bodyPr wrap="square" lIns="0" tIns="0" rIns="0" bIns="0" rtlCol="0" anchor="t"/>
          <a:lstStyle/>
          <a:p>
            <a:pPr algn="ctr" indent="0" marL="0">
              <a:lnSpc>
                <a:spcPct val="105000"/>
              </a:lnSpc>
              <a:buNone/>
            </a:pPr>
            <a:r>
              <a:rPr lang="en-US" sz="900" dirty="0">
                <a:solidFill>
                  <a:srgbClr val="8296AC"/>
                </a:solidFill>
                <a:latin typeface="Calibri" pitchFamily="34" charset="0"/>
                <a:ea typeface="Calibri" pitchFamily="34" charset="-122"/>
                <a:cs typeface="Calibri" pitchFamily="34" charset="-120"/>
              </a:rPr>
              <a:t>Retícula ilustrativa; la transcripción real está firmada</a:t>
            </a:r>
            <a:endParaRPr lang="en-US" sz="900" dirty="0"/>
          </a:p>
          <a:p>
            <a:pPr algn="ctr" indent="0" marL="0">
              <a:lnSpc>
                <a:spcPct val="105000"/>
              </a:lnSpc>
              <a:buNone/>
            </a:pPr>
            <a:r>
              <a:rPr lang="en-US" sz="900" dirty="0">
                <a:solidFill>
                  <a:srgbClr val="8296AC"/>
                </a:solidFill>
                <a:latin typeface="Calibri" pitchFamily="34" charset="0"/>
                <a:ea typeface="Calibri" pitchFamily="34" charset="-122"/>
                <a:cs typeface="Calibri" pitchFamily="34" charset="-120"/>
              </a:rPr>
              <a:t>en el artefacto y se puede abrir.</a:t>
            </a:r>
            <a:endParaRPr lang="en-US" sz="900" dirty="0"/>
          </a:p>
        </p:txBody>
      </p:sp>
      <p:sp>
        <p:nvSpPr>
          <p:cNvPr id="336" name="Shape 333"/>
          <p:cNvSpPr/>
          <p:nvPr/>
        </p:nvSpPr>
        <p:spPr>
          <a:xfrm>
            <a:off x="4023360" y="2395728"/>
            <a:ext cx="118872" cy="118872"/>
          </a:xfrm>
          <a:prstGeom prst="ellipse">
            <a:avLst/>
          </a:prstGeom>
          <a:solidFill>
            <a:srgbClr val="0079C1"/>
          </a:solidFill>
          <a:ln/>
        </p:spPr>
      </p:sp>
      <p:sp>
        <p:nvSpPr>
          <p:cNvPr id="337" name="Text 334"/>
          <p:cNvSpPr txBox="1"/>
          <p:nvPr/>
        </p:nvSpPr>
        <p:spPr>
          <a:xfrm>
            <a:off x="4279392" y="2322576"/>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324 celdas · 18 casillas A × 18 casillas B</a:t>
            </a:r>
            <a:endParaRPr lang="en-US" sz="1250" dirty="0"/>
          </a:p>
        </p:txBody>
      </p:sp>
      <p:sp>
        <p:nvSpPr>
          <p:cNvPr id="338" name="Text 335"/>
          <p:cNvSpPr txBox="1"/>
          <p:nvPr/>
        </p:nvSpPr>
        <p:spPr>
          <a:xfrm>
            <a:off x="4279392" y="2596896"/>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La tabla que el manual imprime en la página 101 para repartir responsabilidad a partir del apartado 12 de la declaración amistosa.</a:t>
            </a:r>
            <a:endParaRPr lang="en-US" sz="1100" dirty="0"/>
          </a:p>
        </p:txBody>
      </p:sp>
      <p:sp>
        <p:nvSpPr>
          <p:cNvPr id="339" name="Shape 336"/>
          <p:cNvSpPr/>
          <p:nvPr/>
        </p:nvSpPr>
        <p:spPr>
          <a:xfrm>
            <a:off x="4023360" y="3255264"/>
            <a:ext cx="118872" cy="118872"/>
          </a:xfrm>
          <a:prstGeom prst="ellipse">
            <a:avLst/>
          </a:prstGeom>
          <a:solidFill>
            <a:srgbClr val="0079C1"/>
          </a:solidFill>
          <a:ln/>
        </p:spPr>
      </p:sp>
      <p:sp>
        <p:nvSpPr>
          <p:cNvPr id="340" name="Text 337"/>
          <p:cNvSpPr txBox="1"/>
          <p:nvPr/>
        </p:nvSpPr>
        <p:spPr>
          <a:xfrm>
            <a:off x="4279392" y="3182112"/>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Doble transcripción independiente y adjudicación firmada</a:t>
            </a:r>
            <a:endParaRPr lang="en-US" sz="1250" dirty="0"/>
          </a:p>
        </p:txBody>
      </p:sp>
      <p:sp>
        <p:nvSpPr>
          <p:cNvPr id="341" name="Text 338"/>
          <p:cNvSpPr txBox="1"/>
          <p:nvPr/>
        </p:nvSpPr>
        <p:spPr>
          <a:xfrm>
            <a:off x="4279392" y="3456432"/>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Dos pasadas separadas, comparadas por comando (allianz rules compare-transcriptions) y atestadas. Una celda no conciliada no decide.</a:t>
            </a:r>
            <a:endParaRPr lang="en-US" sz="1100" dirty="0"/>
          </a:p>
        </p:txBody>
      </p:sp>
      <p:sp>
        <p:nvSpPr>
          <p:cNvPr id="342" name="Shape 339"/>
          <p:cNvSpPr/>
          <p:nvPr/>
        </p:nvSpPr>
        <p:spPr>
          <a:xfrm>
            <a:off x="4023360" y="4114800"/>
            <a:ext cx="118872" cy="118872"/>
          </a:xfrm>
          <a:prstGeom prst="ellipse">
            <a:avLst/>
          </a:prstGeom>
          <a:solidFill>
            <a:srgbClr val="0079C1"/>
          </a:solidFill>
          <a:ln/>
        </p:spPr>
      </p:sp>
      <p:sp>
        <p:nvSpPr>
          <p:cNvPr id="343" name="Text 340"/>
          <p:cNvSpPr txBox="1"/>
          <p:nvPr/>
        </p:nvSpPr>
        <p:spPr>
          <a:xfrm>
            <a:off x="4279392" y="4041648"/>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Las cuatro observaciones viven en el artefacto, no en el código</a:t>
            </a:r>
            <a:endParaRPr lang="en-US" sz="1250" dirty="0"/>
          </a:p>
        </p:txBody>
      </p:sp>
      <p:sp>
        <p:nvSpPr>
          <p:cNvPr id="344" name="Text 341"/>
          <p:cNvSpPr txBox="1"/>
          <p:nvPr/>
        </p:nvSpPr>
        <p:spPr>
          <a:xfrm>
            <a:off x="4279392" y="4315968"/>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Se declaran con campos propios —a qué celdas aplican, qué hecho las activa, sobre qué conductor y qué consecuencia tienen—. Una celda con asterisco sin observación anotada simplemente no decide.</a:t>
            </a:r>
            <a:endParaRPr lang="en-US" sz="1100" dirty="0"/>
          </a:p>
        </p:txBody>
      </p:sp>
      <p:sp>
        <p:nvSpPr>
          <p:cNvPr id="345" name="Shape 342"/>
          <p:cNvSpPr/>
          <p:nvPr/>
        </p:nvSpPr>
        <p:spPr>
          <a:xfrm>
            <a:off x="4023360" y="4974336"/>
            <a:ext cx="118872" cy="118872"/>
          </a:xfrm>
          <a:prstGeom prst="ellipse">
            <a:avLst/>
          </a:prstGeom>
          <a:solidFill>
            <a:srgbClr val="0079C1"/>
          </a:solidFill>
          <a:ln/>
        </p:spPr>
      </p:sp>
      <p:sp>
        <p:nvSpPr>
          <p:cNvPr id="346" name="Text 343"/>
          <p:cNvSpPr txBox="1"/>
          <p:nvPr/>
        </p:nvSpPr>
        <p:spPr>
          <a:xfrm>
            <a:off x="4279392" y="4901184"/>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Cuatro resultados que la interfaz no puede confundir</a:t>
            </a:r>
            <a:endParaRPr lang="en-US" sz="1250" dirty="0"/>
          </a:p>
        </p:txBody>
      </p:sp>
      <p:sp>
        <p:nvSpPr>
          <p:cNvPr id="347" name="Text 344"/>
          <p:cNvSpPr txBox="1"/>
          <p:nvPr/>
        </p:nvSpPr>
        <p:spPr>
          <a:xfrm>
            <a:off x="4279392" y="5175504"/>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Atribuye · no atribuye («-») · falta el hecho de la excepción · la excepción se cumple y retira la atribución.</a:t>
            </a:r>
            <a:endParaRPr lang="en-US" sz="1100" dirty="0"/>
          </a:p>
        </p:txBody>
      </p:sp>
      <p:sp>
        <p:nvSpPr>
          <p:cNvPr id="348" name="Shape 345"/>
          <p:cNvSpPr/>
          <p:nvPr/>
        </p:nvSpPr>
        <p:spPr>
          <a:xfrm>
            <a:off x="566928" y="5852160"/>
            <a:ext cx="11057839" cy="493776"/>
          </a:xfrm>
          <a:prstGeom prst="roundRect">
            <a:avLst>
              <a:gd name="adj" fmla="val 16667"/>
            </a:avLst>
          </a:prstGeom>
          <a:solidFill>
            <a:srgbClr val="003781"/>
          </a:solidFill>
          <a:ln/>
        </p:spPr>
      </p:sp>
      <p:sp>
        <p:nvSpPr>
          <p:cNvPr id="349" name="Text 34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Nunca se traduce una maniobra narrada a un código de casilla. Si el relato no declara «marcamos A2 y B4», la tabla no entra: inferirlo sería inventar el dato más determinante del expediente.</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13 de las 14 reglas firmadas ya deciden; la que falta se declara, no se disimula.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Estado real del ruleset a día de hoy, comprobado sobre el artefacto: qué regla tiene condición verificable y cuál sigue siendo sólo documentación.</a:t>
            </a:r>
            <a:endParaRPr lang="en-US" sz="1350" dirty="0"/>
          </a:p>
        </p:txBody>
      </p:sp>
      <p:sp>
        <p:nvSpPr>
          <p:cNvPr id="7" name="Shape 4"/>
          <p:cNvSpPr/>
          <p:nvPr/>
        </p:nvSpPr>
        <p:spPr>
          <a:xfrm>
            <a:off x="566928" y="2286000"/>
            <a:ext cx="5363870" cy="2706624"/>
          </a:xfrm>
          <a:prstGeom prst="roundRect">
            <a:avLst>
              <a:gd name="adj" fmla="val 337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41248" y="2505456"/>
            <a:ext cx="481523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PUERTA DE APLICABILIDAD Y EXCEPCIONES</a:t>
            </a:r>
            <a:endParaRPr lang="en-US" sz="950" dirty="0"/>
          </a:p>
        </p:txBody>
      </p:sp>
      <p:sp>
        <p:nvSpPr>
          <p:cNvPr id="9" name="Shape 6"/>
          <p:cNvSpPr/>
          <p:nvPr/>
        </p:nvSpPr>
        <p:spPr>
          <a:xfrm>
            <a:off x="841248" y="2926080"/>
            <a:ext cx="109728" cy="109728"/>
          </a:xfrm>
          <a:prstGeom prst="ellipse">
            <a:avLst/>
          </a:prstGeom>
          <a:solidFill>
            <a:srgbClr val="00807E"/>
          </a:solidFill>
          <a:ln/>
        </p:spPr>
      </p:sp>
      <p:sp>
        <p:nvSpPr>
          <p:cNvPr id="10" name="Text 7"/>
          <p:cNvSpPr txBox="1"/>
          <p:nvPr/>
        </p:nvSpPr>
        <p:spPr>
          <a:xfrm>
            <a:off x="1060704" y="285292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cide-requires-two-vehicles</a:t>
            </a:r>
            <a:endParaRPr lang="en-US" sz="950" dirty="0"/>
          </a:p>
        </p:txBody>
      </p:sp>
      <p:sp>
        <p:nvSpPr>
          <p:cNvPr id="11" name="Text 8"/>
          <p:cNvSpPr txBox="1"/>
          <p:nvPr/>
        </p:nvSpPr>
        <p:spPr>
          <a:xfrm>
            <a:off x="3511296" y="286207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Dos vehículos intervinientes · p. 56</a:t>
            </a:r>
            <a:endParaRPr lang="en-US" sz="950" dirty="0"/>
          </a:p>
        </p:txBody>
      </p:sp>
      <p:sp>
        <p:nvSpPr>
          <p:cNvPr id="12" name="Shape 9"/>
          <p:cNvSpPr/>
          <p:nvPr/>
        </p:nvSpPr>
        <p:spPr>
          <a:xfrm>
            <a:off x="841248" y="3273552"/>
            <a:ext cx="109728" cy="109728"/>
          </a:xfrm>
          <a:prstGeom prst="ellipse">
            <a:avLst/>
          </a:prstGeom>
          <a:solidFill>
            <a:srgbClr val="00807E"/>
          </a:solidFill>
          <a:ln/>
        </p:spPr>
      </p:sp>
      <p:sp>
        <p:nvSpPr>
          <p:cNvPr id="13" name="Text 10"/>
          <p:cNvSpPr txBox="1"/>
          <p:nvPr/>
        </p:nvSpPr>
        <p:spPr>
          <a:xfrm>
            <a:off x="1060704" y="320040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cide-requires-direct-collision</a:t>
            </a:r>
            <a:endParaRPr lang="en-US" sz="950" dirty="0"/>
          </a:p>
        </p:txBody>
      </p:sp>
      <p:sp>
        <p:nvSpPr>
          <p:cNvPr id="14" name="Text 11"/>
          <p:cNvSpPr txBox="1"/>
          <p:nvPr/>
        </p:nvSpPr>
        <p:spPr>
          <a:xfrm>
            <a:off x="3511296" y="320954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Colisión directa entre ellos · p. 56</a:t>
            </a:r>
            <a:endParaRPr lang="en-US" sz="950" dirty="0"/>
          </a:p>
        </p:txBody>
      </p:sp>
      <p:sp>
        <p:nvSpPr>
          <p:cNvPr id="15" name="Shape 12"/>
          <p:cNvSpPr/>
          <p:nvPr/>
        </p:nvSpPr>
        <p:spPr>
          <a:xfrm>
            <a:off x="841248" y="3621024"/>
            <a:ext cx="109728" cy="109728"/>
          </a:xfrm>
          <a:prstGeom prst="ellipse">
            <a:avLst/>
          </a:prstGeom>
          <a:solidFill>
            <a:srgbClr val="00807E"/>
          </a:solidFill>
          <a:ln/>
        </p:spPr>
      </p:sp>
      <p:sp>
        <p:nvSpPr>
          <p:cNvPr id="16" name="Text 13"/>
          <p:cNvSpPr txBox="1"/>
          <p:nvPr/>
        </p:nvSpPr>
        <p:spPr>
          <a:xfrm>
            <a:off x="1060704" y="3547872"/>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third-vehicle-identified-…</a:t>
            </a:r>
            <a:endParaRPr lang="en-US" sz="950" dirty="0"/>
          </a:p>
        </p:txBody>
      </p:sp>
      <p:sp>
        <p:nvSpPr>
          <p:cNvPr id="17" name="Text 14"/>
          <p:cNvSpPr txBox="1"/>
          <p:nvPr/>
        </p:nvSpPr>
        <p:spPr>
          <a:xfrm>
            <a:off x="3511296" y="355701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Un tercero identificado lo excluye</a:t>
            </a:r>
            <a:endParaRPr lang="en-US" sz="950" dirty="0"/>
          </a:p>
        </p:txBody>
      </p:sp>
      <p:sp>
        <p:nvSpPr>
          <p:cNvPr id="18" name="Shape 15"/>
          <p:cNvSpPr/>
          <p:nvPr/>
        </p:nvSpPr>
        <p:spPr>
          <a:xfrm>
            <a:off x="841248" y="3968496"/>
            <a:ext cx="109728" cy="109728"/>
          </a:xfrm>
          <a:prstGeom prst="ellipse">
            <a:avLst/>
          </a:prstGeom>
          <a:solidFill>
            <a:srgbClr val="00807E"/>
          </a:solidFill>
          <a:ln/>
        </p:spPr>
      </p:sp>
      <p:sp>
        <p:nvSpPr>
          <p:cNvPr id="19" name="Text 16"/>
          <p:cNvSpPr txBox="1"/>
          <p:nvPr/>
        </p:nvSpPr>
        <p:spPr>
          <a:xfrm>
            <a:off x="1060704" y="3895344"/>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chain-collision-excludes-…</a:t>
            </a:r>
            <a:endParaRPr lang="en-US" sz="950" dirty="0"/>
          </a:p>
        </p:txBody>
      </p:sp>
      <p:sp>
        <p:nvSpPr>
          <p:cNvPr id="20" name="Text 17"/>
          <p:cNvSpPr txBox="1"/>
          <p:nvPr/>
        </p:nvSpPr>
        <p:spPr>
          <a:xfrm>
            <a:off x="3511296" y="3904488"/>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Colisión en cadena excluida · p. 57</a:t>
            </a:r>
            <a:endParaRPr lang="en-US" sz="950" dirty="0"/>
          </a:p>
        </p:txBody>
      </p:sp>
      <p:sp>
        <p:nvSpPr>
          <p:cNvPr id="21" name="Shape 18"/>
          <p:cNvSpPr/>
          <p:nvPr/>
        </p:nvSpPr>
        <p:spPr>
          <a:xfrm>
            <a:off x="841248" y="4315968"/>
            <a:ext cx="109728" cy="109728"/>
          </a:xfrm>
          <a:prstGeom prst="ellipse">
            <a:avLst/>
          </a:prstGeom>
          <a:solidFill>
            <a:srgbClr val="00807E"/>
          </a:solidFill>
          <a:ln/>
        </p:spPr>
      </p:sp>
      <p:sp>
        <p:nvSpPr>
          <p:cNvPr id="22" name="Text 19"/>
          <p:cNvSpPr txBox="1"/>
          <p:nvPr/>
        </p:nvSpPr>
        <p:spPr>
          <a:xfrm>
            <a:off x="1060704" y="4242816"/>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alcohol-does-not-exclude-…</a:t>
            </a:r>
            <a:endParaRPr lang="en-US" sz="950" dirty="0"/>
          </a:p>
        </p:txBody>
      </p:sp>
      <p:sp>
        <p:nvSpPr>
          <p:cNvPr id="23" name="Text 20"/>
          <p:cNvSpPr txBox="1"/>
          <p:nvPr/>
        </p:nvSpPr>
        <p:spPr>
          <a:xfrm>
            <a:off x="3511296" y="4251960"/>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El alcohol no excluye · p. 9</a:t>
            </a:r>
            <a:endParaRPr lang="en-US" sz="950" dirty="0"/>
          </a:p>
        </p:txBody>
      </p:sp>
      <p:sp>
        <p:nvSpPr>
          <p:cNvPr id="24" name="Shape 21"/>
          <p:cNvSpPr/>
          <p:nvPr/>
        </p:nvSpPr>
        <p:spPr>
          <a:xfrm>
            <a:off x="841248" y="4663440"/>
            <a:ext cx="109728" cy="109728"/>
          </a:xfrm>
          <a:prstGeom prst="ellipse">
            <a:avLst/>
          </a:prstGeom>
          <a:solidFill>
            <a:srgbClr val="8296AC"/>
          </a:solidFill>
          <a:ln/>
        </p:spPr>
      </p:sp>
      <p:sp>
        <p:nvSpPr>
          <p:cNvPr id="25" name="Text 22"/>
          <p:cNvSpPr txBox="1"/>
          <p:nvPr/>
        </p:nvSpPr>
        <p:spPr>
          <a:xfrm>
            <a:off x="1060704" y="459028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convention-scope</a:t>
            </a:r>
            <a:endParaRPr lang="en-US" sz="950" dirty="0"/>
          </a:p>
        </p:txBody>
      </p:sp>
      <p:sp>
        <p:nvSpPr>
          <p:cNvPr id="26" name="Text 23"/>
          <p:cNvSpPr txBox="1"/>
          <p:nvPr/>
        </p:nvSpPr>
        <p:spPr>
          <a:xfrm>
            <a:off x="3511296" y="459943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Ámbito: no es regla de decisión</a:t>
            </a:r>
            <a:endParaRPr lang="en-US" sz="950" dirty="0"/>
          </a:p>
        </p:txBody>
      </p:sp>
      <p:sp>
        <p:nvSpPr>
          <p:cNvPr id="27" name="Shape 24"/>
          <p:cNvSpPr/>
          <p:nvPr/>
        </p:nvSpPr>
        <p:spPr>
          <a:xfrm>
            <a:off x="6259982" y="2286000"/>
            <a:ext cx="5363870" cy="3401568"/>
          </a:xfrm>
          <a:prstGeom prst="roundRect">
            <a:avLst>
              <a:gd name="adj" fmla="val 268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6534302" y="2505456"/>
            <a:ext cx="481523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NORMAS SUBSIDIARIAS Y TABLA DE CULPABILIDAD</a:t>
            </a:r>
            <a:endParaRPr lang="en-US" sz="950" dirty="0"/>
          </a:p>
        </p:txBody>
      </p:sp>
      <p:sp>
        <p:nvSpPr>
          <p:cNvPr id="29" name="Shape 26"/>
          <p:cNvSpPr/>
          <p:nvPr/>
        </p:nvSpPr>
        <p:spPr>
          <a:xfrm>
            <a:off x="6534302" y="2926080"/>
            <a:ext cx="109728" cy="109728"/>
          </a:xfrm>
          <a:prstGeom prst="ellipse">
            <a:avLst/>
          </a:prstGeom>
          <a:solidFill>
            <a:srgbClr val="00807E"/>
          </a:solidFill>
          <a:ln/>
        </p:spPr>
      </p:sp>
      <p:sp>
        <p:nvSpPr>
          <p:cNvPr id="30" name="Text 27"/>
          <p:cNvSpPr txBox="1"/>
          <p:nvPr/>
        </p:nvSpPr>
        <p:spPr>
          <a:xfrm>
            <a:off x="6753758" y="285292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ascide-b5-parked-vehicle</a:t>
            </a:r>
            <a:endParaRPr lang="en-US" sz="950" dirty="0"/>
          </a:p>
        </p:txBody>
      </p:sp>
      <p:sp>
        <p:nvSpPr>
          <p:cNvPr id="31" name="Text 28"/>
          <p:cNvSpPr txBox="1"/>
          <p:nvPr/>
        </p:nvSpPr>
        <p:spPr>
          <a:xfrm>
            <a:off x="9204350" y="286207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Contra vehículo aparcado</a:t>
            </a:r>
            <a:endParaRPr lang="en-US" sz="950" dirty="0"/>
          </a:p>
        </p:txBody>
      </p:sp>
      <p:sp>
        <p:nvSpPr>
          <p:cNvPr id="32" name="Shape 29"/>
          <p:cNvSpPr/>
          <p:nvPr/>
        </p:nvSpPr>
        <p:spPr>
          <a:xfrm>
            <a:off x="6534302" y="3273552"/>
            <a:ext cx="109728" cy="109728"/>
          </a:xfrm>
          <a:prstGeom prst="ellipse">
            <a:avLst/>
          </a:prstGeom>
          <a:solidFill>
            <a:srgbClr val="00807E"/>
          </a:solidFill>
          <a:ln/>
        </p:spPr>
      </p:sp>
      <p:sp>
        <p:nvSpPr>
          <p:cNvPr id="33" name="Text 30"/>
          <p:cNvSpPr txBox="1"/>
          <p:nvPr/>
        </p:nvSpPr>
        <p:spPr>
          <a:xfrm>
            <a:off x="6753758" y="320040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ascide-b6-exit-from-parking</a:t>
            </a:r>
            <a:endParaRPr lang="en-US" sz="950" dirty="0"/>
          </a:p>
        </p:txBody>
      </p:sp>
      <p:sp>
        <p:nvSpPr>
          <p:cNvPr id="34" name="Text 31"/>
          <p:cNvSpPr txBox="1"/>
          <p:nvPr/>
        </p:nvSpPr>
        <p:spPr>
          <a:xfrm>
            <a:off x="9204350" y="320954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Salida de estacionamiento o garaje</a:t>
            </a:r>
            <a:endParaRPr lang="en-US" sz="950" dirty="0"/>
          </a:p>
        </p:txBody>
      </p:sp>
      <p:sp>
        <p:nvSpPr>
          <p:cNvPr id="35" name="Shape 32"/>
          <p:cNvSpPr/>
          <p:nvPr/>
        </p:nvSpPr>
        <p:spPr>
          <a:xfrm>
            <a:off x="6534302" y="3621024"/>
            <a:ext cx="109728" cy="109728"/>
          </a:xfrm>
          <a:prstGeom prst="ellipse">
            <a:avLst/>
          </a:prstGeom>
          <a:solidFill>
            <a:srgbClr val="00807E"/>
          </a:solidFill>
          <a:ln/>
        </p:spPr>
      </p:sp>
      <p:sp>
        <p:nvSpPr>
          <p:cNvPr id="36" name="Text 33"/>
          <p:cNvSpPr txBox="1"/>
          <p:nvPr/>
        </p:nvSpPr>
        <p:spPr>
          <a:xfrm>
            <a:off x="6753758" y="3547872"/>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ascide-b9-reverse-vs-rear-impact</a:t>
            </a:r>
            <a:endParaRPr lang="en-US" sz="950" dirty="0"/>
          </a:p>
        </p:txBody>
      </p:sp>
      <p:sp>
        <p:nvSpPr>
          <p:cNvPr id="37" name="Text 34"/>
          <p:cNvSpPr txBox="1"/>
          <p:nvPr/>
        </p:nvSpPr>
        <p:spPr>
          <a:xfrm>
            <a:off x="9204350" y="355701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Marcha atrás vs. alcance trasero</a:t>
            </a:r>
            <a:endParaRPr lang="en-US" sz="950" dirty="0"/>
          </a:p>
        </p:txBody>
      </p:sp>
      <p:sp>
        <p:nvSpPr>
          <p:cNvPr id="38" name="Shape 35"/>
          <p:cNvSpPr/>
          <p:nvPr/>
        </p:nvSpPr>
        <p:spPr>
          <a:xfrm>
            <a:off x="6534302" y="3968496"/>
            <a:ext cx="109728" cy="109728"/>
          </a:xfrm>
          <a:prstGeom prst="ellipse">
            <a:avLst/>
          </a:prstGeom>
          <a:solidFill>
            <a:srgbClr val="00807E"/>
          </a:solidFill>
          <a:ln/>
        </p:spPr>
      </p:sp>
      <p:sp>
        <p:nvSpPr>
          <p:cNvPr id="39" name="Text 36"/>
          <p:cNvSpPr txBox="1"/>
          <p:nvPr/>
        </p:nvSpPr>
        <p:spPr>
          <a:xfrm>
            <a:off x="6753758" y="3895344"/>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ascide-b10-lane-change</a:t>
            </a:r>
            <a:endParaRPr lang="en-US" sz="950" dirty="0"/>
          </a:p>
        </p:txBody>
      </p:sp>
      <p:sp>
        <p:nvSpPr>
          <p:cNvPr id="40" name="Text 37"/>
          <p:cNvSpPr txBox="1"/>
          <p:nvPr/>
        </p:nvSpPr>
        <p:spPr>
          <a:xfrm>
            <a:off x="9204350" y="3904488"/>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Cambio de carril · p. 75</a:t>
            </a:r>
            <a:endParaRPr lang="en-US" sz="950" dirty="0"/>
          </a:p>
        </p:txBody>
      </p:sp>
      <p:sp>
        <p:nvSpPr>
          <p:cNvPr id="41" name="Shape 38"/>
          <p:cNvSpPr/>
          <p:nvPr/>
        </p:nvSpPr>
        <p:spPr>
          <a:xfrm>
            <a:off x="6534302" y="4315968"/>
            <a:ext cx="109728" cy="109728"/>
          </a:xfrm>
          <a:prstGeom prst="ellipse">
            <a:avLst/>
          </a:prstGeom>
          <a:solidFill>
            <a:srgbClr val="00807E"/>
          </a:solidFill>
          <a:ln/>
        </p:spPr>
      </p:sp>
      <p:sp>
        <p:nvSpPr>
          <p:cNvPr id="42" name="Text 39"/>
          <p:cNvSpPr txBox="1"/>
          <p:nvPr/>
        </p:nvSpPr>
        <p:spPr>
          <a:xfrm>
            <a:off x="6753758" y="4242816"/>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ascide-traffic-light-amber</a:t>
            </a:r>
            <a:endParaRPr lang="en-US" sz="950" dirty="0"/>
          </a:p>
        </p:txBody>
      </p:sp>
      <p:sp>
        <p:nvSpPr>
          <p:cNvPr id="43" name="Text 40"/>
          <p:cNvSpPr txBox="1"/>
          <p:nvPr/>
        </p:nvSpPr>
        <p:spPr>
          <a:xfrm>
            <a:off x="9204350" y="4251960"/>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Paso en ámbar admitido</a:t>
            </a:r>
            <a:endParaRPr lang="en-US" sz="950" dirty="0"/>
          </a:p>
        </p:txBody>
      </p:sp>
      <p:sp>
        <p:nvSpPr>
          <p:cNvPr id="44" name="Shape 41"/>
          <p:cNvSpPr/>
          <p:nvPr/>
        </p:nvSpPr>
        <p:spPr>
          <a:xfrm>
            <a:off x="6534302" y="4663440"/>
            <a:ext cx="109728" cy="109728"/>
          </a:xfrm>
          <a:prstGeom prst="ellipse">
            <a:avLst/>
          </a:prstGeom>
          <a:solidFill>
            <a:srgbClr val="00807E"/>
          </a:solidFill>
          <a:ln/>
        </p:spPr>
      </p:sp>
      <p:sp>
        <p:nvSpPr>
          <p:cNvPr id="45" name="Text 42"/>
          <p:cNvSpPr txBox="1"/>
          <p:nvPr/>
        </p:nvSpPr>
        <p:spPr>
          <a:xfrm>
            <a:off x="6753758" y="459028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cide-door-opening</a:t>
            </a:r>
            <a:endParaRPr lang="en-US" sz="950" dirty="0"/>
          </a:p>
        </p:txBody>
      </p:sp>
      <p:sp>
        <p:nvSpPr>
          <p:cNvPr id="46" name="Text 43"/>
          <p:cNvSpPr txBox="1"/>
          <p:nvPr/>
        </p:nvSpPr>
        <p:spPr>
          <a:xfrm>
            <a:off x="9204350" y="459943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Apertura de puertas sin precisar</a:t>
            </a:r>
            <a:endParaRPr lang="en-US" sz="950" dirty="0"/>
          </a:p>
        </p:txBody>
      </p:sp>
      <p:sp>
        <p:nvSpPr>
          <p:cNvPr id="47" name="Shape 44"/>
          <p:cNvSpPr/>
          <p:nvPr/>
        </p:nvSpPr>
        <p:spPr>
          <a:xfrm>
            <a:off x="6534302" y="5010912"/>
            <a:ext cx="109728" cy="109728"/>
          </a:xfrm>
          <a:prstGeom prst="ellipse">
            <a:avLst/>
          </a:prstGeom>
          <a:solidFill>
            <a:srgbClr val="00807E"/>
          </a:solidFill>
          <a:ln/>
        </p:spPr>
      </p:sp>
      <p:sp>
        <p:nvSpPr>
          <p:cNvPr id="48" name="Text 45"/>
          <p:cNvSpPr txBox="1"/>
          <p:nvPr/>
        </p:nvSpPr>
        <p:spPr>
          <a:xfrm>
            <a:off x="6753758" y="493776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cide-matrix-lookup</a:t>
            </a:r>
            <a:endParaRPr lang="en-US" sz="950" dirty="0"/>
          </a:p>
        </p:txBody>
      </p:sp>
      <p:sp>
        <p:nvSpPr>
          <p:cNvPr id="49" name="Text 46"/>
          <p:cNvSpPr txBox="1"/>
          <p:nvPr/>
        </p:nvSpPr>
        <p:spPr>
          <a:xfrm>
            <a:off x="9204350" y="494690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324 celdas de la tabla · p. 101</a:t>
            </a:r>
            <a:endParaRPr lang="en-US" sz="950" dirty="0"/>
          </a:p>
        </p:txBody>
      </p:sp>
      <p:sp>
        <p:nvSpPr>
          <p:cNvPr id="50" name="Shape 47"/>
          <p:cNvSpPr/>
          <p:nvPr/>
        </p:nvSpPr>
        <p:spPr>
          <a:xfrm>
            <a:off x="6534302" y="5358384"/>
            <a:ext cx="109728" cy="109728"/>
          </a:xfrm>
          <a:prstGeom prst="ellipse">
            <a:avLst/>
          </a:prstGeom>
          <a:solidFill>
            <a:srgbClr val="A63F38"/>
          </a:solidFill>
          <a:ln/>
        </p:spPr>
      </p:sp>
      <p:sp>
        <p:nvSpPr>
          <p:cNvPr id="51" name="Text 48"/>
          <p:cNvSpPr txBox="1"/>
          <p:nvPr/>
        </p:nvSpPr>
        <p:spPr>
          <a:xfrm>
            <a:off x="6753758" y="5285232"/>
            <a:ext cx="2377440" cy="219456"/>
          </a:xfrm>
          <a:prstGeom prst="rect">
            <a:avLst/>
          </a:prstGeom>
          <a:noFill/>
          <a:ln/>
        </p:spPr>
        <p:txBody>
          <a:bodyPr wrap="square" lIns="0" tIns="0" rIns="0" bIns="0" rtlCol="0" anchor="t"/>
          <a:lstStyle/>
          <a:p>
            <a:pPr indent="0" marL="0">
              <a:buNone/>
            </a:pPr>
            <a:r>
              <a:rPr lang="en-US" sz="950" dirty="0">
                <a:solidFill>
                  <a:srgbClr val="A63F38"/>
                </a:solidFill>
                <a:latin typeface="Courier New" pitchFamily="34" charset="0"/>
                <a:ea typeface="Courier New" pitchFamily="34" charset="-122"/>
                <a:cs typeface="Courier New" pitchFamily="34" charset="-120"/>
              </a:rPr>
              <a:t>ascide-b11-roundabout</a:t>
            </a:r>
            <a:endParaRPr lang="en-US" sz="950" dirty="0"/>
          </a:p>
        </p:txBody>
      </p:sp>
      <p:sp>
        <p:nvSpPr>
          <p:cNvPr id="52" name="Text 49"/>
          <p:cNvSpPr txBox="1"/>
          <p:nvPr/>
        </p:nvSpPr>
        <p:spPr>
          <a:xfrm>
            <a:off x="9204350" y="529437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Rotondas · pendiente</a:t>
            </a:r>
            <a:endParaRPr lang="en-US" sz="950" dirty="0"/>
          </a:p>
        </p:txBody>
      </p:sp>
      <p:sp>
        <p:nvSpPr>
          <p:cNvPr id="53" name="Shape 50"/>
          <p:cNvSpPr/>
          <p:nvPr/>
        </p:nvSpPr>
        <p:spPr>
          <a:xfrm>
            <a:off x="603504" y="5175504"/>
            <a:ext cx="109728" cy="109728"/>
          </a:xfrm>
          <a:prstGeom prst="ellipse">
            <a:avLst/>
          </a:prstGeom>
          <a:solidFill>
            <a:srgbClr val="00807E"/>
          </a:solidFill>
          <a:ln/>
        </p:spPr>
      </p:sp>
      <p:sp>
        <p:nvSpPr>
          <p:cNvPr id="54" name="Text 51"/>
          <p:cNvSpPr txBox="1"/>
          <p:nvPr/>
        </p:nvSpPr>
        <p:spPr>
          <a:xfrm>
            <a:off x="80467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Decide hoy</a:t>
            </a:r>
            <a:endParaRPr lang="en-US" sz="1050" dirty="0"/>
          </a:p>
        </p:txBody>
      </p:sp>
      <p:sp>
        <p:nvSpPr>
          <p:cNvPr id="55" name="Shape 52"/>
          <p:cNvSpPr/>
          <p:nvPr/>
        </p:nvSpPr>
        <p:spPr>
          <a:xfrm>
            <a:off x="1792224" y="5175504"/>
            <a:ext cx="109728" cy="109728"/>
          </a:xfrm>
          <a:prstGeom prst="ellipse">
            <a:avLst/>
          </a:prstGeom>
          <a:solidFill>
            <a:srgbClr val="A63F38"/>
          </a:solidFill>
          <a:ln/>
        </p:spPr>
      </p:sp>
      <p:sp>
        <p:nvSpPr>
          <p:cNvPr id="56" name="Text 53"/>
          <p:cNvSpPr txBox="1"/>
          <p:nvPr/>
        </p:nvSpPr>
        <p:spPr>
          <a:xfrm>
            <a:off x="199339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Sin condición verificable</a:t>
            </a:r>
            <a:endParaRPr lang="en-US" sz="1050" dirty="0"/>
          </a:p>
        </p:txBody>
      </p:sp>
      <p:sp>
        <p:nvSpPr>
          <p:cNvPr id="57" name="Shape 54"/>
          <p:cNvSpPr/>
          <p:nvPr/>
        </p:nvSpPr>
        <p:spPr>
          <a:xfrm>
            <a:off x="3621024" y="5175504"/>
            <a:ext cx="109728" cy="109728"/>
          </a:xfrm>
          <a:prstGeom prst="ellipse">
            <a:avLst/>
          </a:prstGeom>
          <a:solidFill>
            <a:srgbClr val="8296AC"/>
          </a:solidFill>
          <a:ln/>
        </p:spPr>
      </p:sp>
      <p:sp>
        <p:nvSpPr>
          <p:cNvPr id="58" name="Text 55"/>
          <p:cNvSpPr txBox="1"/>
          <p:nvPr/>
        </p:nvSpPr>
        <p:spPr>
          <a:xfrm>
            <a:off x="382219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No es regla de decisión</a:t>
            </a:r>
            <a:endParaRPr lang="en-US" sz="1050" dirty="0"/>
          </a:p>
        </p:txBody>
      </p:sp>
      <p:sp>
        <p:nvSpPr>
          <p:cNvPr id="59" name="Shape 56"/>
          <p:cNvSpPr/>
          <p:nvPr/>
        </p:nvSpPr>
        <p:spPr>
          <a:xfrm>
            <a:off x="566928" y="5852160"/>
            <a:ext cx="11057839" cy="493776"/>
          </a:xfrm>
          <a:prstGeom prst="roundRect">
            <a:avLst>
              <a:gd name="adj" fmla="val 16667"/>
            </a:avLst>
          </a:prstGeom>
          <a:solidFill>
            <a:srgbClr val="003781"/>
          </a:solidFill>
          <a:ln/>
        </p:spPr>
      </p:sp>
      <p:sp>
        <p:nvSpPr>
          <p:cNvPr id="60" name="Text 57"/>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Falta b.11 (rotondas): su excepción no retira la atribución, la sustituye por otra — exige una segunda regla mutuamente excluyente, no rellenar un predicado. Mientras tanto devuelve insufficient_data de forma explícita, nunca como si hubiera casado.</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6540703" y="1408176"/>
            <a:ext cx="5138928" cy="3235396"/>
          </a:xfrm>
          <a:prstGeom prst="roundRect">
            <a:avLst>
              <a:gd name="adj" fmla="val 2261"/>
            </a:avLst>
          </a:prstGeom>
          <a:solidFill>
            <a:srgbClr val="2D639F"/>
          </a:solidFill>
          <a:ln/>
        </p:spPr>
      </p:sp>
      <p:pic>
        <p:nvPicPr>
          <p:cNvPr id="3" name="Image 0" descr="/Users/aoc/proyectos/prueba-allianz/docs/entrega/deck/assets/ui-empty.png">    </p:cNvPr>
          <p:cNvPicPr>
            <a:picLocks noChangeAspect="1"/>
          </p:cNvPicPr>
          <p:nvPr/>
        </p:nvPicPr>
        <p:blipFill>
          <a:blip r:embed="rId1"/>
          <a:stretch>
            <a:fillRect/>
          </a:stretch>
        </p:blipFill>
        <p:spPr>
          <a:xfrm>
            <a:off x="6595567" y="1463040"/>
            <a:ext cx="5029200" cy="3125668"/>
          </a:xfrm>
          <a:prstGeom prst="rect">
            <a:avLst/>
          </a:prstGeom>
        </p:spPr>
      </p:pic>
      <p:sp>
        <p:nvSpPr>
          <p:cNvPr id="4" name="Shape 1"/>
          <p:cNvSpPr/>
          <p:nvPr/>
        </p:nvSpPr>
        <p:spPr>
          <a:xfrm>
            <a:off x="10234879" y="256032"/>
            <a:ext cx="1389888" cy="384048"/>
          </a:xfrm>
          <a:prstGeom prst="roundRect">
            <a:avLst>
              <a:gd name="adj" fmla="val 19048"/>
            </a:avLst>
          </a:prstGeom>
          <a:solidFill>
            <a:srgbClr val="FFFFFF"/>
          </a:solidFill>
          <a:ln/>
        </p:spPr>
      </p:sp>
      <p:pic>
        <p:nvPicPr>
          <p:cNvPr id="5" name="Image 1" descr="/Users/aoc/proyectos/prueba-allianz/docs/entrega/deck/assets/allianz-logo.png">    </p:cNvPr>
          <p:cNvPicPr>
            <a:picLocks noChangeAspect="1"/>
          </p:cNvPicPr>
          <p:nvPr/>
        </p:nvPicPr>
        <p:blipFill>
          <a:blip r:embed="rId2"/>
          <a:srcRect l="0" r="0" t="0" b="0"/>
          <a:stretch/>
        </p:blipFill>
        <p:spPr>
          <a:xfrm>
            <a:off x="10344607" y="329184"/>
            <a:ext cx="1170432" cy="237744"/>
          </a:xfrm>
          <a:prstGeom prst="rect">
            <a:avLst/>
          </a:prstGeom>
        </p:spPr>
      </p:pic>
      <p:sp>
        <p:nvSpPr>
          <p:cNvPr id="6"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27</a:t>
            </a:r>
            <a:endParaRPr lang="en-US" sz="950" dirty="0"/>
          </a:p>
        </p:txBody>
      </p:sp>
      <p:sp>
        <p:nvSpPr>
          <p:cNvPr id="7" name="Text 3"/>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04</a:t>
            </a:r>
            <a:endParaRPr lang="en-US" sz="9200" dirty="0"/>
          </a:p>
        </p:txBody>
      </p:sp>
      <p:sp>
        <p:nvSpPr>
          <p:cNvPr id="8" name="Text 4"/>
          <p:cNvSpPr txBox="1"/>
          <p:nvPr/>
        </p:nvSpPr>
        <p:spPr>
          <a:xfrm>
            <a:off x="2304288" y="2359152"/>
            <a:ext cx="438912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Demo en vivo</a:t>
            </a:r>
            <a:endParaRPr lang="en-US" sz="3600" dirty="0"/>
          </a:p>
        </p:txBody>
      </p:sp>
      <p:sp>
        <p:nvSpPr>
          <p:cNvPr id="9" name="Text 5"/>
          <p:cNvSpPr txBox="1"/>
          <p:nvPr/>
        </p:nvSpPr>
        <p:spPr>
          <a:xfrm>
            <a:off x="2304288" y="3236976"/>
            <a:ext cx="420624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Cuatro recorridos sobre el sistema real, en local.</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Lo que hay que creerse no son las láminas.</a:t>
            </a:r>
            <a:endParaRPr lang="en-US" sz="1500" dirty="0"/>
          </a:p>
        </p:txBody>
      </p:sp>
      <p:sp>
        <p:nvSpPr>
          <p:cNvPr id="10" name="Shape 6"/>
          <p:cNvSpPr/>
          <p:nvPr/>
        </p:nvSpPr>
        <p:spPr>
          <a:xfrm>
            <a:off x="566928" y="5431536"/>
            <a:ext cx="2065264" cy="566928"/>
          </a:xfrm>
          <a:prstGeom prst="roundRect">
            <a:avLst>
              <a:gd name="adj" fmla="val 14516"/>
            </a:avLst>
          </a:prstGeom>
          <a:solidFill>
            <a:srgbClr val="002A5E"/>
          </a:solidFill>
          <a:ln/>
        </p:spPr>
      </p:sp>
      <p:sp>
        <p:nvSpPr>
          <p:cNvPr id="11" name="Text 7"/>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8"/>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9"/>
          <p:cNvSpPr/>
          <p:nvPr/>
        </p:nvSpPr>
        <p:spPr>
          <a:xfrm>
            <a:off x="2778496" y="5431536"/>
            <a:ext cx="2065264" cy="566928"/>
          </a:xfrm>
          <a:prstGeom prst="roundRect">
            <a:avLst>
              <a:gd name="adj" fmla="val 14516"/>
            </a:avLst>
          </a:prstGeom>
          <a:solidFill>
            <a:srgbClr val="002A5E"/>
          </a:solidFill>
          <a:ln/>
        </p:spPr>
      </p:sp>
      <p:sp>
        <p:nvSpPr>
          <p:cNvPr id="14" name="Text 10"/>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1"/>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2"/>
          <p:cNvSpPr/>
          <p:nvPr/>
        </p:nvSpPr>
        <p:spPr>
          <a:xfrm>
            <a:off x="4990064" y="5431536"/>
            <a:ext cx="2065264" cy="566928"/>
          </a:xfrm>
          <a:prstGeom prst="roundRect">
            <a:avLst>
              <a:gd name="adj" fmla="val 14516"/>
            </a:avLst>
          </a:prstGeom>
          <a:solidFill>
            <a:srgbClr val="002A5E"/>
          </a:solidFill>
          <a:ln/>
        </p:spPr>
      </p:sp>
      <p:sp>
        <p:nvSpPr>
          <p:cNvPr id="17" name="Text 13"/>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4"/>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5"/>
          <p:cNvSpPr/>
          <p:nvPr/>
        </p:nvSpPr>
        <p:spPr>
          <a:xfrm>
            <a:off x="7201632" y="5431536"/>
            <a:ext cx="2065264" cy="566928"/>
          </a:xfrm>
          <a:prstGeom prst="roundRect">
            <a:avLst>
              <a:gd name="adj" fmla="val 14516"/>
            </a:avLst>
          </a:prstGeom>
          <a:solidFill>
            <a:srgbClr val="0A3E7A"/>
          </a:solidFill>
          <a:ln/>
        </p:spPr>
      </p:sp>
      <p:sp>
        <p:nvSpPr>
          <p:cNvPr id="20" name="Text 16"/>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04</a:t>
            </a:r>
            <a:endParaRPr lang="en-US" sz="1100" dirty="0"/>
          </a:p>
        </p:txBody>
      </p:sp>
      <p:sp>
        <p:nvSpPr>
          <p:cNvPr id="21" name="Text 17"/>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Demo en vivo</a:t>
            </a:r>
            <a:endParaRPr lang="en-US" sz="1150" dirty="0"/>
          </a:p>
        </p:txBody>
      </p:sp>
      <p:sp>
        <p:nvSpPr>
          <p:cNvPr id="22" name="Shape 18"/>
          <p:cNvSpPr/>
          <p:nvPr/>
        </p:nvSpPr>
        <p:spPr>
          <a:xfrm>
            <a:off x="9413199" y="5431536"/>
            <a:ext cx="2065264" cy="566928"/>
          </a:xfrm>
          <a:prstGeom prst="roundRect">
            <a:avLst>
              <a:gd name="adj" fmla="val 14516"/>
            </a:avLst>
          </a:prstGeom>
          <a:solidFill>
            <a:srgbClr val="002A5E"/>
          </a:solidFill>
          <a:ln/>
        </p:spPr>
      </p:sp>
      <p:sp>
        <p:nvSpPr>
          <p:cNvPr id="23" name="Text 19"/>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0"/>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28</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1</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Enrutado y consulta documental</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«¿Qué establece el manual sobre la alcoholemia?»</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El modo se detecta solo</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 interfaz declara «Consulta del manual» antes de responder. El usuario ve por qué recorrido va, siempre.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respuesta llega por bloques</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Y cada bloque trae su cita. No hay un párrafo con una bibliografía al final.</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cita abre el manual</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Se pulsa y aparece el PDF original por la página 9, junto a la respuesta, sin salir de la conversación.</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 el recorrido más sencillo y ya enseña las tres garantías: recorrido explícito, cita por afirmación y evidencia abrible.</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29</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2</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El siniestro que sí se resuelve</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Caso de demo accident-04-lane-change-es · cambio de carril con versiones opuestas</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Hechos extraídos, con atribución</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lane_change_acknowledged_by_both, contradictory_versions, lane_change_vehicle — cada uno con el texto literal del relato que lo sostiene.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tarjeta «Reglas evaluadas»</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Enseña las que casan y también las que no casan, con el motivo. La ausencia de una regla es información.</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Decisión: resuelto</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Convenio aplicable · ASCIDE · responde el vehículo A, citando la norma subsidiaria b.10 en la página 75.</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Éste es el único de los cinco casos del enunciado que se resuelve con lo que el propio relato aporta. Y se ve por qué.</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30</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3</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Abstenerse con criterio, y pedir el dato exacto</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accident-02-pile-up-es · la tabla de culpabilidad con A2 + B4 · una pregunta fuera de alcance</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Fuera del Convenio, con fundamento</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 colisión múltiple se declara no aplicable citando las páginas 56 y 57. No hay conclusión inventada ni un «depende».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interrupción en directo</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Con A2 y B4 declaradas, el sistema se detiene y pide el hecho de la observación impresa, con su texto literal.</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Las dos ramas de la excepción</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Si abre la puerta el conductor de B, responde B. Si la abre el de A, la excepción retira la atribución y queda indeterminado — sin inventar quién paga.</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Y la pregunta fuera de alcance: el sistema se abstiene sin dar cifras, en vez de improvisar un baremo que el manual no contiene.</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31</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4</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Trazabilidad y operación</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Langfuse local · modo administrador de ingesta</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traza de la ejecución que acaban de ver</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Cada respuesta enlaza a su traza real. Nodos del grafo, llamadas al modelo, coste y latencia por etapa.</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Un hilo, una sesión</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El session_id agrupa todos los pasos de la misma conversación, incluida la interrupción y su reanudación.</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Modo administrador</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Hash verificado, 111 páginas, extracciones publicadas y previsualización paginada de lo que realmente se indexó.</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La misma traza que mira quien opera el sistema es la que alimenta la evaluación. No hay una instrumentación para la demo y otra para producción.</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32</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05</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Evaluación y límites</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110 casos de referencia, un protocolo de medida</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y una lista explícita de lo que este sistema no hace.</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A3E7A"/>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110 casos de referencia construidos contra el manual, no contra el sistema.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enunciado pedía «una evaluación básica de la calidad de las respuestas». La parte difícil no es medir: es tener una referencia en la que se pueda confiar.</a:t>
            </a:r>
            <a:endParaRPr lang="en-US" sz="1350" dirty="0"/>
          </a:p>
        </p:txBody>
      </p:sp>
      <p:sp>
        <p:nvSpPr>
          <p:cNvPr id="7" name="Text 4"/>
          <p:cNvSpPr txBox="1"/>
          <p:nvPr/>
        </p:nvSpPr>
        <p:spPr>
          <a:xfrm>
            <a:off x="566928" y="2249424"/>
            <a:ext cx="2560320" cy="603504"/>
          </a:xfrm>
          <a:prstGeom prst="rect">
            <a:avLst/>
          </a:prstGeom>
          <a:noFill/>
          <a:ln/>
        </p:spPr>
        <p:txBody>
          <a:bodyPr wrap="square" lIns="0" tIns="0" rIns="0" bIns="0" rtlCol="0" anchor="t"/>
          <a:lstStyle/>
          <a:p>
            <a:pPr indent="0" marL="0">
              <a:buNone/>
            </a:pPr>
            <a:r>
              <a:rPr lang="en-US" sz="3800" b="1" dirty="0">
                <a:solidFill>
                  <a:srgbClr val="003781"/>
                </a:solidFill>
                <a:latin typeface="Arial" pitchFamily="34" charset="0"/>
                <a:ea typeface="Arial" pitchFamily="34" charset="-122"/>
                <a:cs typeface="Arial" pitchFamily="34" charset="-120"/>
              </a:rPr>
              <a:t>110</a:t>
            </a:r>
            <a:endParaRPr lang="en-US" sz="3800" dirty="0"/>
          </a:p>
        </p:txBody>
      </p:sp>
      <p:sp>
        <p:nvSpPr>
          <p:cNvPr id="8" name="Text 5"/>
          <p:cNvSpPr txBox="1"/>
          <p:nvPr/>
        </p:nvSpPr>
        <p:spPr>
          <a:xfrm>
            <a:off x="56692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casos admitidos</a:t>
            </a:r>
            <a:endParaRPr lang="en-US" sz="1150" dirty="0"/>
          </a:p>
        </p:txBody>
      </p:sp>
      <p:sp>
        <p:nvSpPr>
          <p:cNvPr id="9" name="Text 6"/>
          <p:cNvSpPr txBox="1"/>
          <p:nvPr/>
        </p:nvSpPr>
        <p:spPr>
          <a:xfrm>
            <a:off x="3355848" y="2249424"/>
            <a:ext cx="2560320" cy="603504"/>
          </a:xfrm>
          <a:prstGeom prst="rect">
            <a:avLst/>
          </a:prstGeom>
          <a:noFill/>
          <a:ln/>
        </p:spPr>
        <p:txBody>
          <a:bodyPr wrap="square" lIns="0" tIns="0" rIns="0" bIns="0" rtlCol="0" anchor="t"/>
          <a:lstStyle/>
          <a:p>
            <a:pPr indent="0" marL="0">
              <a:buNone/>
            </a:pPr>
            <a:r>
              <a:rPr lang="en-US" sz="3800" b="1" dirty="0">
                <a:solidFill>
                  <a:srgbClr val="0079C1"/>
                </a:solidFill>
                <a:latin typeface="Arial" pitchFamily="34" charset="0"/>
                <a:ea typeface="Arial" pitchFamily="34" charset="-122"/>
                <a:cs typeface="Arial" pitchFamily="34" charset="-120"/>
              </a:rPr>
              <a:t>57 / 53</a:t>
            </a:r>
            <a:endParaRPr lang="en-US" sz="3800" dirty="0"/>
          </a:p>
        </p:txBody>
      </p:sp>
      <p:sp>
        <p:nvSpPr>
          <p:cNvPr id="10" name="Text 7"/>
          <p:cNvSpPr txBox="1"/>
          <p:nvPr/>
        </p:nvSpPr>
        <p:spPr>
          <a:xfrm>
            <a:off x="335584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siniestros / consultas</a:t>
            </a:r>
            <a:endParaRPr lang="en-US" sz="1150" dirty="0"/>
          </a:p>
        </p:txBody>
      </p:sp>
      <p:sp>
        <p:nvSpPr>
          <p:cNvPr id="11" name="Text 8"/>
          <p:cNvSpPr txBox="1"/>
          <p:nvPr/>
        </p:nvSpPr>
        <p:spPr>
          <a:xfrm>
            <a:off x="6144768" y="2249424"/>
            <a:ext cx="2560320" cy="603504"/>
          </a:xfrm>
          <a:prstGeom prst="rect">
            <a:avLst/>
          </a:prstGeom>
          <a:noFill/>
          <a:ln/>
        </p:spPr>
        <p:txBody>
          <a:bodyPr wrap="square" lIns="0" tIns="0" rIns="0" bIns="0" rtlCol="0" anchor="t"/>
          <a:lstStyle/>
          <a:p>
            <a:pPr indent="0" marL="0">
              <a:buNone/>
            </a:pPr>
            <a:r>
              <a:rPr lang="en-US" sz="3800" b="1" dirty="0">
                <a:solidFill>
                  <a:srgbClr val="00807E"/>
                </a:solidFill>
                <a:latin typeface="Arial" pitchFamily="34" charset="0"/>
                <a:ea typeface="Arial" pitchFamily="34" charset="-122"/>
                <a:cs typeface="Arial" pitchFamily="34" charset="-120"/>
              </a:rPr>
              <a:t>105</a:t>
            </a:r>
            <a:endParaRPr lang="en-US" sz="3800" dirty="0"/>
          </a:p>
        </p:txBody>
      </p:sp>
      <p:sp>
        <p:nvSpPr>
          <p:cNvPr id="12" name="Text 9"/>
          <p:cNvSpPr txBox="1"/>
          <p:nvPr/>
        </p:nvSpPr>
        <p:spPr>
          <a:xfrm>
            <a:off x="614476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en castellano</a:t>
            </a:r>
            <a:endParaRPr lang="en-US" sz="1150" dirty="0"/>
          </a:p>
        </p:txBody>
      </p:sp>
      <p:sp>
        <p:nvSpPr>
          <p:cNvPr id="13" name="Text 10"/>
          <p:cNvSpPr txBox="1"/>
          <p:nvPr/>
        </p:nvSpPr>
        <p:spPr>
          <a:xfrm>
            <a:off x="8933688" y="2249424"/>
            <a:ext cx="2560320" cy="603504"/>
          </a:xfrm>
          <a:prstGeom prst="rect">
            <a:avLst/>
          </a:prstGeom>
          <a:noFill/>
          <a:ln/>
        </p:spPr>
        <p:txBody>
          <a:bodyPr wrap="square" lIns="0" tIns="0" rIns="0" bIns="0" rtlCol="0" anchor="t"/>
          <a:lstStyle/>
          <a:p>
            <a:pPr indent="0" marL="0">
              <a:buNone/>
            </a:pPr>
            <a:r>
              <a:rPr lang="en-US" sz="3800" b="1" dirty="0">
                <a:solidFill>
                  <a:srgbClr val="A9711A"/>
                </a:solidFill>
                <a:latin typeface="Arial" pitchFamily="34" charset="0"/>
                <a:ea typeface="Arial" pitchFamily="34" charset="-122"/>
                <a:cs typeface="Arial" pitchFamily="34" charset="-120"/>
              </a:rPr>
              <a:t>111</a:t>
            </a:r>
            <a:endParaRPr lang="en-US" sz="3800" dirty="0"/>
          </a:p>
        </p:txBody>
      </p:sp>
      <p:sp>
        <p:nvSpPr>
          <p:cNvPr id="14" name="Text 11"/>
          <p:cNvSpPr txBox="1"/>
          <p:nvPr/>
        </p:nvSpPr>
        <p:spPr>
          <a:xfrm>
            <a:off x="893368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páginas en el pool de evidencia</a:t>
            </a:r>
            <a:endParaRPr lang="en-US" sz="1150" dirty="0"/>
          </a:p>
        </p:txBody>
      </p:sp>
      <p:sp>
        <p:nvSpPr>
          <p:cNvPr id="15" name="Shape 12"/>
          <p:cNvSpPr/>
          <p:nvPr/>
        </p:nvSpPr>
        <p:spPr>
          <a:xfrm>
            <a:off x="566928"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822960"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5 accidentes del enunciado</a:t>
            </a:r>
            <a:endParaRPr lang="en-US" sz="1300" dirty="0"/>
          </a:p>
        </p:txBody>
      </p:sp>
      <p:sp>
        <p:nvSpPr>
          <p:cNvPr id="17" name="Text 14"/>
          <p:cNvSpPr txBox="1"/>
          <p:nvPr/>
        </p:nvSpPr>
        <p:spPr>
          <a:xfrm>
            <a:off x="822960"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Los que adjunta la prueba, resueltos a mano contra el manual. Son el criterio de aceptación, y están en el conjunto desde el primer día.</a:t>
            </a:r>
            <a:endParaRPr lang="en-US" sz="1150" dirty="0"/>
          </a:p>
        </p:txBody>
      </p:sp>
      <p:sp>
        <p:nvSpPr>
          <p:cNvPr id="18" name="Shape 15"/>
          <p:cNvSpPr/>
          <p:nvPr/>
        </p:nvSpPr>
        <p:spPr>
          <a:xfrm>
            <a:off x="4344314"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4600346"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5 variantes en castellano</a:t>
            </a:r>
            <a:endParaRPr lang="en-US" sz="1300" dirty="0"/>
          </a:p>
        </p:txBody>
      </p:sp>
      <p:sp>
        <p:nvSpPr>
          <p:cNvPr id="20" name="Text 17"/>
          <p:cNvSpPr txBox="1"/>
          <p:nvPr/>
        </p:nvSpPr>
        <p:spPr>
          <a:xfrm>
            <a:off x="4600346"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siniestro que se resuelve, el que se excluye, dos consultas documentales y una pregunta que el sistema no debe responder.</a:t>
            </a:r>
            <a:endParaRPr lang="en-US" sz="1150" dirty="0"/>
          </a:p>
        </p:txBody>
      </p:sp>
      <p:sp>
        <p:nvSpPr>
          <p:cNvPr id="21" name="Shape 18"/>
          <p:cNvSpPr/>
          <p:nvPr/>
        </p:nvSpPr>
        <p:spPr>
          <a:xfrm>
            <a:off x="8121701"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8377733"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100 casos sintéticos derivados del manual</a:t>
            </a:r>
            <a:endParaRPr lang="en-US" sz="1300" dirty="0"/>
          </a:p>
        </p:txBody>
      </p:sp>
      <p:sp>
        <p:nvSpPr>
          <p:cNvPr id="23" name="Text 20"/>
          <p:cNvSpPr txBox="1"/>
          <p:nvPr/>
        </p:nvSpPr>
        <p:spPr>
          <a:xfrm>
            <a:off x="8377733"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Mitad consulta y mitad siniestro, cada uno anclado a páginas reales. Generados y después revisados de forma adversarial, no aceptados tal cual.</a:t>
            </a:r>
            <a:endParaRPr lang="en-US" sz="1150" dirty="0"/>
          </a:p>
        </p:txBody>
      </p:sp>
      <p:sp>
        <p:nvSpPr>
          <p:cNvPr id="24" name="Shape 21"/>
          <p:cNvSpPr/>
          <p:nvPr/>
        </p:nvSpPr>
        <p:spPr>
          <a:xfrm>
            <a:off x="566928" y="5285232"/>
            <a:ext cx="11057839" cy="420624"/>
          </a:xfrm>
          <a:prstGeom prst="roundRect">
            <a:avLst>
              <a:gd name="adj" fmla="val 21739"/>
            </a:avLst>
          </a:prstGeom>
          <a:solidFill>
            <a:srgbClr val="E6F0F9"/>
          </a:solidFill>
          <a:ln/>
        </p:spPr>
      </p:sp>
      <p:sp>
        <p:nvSpPr>
          <p:cNvPr id="25" name="Text 22"/>
          <p:cNvSpPr txBox="1"/>
          <p:nvPr/>
        </p:nvSpPr>
        <p:spPr>
          <a:xfrm>
            <a:off x="566928" y="5385816"/>
            <a:ext cx="11057839" cy="256032"/>
          </a:xfrm>
          <a:prstGeom prst="rect">
            <a:avLst/>
          </a:prstGeom>
          <a:noFill/>
          <a:ln/>
        </p:spPr>
        <p:txBody>
          <a:bodyPr wrap="square" lIns="0" tIns="0" rIns="0" bIns="0" rtlCol="0" anchor="t"/>
          <a:lstStyle/>
          <a:p>
            <a:pPr algn="ctr" indent="0" marL="0">
              <a:buNone/>
            </a:pPr>
            <a:r>
              <a:rPr lang="en-US" sz="950" dirty="0">
                <a:solidFill>
                  <a:srgbClr val="003781"/>
                </a:solidFill>
                <a:latin typeface="Courier New" pitchFamily="34" charset="0"/>
                <a:ea typeface="Courier New" pitchFamily="34" charset="-122"/>
                <a:cs typeface="Courier New" pitchFamily="34" charset="-120"/>
              </a:rPr>
              <a:t>release synthetic-expansion-110-2026-09-03   ·   allianz golden validate → errors: [], item_count: 110</a:t>
            </a:r>
            <a:endParaRPr lang="en-US" sz="950" dirty="0"/>
          </a:p>
        </p:txBody>
      </p:sp>
      <p:sp>
        <p:nvSpPr>
          <p:cNvPr id="26" name="Shape 23"/>
          <p:cNvSpPr/>
          <p:nvPr/>
        </p:nvSpPr>
        <p:spPr>
          <a:xfrm>
            <a:off x="566928" y="5852160"/>
            <a:ext cx="11057839" cy="493776"/>
          </a:xfrm>
          <a:prstGeom prst="roundRect">
            <a:avLst>
              <a:gd name="adj" fmla="val 16667"/>
            </a:avLst>
          </a:prstGeom>
          <a:solidFill>
            <a:srgbClr val="003781"/>
          </a:solidFill>
          <a:ln/>
        </p:spPr>
      </p:sp>
      <p:sp>
        <p:nvSpPr>
          <p:cNvPr id="27" name="Text 2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Cada caso se congela con firma: no se puede «mejorar» el golden después de ver los resultados sin que quede constancia de que se hizo.</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 caso golden no guarda una respuesta: guarda qué debe cumplirse y qué está prohibido.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Comparar cadenas de texto no mide nada en un dominio donde dos redacciones distintas pueden ser igual de correctas. Por eso la referencia es una especificación, no un texto modelo.</a:t>
            </a:r>
            <a:endParaRPr lang="en-US" sz="1350" dirty="0"/>
          </a:p>
        </p:txBody>
      </p:sp>
      <p:sp>
        <p:nvSpPr>
          <p:cNvPr id="7" name="Shape 4"/>
          <p:cNvSpPr/>
          <p:nvPr/>
        </p:nvSpPr>
        <p:spPr>
          <a:xfrm>
            <a:off x="566928" y="2286000"/>
            <a:ext cx="5363870" cy="566928"/>
          </a:xfrm>
          <a:prstGeom prst="roundRect">
            <a:avLst>
              <a:gd name="adj" fmla="val 14516"/>
            </a:avLst>
          </a:prstGeom>
          <a:solidFill>
            <a:srgbClr val="F1F6FC"/>
          </a:solidFill>
          <a:ln/>
        </p:spPr>
      </p:sp>
      <p:sp>
        <p:nvSpPr>
          <p:cNvPr id="8" name="Text 5"/>
          <p:cNvSpPr txBox="1"/>
          <p:nvPr/>
        </p:nvSpPr>
        <p:spPr>
          <a:xfrm>
            <a:off x="786384" y="2368296"/>
            <a:ext cx="2011680" cy="219456"/>
          </a:xfrm>
          <a:prstGeom prst="rect">
            <a:avLst/>
          </a:prstGeom>
          <a:noFill/>
          <a:ln/>
        </p:spPr>
        <p:txBody>
          <a:bodyPr wrap="square" lIns="0" tIns="0" rIns="0" bIns="0" rtlCol="0" anchor="t"/>
          <a:lstStyle/>
          <a:p>
            <a:pPr indent="0" marL="0">
              <a:buNone/>
            </a:pPr>
            <a:r>
              <a:rPr lang="en-US" sz="1050" b="1" dirty="0">
                <a:solidFill>
                  <a:srgbClr val="003781"/>
                </a:solidFill>
                <a:latin typeface="Courier New" pitchFamily="34" charset="0"/>
                <a:ea typeface="Courier New" pitchFamily="34" charset="-122"/>
                <a:cs typeface="Courier New" pitchFamily="34" charset="-120"/>
              </a:rPr>
              <a:t>reference</a:t>
            </a:r>
            <a:endParaRPr lang="en-US" sz="1050" dirty="0"/>
          </a:p>
        </p:txBody>
      </p:sp>
      <p:sp>
        <p:nvSpPr>
          <p:cNvPr id="9" name="Text 6"/>
          <p:cNvSpPr txBox="1"/>
          <p:nvPr/>
        </p:nvSpPr>
        <p:spPr>
          <a:xfrm>
            <a:off x="2852928" y="2359152"/>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La resolución razonada del caso, con las citas del manual que la sostienen paso a paso.</a:t>
            </a:r>
            <a:endParaRPr lang="en-US" sz="1050" dirty="0"/>
          </a:p>
        </p:txBody>
      </p:sp>
      <p:sp>
        <p:nvSpPr>
          <p:cNvPr id="10" name="Shape 7"/>
          <p:cNvSpPr/>
          <p:nvPr/>
        </p:nvSpPr>
        <p:spPr>
          <a:xfrm>
            <a:off x="6259982" y="2286000"/>
            <a:ext cx="5363870" cy="566928"/>
          </a:xfrm>
          <a:prstGeom prst="roundRect">
            <a:avLst>
              <a:gd name="adj" fmla="val 14516"/>
            </a:avLst>
          </a:prstGeom>
          <a:solidFill>
            <a:srgbClr val="F1F6FC"/>
          </a:solidFill>
          <a:ln/>
        </p:spPr>
      </p:sp>
      <p:sp>
        <p:nvSpPr>
          <p:cNvPr id="11" name="Text 8"/>
          <p:cNvSpPr txBox="1"/>
          <p:nvPr/>
        </p:nvSpPr>
        <p:spPr>
          <a:xfrm>
            <a:off x="6479438" y="2368296"/>
            <a:ext cx="2011680" cy="219456"/>
          </a:xfrm>
          <a:prstGeom prst="rect">
            <a:avLst/>
          </a:prstGeom>
          <a:noFill/>
          <a:ln/>
        </p:spPr>
        <p:txBody>
          <a:bodyPr wrap="square" lIns="0" tIns="0" rIns="0" bIns="0" rtlCol="0" anchor="t"/>
          <a:lstStyle/>
          <a:p>
            <a:pPr indent="0" marL="0">
              <a:buNone/>
            </a:pPr>
            <a:r>
              <a:rPr lang="en-US" sz="1050" b="1" dirty="0">
                <a:solidFill>
                  <a:srgbClr val="0079C1"/>
                </a:solidFill>
                <a:latin typeface="Courier New" pitchFamily="34" charset="0"/>
                <a:ea typeface="Courier New" pitchFamily="34" charset="-122"/>
                <a:cs typeface="Courier New" pitchFamily="34" charset="-120"/>
              </a:rPr>
              <a:t>decisions</a:t>
            </a:r>
            <a:endParaRPr lang="en-US" sz="1050" dirty="0"/>
          </a:p>
        </p:txBody>
      </p:sp>
      <p:sp>
        <p:nvSpPr>
          <p:cNvPr id="12" name="Text 9"/>
          <p:cNvSpPr txBox="1"/>
          <p:nvPr/>
        </p:nvSpPr>
        <p:spPr>
          <a:xfrm>
            <a:off x="8545982" y="2359152"/>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Aplicabilidad, convenio y decisión esperada: los tres ejes que un siniestro tiene que fijar.</a:t>
            </a:r>
            <a:endParaRPr lang="en-US" sz="1050" dirty="0"/>
          </a:p>
        </p:txBody>
      </p:sp>
      <p:sp>
        <p:nvSpPr>
          <p:cNvPr id="13" name="Shape 10"/>
          <p:cNvSpPr/>
          <p:nvPr/>
        </p:nvSpPr>
        <p:spPr>
          <a:xfrm>
            <a:off x="566928" y="2980944"/>
            <a:ext cx="5363870" cy="566928"/>
          </a:xfrm>
          <a:prstGeom prst="roundRect">
            <a:avLst>
              <a:gd name="adj" fmla="val 14516"/>
            </a:avLst>
          </a:prstGeom>
          <a:solidFill>
            <a:srgbClr val="F1F6FC"/>
          </a:solidFill>
          <a:ln/>
        </p:spPr>
      </p:sp>
      <p:sp>
        <p:nvSpPr>
          <p:cNvPr id="14" name="Text 11"/>
          <p:cNvSpPr txBox="1"/>
          <p:nvPr/>
        </p:nvSpPr>
        <p:spPr>
          <a:xfrm>
            <a:off x="786384" y="3063240"/>
            <a:ext cx="2011680" cy="219456"/>
          </a:xfrm>
          <a:prstGeom prst="rect">
            <a:avLst/>
          </a:prstGeom>
          <a:noFill/>
          <a:ln/>
        </p:spPr>
        <p:txBody>
          <a:bodyPr wrap="square" lIns="0" tIns="0" rIns="0" bIns="0" rtlCol="0" anchor="t"/>
          <a:lstStyle/>
          <a:p>
            <a:pPr indent="0" marL="0">
              <a:buNone/>
            </a:pPr>
            <a:r>
              <a:rPr lang="en-US" sz="1050" b="1" dirty="0">
                <a:solidFill>
                  <a:srgbClr val="00807E"/>
                </a:solidFill>
                <a:latin typeface="Courier New" pitchFamily="34" charset="0"/>
                <a:ea typeface="Courier New" pitchFamily="34" charset="-122"/>
                <a:cs typeface="Courier New" pitchFamily="34" charset="-120"/>
              </a:rPr>
              <a:t>requirements</a:t>
            </a:r>
            <a:endParaRPr lang="en-US" sz="1050" dirty="0"/>
          </a:p>
        </p:txBody>
      </p:sp>
      <p:sp>
        <p:nvSpPr>
          <p:cNvPr id="15" name="Text 12"/>
          <p:cNvSpPr txBox="1"/>
          <p:nvPr/>
        </p:nvSpPr>
        <p:spPr>
          <a:xfrm>
            <a:off x="2852928" y="3054096"/>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Afirmaciones que la respuesta debe contener para considerarse correcta.</a:t>
            </a:r>
            <a:endParaRPr lang="en-US" sz="1050" dirty="0"/>
          </a:p>
        </p:txBody>
      </p:sp>
      <p:sp>
        <p:nvSpPr>
          <p:cNvPr id="16" name="Shape 13"/>
          <p:cNvSpPr/>
          <p:nvPr/>
        </p:nvSpPr>
        <p:spPr>
          <a:xfrm>
            <a:off x="6259982" y="2980944"/>
            <a:ext cx="5363870" cy="566928"/>
          </a:xfrm>
          <a:prstGeom prst="roundRect">
            <a:avLst>
              <a:gd name="adj" fmla="val 14516"/>
            </a:avLst>
          </a:prstGeom>
          <a:solidFill>
            <a:srgbClr val="F1F6FC"/>
          </a:solidFill>
          <a:ln/>
        </p:spPr>
      </p:sp>
      <p:sp>
        <p:nvSpPr>
          <p:cNvPr id="17" name="Text 14"/>
          <p:cNvSpPr txBox="1"/>
          <p:nvPr/>
        </p:nvSpPr>
        <p:spPr>
          <a:xfrm>
            <a:off x="6479438" y="3063240"/>
            <a:ext cx="2011680" cy="219456"/>
          </a:xfrm>
          <a:prstGeom prst="rect">
            <a:avLst/>
          </a:prstGeom>
          <a:noFill/>
          <a:ln/>
        </p:spPr>
        <p:txBody>
          <a:bodyPr wrap="square" lIns="0" tIns="0" rIns="0" bIns="0" rtlCol="0" anchor="t"/>
          <a:lstStyle/>
          <a:p>
            <a:pPr indent="0" marL="0">
              <a:buNone/>
            </a:pPr>
            <a:r>
              <a:rPr lang="en-US" sz="1050" b="1" dirty="0">
                <a:solidFill>
                  <a:srgbClr val="00807E"/>
                </a:solidFill>
                <a:latin typeface="Courier New" pitchFamily="34" charset="0"/>
                <a:ea typeface="Courier New" pitchFamily="34" charset="-122"/>
                <a:cs typeface="Courier New" pitchFamily="34" charset="-120"/>
              </a:rPr>
              <a:t>acceptable_alternatives</a:t>
            </a:r>
            <a:endParaRPr lang="en-US" sz="1050" dirty="0"/>
          </a:p>
        </p:txBody>
      </p:sp>
      <p:sp>
        <p:nvSpPr>
          <p:cNvPr id="18" name="Text 15"/>
          <p:cNvSpPr txBox="1"/>
          <p:nvPr/>
        </p:nvSpPr>
        <p:spPr>
          <a:xfrm>
            <a:off x="8545982" y="3054096"/>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Redacciones distintas que también son correctas: evita penalizar la forma en lugar del fondo.</a:t>
            </a:r>
            <a:endParaRPr lang="en-US" sz="1050" dirty="0"/>
          </a:p>
        </p:txBody>
      </p:sp>
      <p:sp>
        <p:nvSpPr>
          <p:cNvPr id="19" name="Shape 16"/>
          <p:cNvSpPr/>
          <p:nvPr/>
        </p:nvSpPr>
        <p:spPr>
          <a:xfrm>
            <a:off x="566928" y="3675888"/>
            <a:ext cx="5363870" cy="566928"/>
          </a:xfrm>
          <a:prstGeom prst="roundRect">
            <a:avLst>
              <a:gd name="adj" fmla="val 14516"/>
            </a:avLst>
          </a:prstGeom>
          <a:solidFill>
            <a:srgbClr val="F1F6FC"/>
          </a:solidFill>
          <a:ln/>
        </p:spPr>
      </p:sp>
      <p:sp>
        <p:nvSpPr>
          <p:cNvPr id="20" name="Text 17"/>
          <p:cNvSpPr txBox="1"/>
          <p:nvPr/>
        </p:nvSpPr>
        <p:spPr>
          <a:xfrm>
            <a:off x="786384" y="3758184"/>
            <a:ext cx="2011680" cy="219456"/>
          </a:xfrm>
          <a:prstGeom prst="rect">
            <a:avLst/>
          </a:prstGeom>
          <a:noFill/>
          <a:ln/>
        </p:spPr>
        <p:txBody>
          <a:bodyPr wrap="square" lIns="0" tIns="0" rIns="0" bIns="0" rtlCol="0" anchor="t"/>
          <a:lstStyle/>
          <a:p>
            <a:pPr indent="0" marL="0">
              <a:buNone/>
            </a:pPr>
            <a:r>
              <a:rPr lang="en-US" sz="1050" b="1" dirty="0">
                <a:solidFill>
                  <a:srgbClr val="A63F38"/>
                </a:solidFill>
                <a:latin typeface="Courier New" pitchFamily="34" charset="0"/>
                <a:ea typeface="Courier New" pitchFamily="34" charset="-122"/>
                <a:cs typeface="Courier New" pitchFamily="34" charset="-120"/>
              </a:rPr>
              <a:t>forbidden_facts</a:t>
            </a:r>
            <a:endParaRPr lang="en-US" sz="1050" dirty="0"/>
          </a:p>
        </p:txBody>
      </p:sp>
      <p:sp>
        <p:nvSpPr>
          <p:cNvPr id="21" name="Text 18"/>
          <p:cNvSpPr txBox="1"/>
          <p:nvPr/>
        </p:nvSpPr>
        <p:spPr>
          <a:xfrm>
            <a:off x="2852928" y="3749040"/>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Lo que la respuesta no puede decir. Por ejemplo, presumir la culpa de quien alcanza por detrás.</a:t>
            </a:r>
            <a:endParaRPr lang="en-US" sz="1050" dirty="0"/>
          </a:p>
        </p:txBody>
      </p:sp>
      <p:sp>
        <p:nvSpPr>
          <p:cNvPr id="22" name="Shape 19"/>
          <p:cNvSpPr/>
          <p:nvPr/>
        </p:nvSpPr>
        <p:spPr>
          <a:xfrm>
            <a:off x="6259982" y="3675888"/>
            <a:ext cx="5363870" cy="566928"/>
          </a:xfrm>
          <a:prstGeom prst="roundRect">
            <a:avLst>
              <a:gd name="adj" fmla="val 14516"/>
            </a:avLst>
          </a:prstGeom>
          <a:solidFill>
            <a:srgbClr val="F1F6FC"/>
          </a:solidFill>
          <a:ln/>
        </p:spPr>
      </p:sp>
      <p:sp>
        <p:nvSpPr>
          <p:cNvPr id="23" name="Text 20"/>
          <p:cNvSpPr txBox="1"/>
          <p:nvPr/>
        </p:nvSpPr>
        <p:spPr>
          <a:xfrm>
            <a:off x="6479438" y="3758184"/>
            <a:ext cx="2011680" cy="219456"/>
          </a:xfrm>
          <a:prstGeom prst="rect">
            <a:avLst/>
          </a:prstGeom>
          <a:noFill/>
          <a:ln/>
        </p:spPr>
        <p:txBody>
          <a:bodyPr wrap="square" lIns="0" tIns="0" rIns="0" bIns="0" rtlCol="0" anchor="t"/>
          <a:lstStyle/>
          <a:p>
            <a:pPr indent="0" marL="0">
              <a:buNone/>
            </a:pPr>
            <a:r>
              <a:rPr lang="en-US" sz="1050" b="1" dirty="0">
                <a:solidFill>
                  <a:srgbClr val="A9711A"/>
                </a:solidFill>
                <a:latin typeface="Courier New" pitchFamily="34" charset="0"/>
                <a:ea typeface="Courier New" pitchFamily="34" charset="-122"/>
                <a:cs typeface="Courier New" pitchFamily="34" charset="-120"/>
              </a:rPr>
              <a:t>evidence_requirements</a:t>
            </a:r>
            <a:endParaRPr lang="en-US" sz="1050" dirty="0"/>
          </a:p>
        </p:txBody>
      </p:sp>
      <p:sp>
        <p:nvSpPr>
          <p:cNvPr id="24" name="Text 21"/>
          <p:cNvSpPr txBox="1"/>
          <p:nvPr/>
        </p:nvSpPr>
        <p:spPr>
          <a:xfrm>
            <a:off x="8545982" y="3749040"/>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Paquetes de evidencia AND/OR: qué páginas hay que citar, y cuáles son intercambiables entre sí.</a:t>
            </a:r>
            <a:endParaRPr lang="en-US" sz="1050" dirty="0"/>
          </a:p>
        </p:txBody>
      </p:sp>
      <p:sp>
        <p:nvSpPr>
          <p:cNvPr id="25" name="Shape 22"/>
          <p:cNvSpPr/>
          <p:nvPr/>
        </p:nvSpPr>
        <p:spPr>
          <a:xfrm>
            <a:off x="566928" y="4480560"/>
            <a:ext cx="11057839" cy="1188720"/>
          </a:xfrm>
          <a:prstGeom prst="roundRect">
            <a:avLst>
              <a:gd name="adj" fmla="val 769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Text 23"/>
          <p:cNvSpPr txBox="1"/>
          <p:nvPr/>
        </p:nvSpPr>
        <p:spPr>
          <a:xfrm>
            <a:off x="859536" y="4626864"/>
            <a:ext cx="73152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CÓMO SE REVISÓ — Y QUÉ NO SE PUEDE AFIRMAR DE ESA REVISIÓN</a:t>
            </a:r>
            <a:endParaRPr lang="en-US" sz="950" dirty="0"/>
          </a:p>
        </p:txBody>
      </p:sp>
      <p:sp>
        <p:nvSpPr>
          <p:cNvPr id="27" name="Text 24"/>
          <p:cNvSpPr txBox="1"/>
          <p:nvPr/>
        </p:nvSpPr>
        <p:spPr>
          <a:xfrm>
            <a:off x="85953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1 · Resolución ciega</a:t>
            </a:r>
            <a:endParaRPr lang="en-US" sz="1200" dirty="0"/>
          </a:p>
        </p:txBody>
      </p:sp>
      <p:sp>
        <p:nvSpPr>
          <p:cNvPr id="28" name="Text 25"/>
          <p:cNvSpPr txBox="1"/>
          <p:nvPr/>
        </p:nvSpPr>
        <p:spPr>
          <a:xfrm>
            <a:off x="85953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Cada caso se resuelve contra el manual sin ver la respuesta del sistema.</a:t>
            </a:r>
            <a:endParaRPr lang="en-US" sz="1050" dirty="0"/>
          </a:p>
        </p:txBody>
      </p:sp>
      <p:sp>
        <p:nvSpPr>
          <p:cNvPr id="29" name="Text 26"/>
          <p:cNvSpPr txBox="1"/>
          <p:nvPr/>
        </p:nvSpPr>
        <p:spPr>
          <a:xfrm>
            <a:off x="442569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2 · Revisión adversarial</a:t>
            </a:r>
            <a:endParaRPr lang="en-US" sz="1200" dirty="0"/>
          </a:p>
        </p:txBody>
      </p:sp>
      <p:sp>
        <p:nvSpPr>
          <p:cNvPr id="30" name="Text 27"/>
          <p:cNvSpPr txBox="1"/>
          <p:nvPr/>
        </p:nvSpPr>
        <p:spPr>
          <a:xfrm>
            <a:off x="442569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Una segunda pasada independiente intenta tumbar la resolución y sus citas.</a:t>
            </a:r>
            <a:endParaRPr lang="en-US" sz="1050" dirty="0"/>
          </a:p>
        </p:txBody>
      </p:sp>
      <p:sp>
        <p:nvSpPr>
          <p:cNvPr id="31" name="Text 28"/>
          <p:cNvSpPr txBox="1"/>
          <p:nvPr/>
        </p:nvSpPr>
        <p:spPr>
          <a:xfrm>
            <a:off x="799185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3 · Adjudicación</a:t>
            </a:r>
            <a:endParaRPr lang="en-US" sz="1200" dirty="0"/>
          </a:p>
        </p:txBody>
      </p:sp>
      <p:sp>
        <p:nvSpPr>
          <p:cNvPr id="32" name="Text 29"/>
          <p:cNvSpPr txBox="1"/>
          <p:nvPr/>
        </p:nvSpPr>
        <p:spPr>
          <a:xfrm>
            <a:off x="799185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Se concilian ambas y se anota el desacuerdo en los metadatos del caso.</a:t>
            </a:r>
            <a:endParaRPr lang="en-US" sz="1050" dirty="0"/>
          </a:p>
        </p:txBody>
      </p:sp>
      <p:sp>
        <p:nvSpPr>
          <p:cNvPr id="33" name="Shape 30"/>
          <p:cNvSpPr/>
          <p:nvPr/>
        </p:nvSpPr>
        <p:spPr>
          <a:xfrm>
            <a:off x="566928" y="5852160"/>
            <a:ext cx="11057839" cy="493776"/>
          </a:xfrm>
          <a:prstGeom prst="roundRect">
            <a:avLst>
              <a:gd name="adj" fmla="val 16667"/>
            </a:avLst>
          </a:prstGeom>
          <a:solidFill>
            <a:srgbClr val="FBF1DF"/>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A9711A"/>
                </a:solidFill>
                <a:latin typeface="Calibri" pitchFamily="34" charset="0"/>
                <a:ea typeface="Calibri" pitchFamily="34" charset="-122"/>
                <a:cs typeface="Calibri" pitchFamily="34" charset="-120"/>
              </a:rPr>
              <a:t>Limitación declarada, no escondida: los tres pasos los hizo una IA. Ningún caso tiene todavía revisión de un experto humano del dominio, y eso consta en los metadatos de cada uno.</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evaluación está diseñada como un experimento, no como una captura de pantalla.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Lo que hace creíble a una métrica es el protocolo que la rodea: qué se mide, contra qué versión exacta, y qué está prohibido tocar.</a:t>
            </a:r>
            <a:endParaRPr lang="en-US" sz="1350" dirty="0"/>
          </a:p>
        </p:txBody>
      </p:sp>
      <p:sp>
        <p:nvSpPr>
          <p:cNvPr id="7" name="Shape 4"/>
          <p:cNvSpPr/>
          <p:nvPr/>
        </p:nvSpPr>
        <p:spPr>
          <a:xfrm>
            <a:off x="566928"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41248" y="2542032"/>
            <a:ext cx="2954426" cy="237744"/>
          </a:xfrm>
          <a:prstGeom prst="rect">
            <a:avLst/>
          </a:prstGeom>
          <a:noFill/>
          <a:ln/>
        </p:spPr>
        <p:txBody>
          <a:bodyPr wrap="square" lIns="0" tIns="0" rIns="0" bIns="0" rtlCol="0" anchor="t"/>
          <a:lstStyle/>
          <a:p>
            <a:pPr indent="0" marL="0">
              <a:buNone/>
            </a:pPr>
            <a:r>
              <a:rPr lang="en-US" sz="1150" b="1" spc="120" kern="0" dirty="0">
                <a:solidFill>
                  <a:srgbClr val="003781"/>
                </a:solidFill>
                <a:latin typeface="Arial" pitchFamily="34" charset="0"/>
                <a:ea typeface="Arial" pitchFamily="34" charset="-122"/>
                <a:cs typeface="Arial" pitchFamily="34" charset="-120"/>
              </a:rPr>
              <a:t>QUÉ SE MIDE</a:t>
            </a:r>
            <a:endParaRPr lang="en-US" sz="1150" dirty="0"/>
          </a:p>
        </p:txBody>
      </p:sp>
      <p:sp>
        <p:nvSpPr>
          <p:cNvPr id="9" name="Shape 6"/>
          <p:cNvSpPr/>
          <p:nvPr/>
        </p:nvSpPr>
        <p:spPr>
          <a:xfrm>
            <a:off x="841248" y="2999232"/>
            <a:ext cx="100584" cy="100584"/>
          </a:xfrm>
          <a:prstGeom prst="ellipse">
            <a:avLst/>
          </a:prstGeom>
          <a:solidFill>
            <a:srgbClr val="003781"/>
          </a:solidFill>
          <a:ln/>
        </p:spPr>
      </p:sp>
      <p:sp>
        <p:nvSpPr>
          <p:cNvPr id="10" name="Text 7"/>
          <p:cNvSpPr txBox="1"/>
          <p:nvPr/>
        </p:nvSpPr>
        <p:spPr>
          <a:xfrm>
            <a:off x="1078992"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Corrección factual frente a la referencia</a:t>
            </a:r>
            <a:endParaRPr lang="en-US" sz="1150" dirty="0"/>
          </a:p>
        </p:txBody>
      </p:sp>
      <p:sp>
        <p:nvSpPr>
          <p:cNvPr id="11" name="Shape 8"/>
          <p:cNvSpPr/>
          <p:nvPr/>
        </p:nvSpPr>
        <p:spPr>
          <a:xfrm>
            <a:off x="841248" y="3438144"/>
            <a:ext cx="100584" cy="100584"/>
          </a:xfrm>
          <a:prstGeom prst="ellipse">
            <a:avLst/>
          </a:prstGeom>
          <a:solidFill>
            <a:srgbClr val="003781"/>
          </a:solidFill>
          <a:ln/>
        </p:spPr>
      </p:sp>
      <p:sp>
        <p:nvSpPr>
          <p:cNvPr id="12" name="Text 9"/>
          <p:cNvSpPr txBox="1"/>
          <p:nvPr/>
        </p:nvSpPr>
        <p:spPr>
          <a:xfrm>
            <a:off x="1078992"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Fidelidad de las citas: si la página sostiene la afirmación</a:t>
            </a:r>
            <a:endParaRPr lang="en-US" sz="1150" dirty="0"/>
          </a:p>
        </p:txBody>
      </p:sp>
      <p:sp>
        <p:nvSpPr>
          <p:cNvPr id="13" name="Shape 10"/>
          <p:cNvSpPr/>
          <p:nvPr/>
        </p:nvSpPr>
        <p:spPr>
          <a:xfrm>
            <a:off x="841248" y="3877056"/>
            <a:ext cx="100584" cy="100584"/>
          </a:xfrm>
          <a:prstGeom prst="ellipse">
            <a:avLst/>
          </a:prstGeom>
          <a:solidFill>
            <a:srgbClr val="003781"/>
          </a:solidFill>
          <a:ln/>
        </p:spPr>
      </p:sp>
      <p:sp>
        <p:nvSpPr>
          <p:cNvPr id="14" name="Text 11"/>
          <p:cNvSpPr txBox="1"/>
          <p:nvPr/>
        </p:nvSpPr>
        <p:spPr>
          <a:xfrm>
            <a:off x="1078992"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Acierto del enrutado entre consulta y siniestro</a:t>
            </a:r>
            <a:endParaRPr lang="en-US" sz="1150" dirty="0"/>
          </a:p>
        </p:txBody>
      </p:sp>
      <p:sp>
        <p:nvSpPr>
          <p:cNvPr id="15" name="Shape 12"/>
          <p:cNvSpPr/>
          <p:nvPr/>
        </p:nvSpPr>
        <p:spPr>
          <a:xfrm>
            <a:off x="841248" y="4315968"/>
            <a:ext cx="100584" cy="100584"/>
          </a:xfrm>
          <a:prstGeom prst="ellipse">
            <a:avLst/>
          </a:prstGeom>
          <a:solidFill>
            <a:srgbClr val="003781"/>
          </a:solidFill>
          <a:ln/>
        </p:spPr>
      </p:sp>
      <p:sp>
        <p:nvSpPr>
          <p:cNvPr id="16" name="Text 13"/>
          <p:cNvSpPr txBox="1"/>
          <p:nvPr/>
        </p:nvSpPr>
        <p:spPr>
          <a:xfrm>
            <a:off x="1078992"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Abstención correcta — la métrica que más importa aquí</a:t>
            </a:r>
            <a:endParaRPr lang="en-US" sz="1150" dirty="0"/>
          </a:p>
        </p:txBody>
      </p:sp>
      <p:sp>
        <p:nvSpPr>
          <p:cNvPr id="17" name="Shape 14"/>
          <p:cNvSpPr/>
          <p:nvPr/>
        </p:nvSpPr>
        <p:spPr>
          <a:xfrm>
            <a:off x="4344314"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8" name="Text 15"/>
          <p:cNvSpPr txBox="1"/>
          <p:nvPr/>
        </p:nvSpPr>
        <p:spPr>
          <a:xfrm>
            <a:off x="4618634" y="2542032"/>
            <a:ext cx="2954426" cy="237744"/>
          </a:xfrm>
          <a:prstGeom prst="rect">
            <a:avLst/>
          </a:prstGeom>
          <a:noFill/>
          <a:ln/>
        </p:spPr>
        <p:txBody>
          <a:bodyPr wrap="square" lIns="0" tIns="0" rIns="0" bIns="0" rtlCol="0" anchor="t"/>
          <a:lstStyle/>
          <a:p>
            <a:pPr indent="0" marL="0">
              <a:buNone/>
            </a:pPr>
            <a:r>
              <a:rPr lang="en-US" sz="1150" b="1" spc="120" kern="0" dirty="0">
                <a:solidFill>
                  <a:srgbClr val="0079C1"/>
                </a:solidFill>
                <a:latin typeface="Arial" pitchFamily="34" charset="0"/>
                <a:ea typeface="Arial" pitchFamily="34" charset="-122"/>
                <a:cs typeface="Arial" pitchFamily="34" charset="-120"/>
              </a:rPr>
              <a:t>CÓMO SE MIDE</a:t>
            </a:r>
            <a:endParaRPr lang="en-US" sz="1150" dirty="0"/>
          </a:p>
        </p:txBody>
      </p:sp>
      <p:sp>
        <p:nvSpPr>
          <p:cNvPr id="19" name="Shape 16"/>
          <p:cNvSpPr/>
          <p:nvPr/>
        </p:nvSpPr>
        <p:spPr>
          <a:xfrm>
            <a:off x="4618634" y="2999232"/>
            <a:ext cx="100584" cy="100584"/>
          </a:xfrm>
          <a:prstGeom prst="ellipse">
            <a:avLst/>
          </a:prstGeom>
          <a:solidFill>
            <a:srgbClr val="0079C1"/>
          </a:solidFill>
          <a:ln/>
        </p:spPr>
      </p:sp>
      <p:sp>
        <p:nvSpPr>
          <p:cNvPr id="20" name="Text 17"/>
          <p:cNvSpPr txBox="1"/>
          <p:nvPr/>
        </p:nvSpPr>
        <p:spPr>
          <a:xfrm>
            <a:off x="4856378"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release congelada se publica como dataset</a:t>
            </a:r>
            <a:endParaRPr lang="en-US" sz="1150" dirty="0"/>
          </a:p>
        </p:txBody>
      </p:sp>
      <p:sp>
        <p:nvSpPr>
          <p:cNvPr id="21" name="Shape 18"/>
          <p:cNvSpPr/>
          <p:nvPr/>
        </p:nvSpPr>
        <p:spPr>
          <a:xfrm>
            <a:off x="4618634" y="3438144"/>
            <a:ext cx="100584" cy="100584"/>
          </a:xfrm>
          <a:prstGeom prst="ellipse">
            <a:avLst/>
          </a:prstGeom>
          <a:solidFill>
            <a:srgbClr val="0079C1"/>
          </a:solidFill>
          <a:ln/>
        </p:spPr>
      </p:sp>
      <p:sp>
        <p:nvSpPr>
          <p:cNvPr id="22" name="Text 19"/>
          <p:cNvSpPr txBox="1"/>
          <p:nvPr/>
        </p:nvSpPr>
        <p:spPr>
          <a:xfrm>
            <a:off x="4856378"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Un experimento por release, no ejecuciones sueltas</a:t>
            </a:r>
            <a:endParaRPr lang="en-US" sz="1150" dirty="0"/>
          </a:p>
        </p:txBody>
      </p:sp>
      <p:sp>
        <p:nvSpPr>
          <p:cNvPr id="23" name="Shape 20"/>
          <p:cNvSpPr/>
          <p:nvPr/>
        </p:nvSpPr>
        <p:spPr>
          <a:xfrm>
            <a:off x="4618634" y="3877056"/>
            <a:ext cx="100584" cy="100584"/>
          </a:xfrm>
          <a:prstGeom prst="ellipse">
            <a:avLst/>
          </a:prstGeom>
          <a:solidFill>
            <a:srgbClr val="0079C1"/>
          </a:solidFill>
          <a:ln/>
        </p:spPr>
      </p:sp>
      <p:sp>
        <p:nvSpPr>
          <p:cNvPr id="24" name="Text 21"/>
          <p:cNvSpPr txBox="1"/>
          <p:nvPr/>
        </p:nvSpPr>
        <p:spPr>
          <a:xfrm>
            <a:off x="4856378"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Evaluadores deterministas antes que jueces LLM</a:t>
            </a:r>
            <a:endParaRPr lang="en-US" sz="1150" dirty="0"/>
          </a:p>
        </p:txBody>
      </p:sp>
      <p:sp>
        <p:nvSpPr>
          <p:cNvPr id="25" name="Shape 22"/>
          <p:cNvSpPr/>
          <p:nvPr/>
        </p:nvSpPr>
        <p:spPr>
          <a:xfrm>
            <a:off x="4618634" y="4315968"/>
            <a:ext cx="100584" cy="100584"/>
          </a:xfrm>
          <a:prstGeom prst="ellipse">
            <a:avLst/>
          </a:prstGeom>
          <a:solidFill>
            <a:srgbClr val="0079C1"/>
          </a:solidFill>
          <a:ln/>
        </p:spPr>
      </p:sp>
      <p:sp>
        <p:nvSpPr>
          <p:cNvPr id="26" name="Text 23"/>
          <p:cNvSpPr txBox="1"/>
          <p:nvPr/>
        </p:nvSpPr>
        <p:spPr>
          <a:xfrm>
            <a:off x="4856378"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Cada ejecución identifica commit, hashes, perfil y modelos</a:t>
            </a:r>
            <a:endParaRPr lang="en-US" sz="1150" dirty="0"/>
          </a:p>
        </p:txBody>
      </p:sp>
      <p:sp>
        <p:nvSpPr>
          <p:cNvPr id="27" name="Shape 24"/>
          <p:cNvSpPr/>
          <p:nvPr/>
        </p:nvSpPr>
        <p:spPr>
          <a:xfrm>
            <a:off x="8121701"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396021" y="2542032"/>
            <a:ext cx="2954426" cy="237744"/>
          </a:xfrm>
          <a:prstGeom prst="rect">
            <a:avLst/>
          </a:prstGeom>
          <a:noFill/>
          <a:ln/>
        </p:spPr>
        <p:txBody>
          <a:bodyPr wrap="square" lIns="0" tIns="0" rIns="0" bIns="0" rtlCol="0" anchor="t"/>
          <a:lstStyle/>
          <a:p>
            <a:pPr indent="0" marL="0">
              <a:buNone/>
            </a:pPr>
            <a:r>
              <a:rPr lang="en-US" sz="1150" b="1" spc="120" kern="0" dirty="0">
                <a:solidFill>
                  <a:srgbClr val="A63F38"/>
                </a:solidFill>
                <a:latin typeface="Arial" pitchFamily="34" charset="0"/>
                <a:ea typeface="Arial" pitchFamily="34" charset="-122"/>
                <a:cs typeface="Arial" pitchFamily="34" charset="-120"/>
              </a:rPr>
              <a:t>QUÉ ESTÁ PROHIBIDO</a:t>
            </a:r>
            <a:endParaRPr lang="en-US" sz="1150" dirty="0"/>
          </a:p>
        </p:txBody>
      </p:sp>
      <p:sp>
        <p:nvSpPr>
          <p:cNvPr id="29" name="Shape 26"/>
          <p:cNvSpPr/>
          <p:nvPr/>
        </p:nvSpPr>
        <p:spPr>
          <a:xfrm>
            <a:off x="8396021" y="2999232"/>
            <a:ext cx="100584" cy="100584"/>
          </a:xfrm>
          <a:prstGeom prst="ellipse">
            <a:avLst/>
          </a:prstGeom>
          <a:solidFill>
            <a:srgbClr val="A63F38"/>
          </a:solidFill>
          <a:ln/>
        </p:spPr>
      </p:sp>
      <p:sp>
        <p:nvSpPr>
          <p:cNvPr id="30" name="Text 27"/>
          <p:cNvSpPr txBox="1"/>
          <p:nvPr/>
        </p:nvSpPr>
        <p:spPr>
          <a:xfrm>
            <a:off x="8633765"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Ajustar el sistema mirando la reserva de holdout</a:t>
            </a:r>
            <a:endParaRPr lang="en-US" sz="1150" dirty="0"/>
          </a:p>
        </p:txBody>
      </p:sp>
      <p:sp>
        <p:nvSpPr>
          <p:cNvPr id="31" name="Shape 28"/>
          <p:cNvSpPr/>
          <p:nvPr/>
        </p:nvSpPr>
        <p:spPr>
          <a:xfrm>
            <a:off x="8396021" y="3438144"/>
            <a:ext cx="100584" cy="100584"/>
          </a:xfrm>
          <a:prstGeom prst="ellipse">
            <a:avLst/>
          </a:prstGeom>
          <a:solidFill>
            <a:srgbClr val="A63F38"/>
          </a:solidFill>
          <a:ln/>
        </p:spPr>
      </p:sp>
      <p:sp>
        <p:nvSpPr>
          <p:cNvPr id="32" name="Text 29"/>
          <p:cNvSpPr txBox="1"/>
          <p:nvPr/>
        </p:nvSpPr>
        <p:spPr>
          <a:xfrm>
            <a:off x="8633765"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Retocar el golden después de ver los resultados</a:t>
            </a:r>
            <a:endParaRPr lang="en-US" sz="1150" dirty="0"/>
          </a:p>
        </p:txBody>
      </p:sp>
      <p:sp>
        <p:nvSpPr>
          <p:cNvPr id="33" name="Shape 30"/>
          <p:cNvSpPr/>
          <p:nvPr/>
        </p:nvSpPr>
        <p:spPr>
          <a:xfrm>
            <a:off x="8396021" y="3877056"/>
            <a:ext cx="100584" cy="100584"/>
          </a:xfrm>
          <a:prstGeom prst="ellipse">
            <a:avLst/>
          </a:prstGeom>
          <a:solidFill>
            <a:srgbClr val="A63F38"/>
          </a:solidFill>
          <a:ln/>
        </p:spPr>
      </p:sp>
      <p:sp>
        <p:nvSpPr>
          <p:cNvPr id="34" name="Text 31"/>
          <p:cNvSpPr txBox="1"/>
          <p:nvPr/>
        </p:nvSpPr>
        <p:spPr>
          <a:xfrm>
            <a:off x="8633765"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Publicar una métrica sin la configuración que la produjo</a:t>
            </a:r>
            <a:endParaRPr lang="en-US" sz="1150" dirty="0"/>
          </a:p>
        </p:txBody>
      </p:sp>
      <p:sp>
        <p:nvSpPr>
          <p:cNvPr id="35" name="Shape 32"/>
          <p:cNvSpPr/>
          <p:nvPr/>
        </p:nvSpPr>
        <p:spPr>
          <a:xfrm>
            <a:off x="8396021" y="4315968"/>
            <a:ext cx="100584" cy="100584"/>
          </a:xfrm>
          <a:prstGeom prst="ellipse">
            <a:avLst/>
          </a:prstGeom>
          <a:solidFill>
            <a:srgbClr val="A63F38"/>
          </a:solidFill>
          <a:ln/>
        </p:spPr>
      </p:sp>
      <p:sp>
        <p:nvSpPr>
          <p:cNvPr id="36" name="Text 33"/>
          <p:cNvSpPr txBox="1"/>
          <p:nvPr/>
        </p:nvSpPr>
        <p:spPr>
          <a:xfrm>
            <a:off x="8633765"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Activar un índice porque exista y no porque mida mejor</a:t>
            </a:r>
            <a:endParaRPr lang="en-US" sz="1150" dirty="0"/>
          </a:p>
        </p:txBody>
      </p:sp>
      <p:sp>
        <p:nvSpPr>
          <p:cNvPr id="37" name="Shape 34"/>
          <p:cNvSpPr/>
          <p:nvPr/>
        </p:nvSpPr>
        <p:spPr>
          <a:xfrm>
            <a:off x="566928" y="4846320"/>
            <a:ext cx="11057839" cy="932688"/>
          </a:xfrm>
          <a:prstGeom prst="roundRect">
            <a:avLst>
              <a:gd name="adj" fmla="val 9804"/>
            </a:avLst>
          </a:prstGeom>
          <a:solidFill>
            <a:srgbClr val="FBF1D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8" name="Text 35"/>
          <p:cNvSpPr txBox="1"/>
          <p:nvPr/>
        </p:nvSpPr>
        <p:spPr>
          <a:xfrm>
            <a:off x="859536" y="4974336"/>
            <a:ext cx="5486400" cy="219456"/>
          </a:xfrm>
          <a:prstGeom prst="rect">
            <a:avLst/>
          </a:prstGeom>
          <a:noFill/>
          <a:ln/>
        </p:spPr>
        <p:txBody>
          <a:bodyPr wrap="square" lIns="0" tIns="0" rIns="0" bIns="0" rtlCol="0" anchor="t"/>
          <a:lstStyle/>
          <a:p>
            <a:pPr indent="0" marL="0">
              <a:buNone/>
            </a:pPr>
            <a:r>
              <a:rPr lang="en-US" sz="950" b="1" spc="110" kern="0" dirty="0">
                <a:solidFill>
                  <a:srgbClr val="A9711A"/>
                </a:solidFill>
                <a:latin typeface="Arial" pitchFamily="34" charset="0"/>
                <a:ea typeface="Arial" pitchFamily="34" charset="-122"/>
                <a:cs typeface="Arial" pitchFamily="34" charset="-120"/>
              </a:rPr>
              <a:t>ESTADO REAL A DÍA DE HOY — sin adornos</a:t>
            </a:r>
            <a:endParaRPr lang="en-US" sz="950" dirty="0"/>
          </a:p>
        </p:txBody>
      </p:sp>
      <p:sp>
        <p:nvSpPr>
          <p:cNvPr id="39" name="Text 36"/>
          <p:cNvSpPr txBox="1"/>
          <p:nvPr/>
        </p:nvSpPr>
        <p:spPr>
          <a:xfrm>
            <a:off x="859536" y="5212080"/>
            <a:ext cx="10472623" cy="493776"/>
          </a:xfrm>
          <a:prstGeom prst="rect">
            <a:avLst/>
          </a:prstGeom>
          <a:noFill/>
          <a:ln/>
        </p:spPr>
        <p:txBody>
          <a:bodyPr wrap="square" lIns="0" tIns="0" rIns="0" bIns="0" rtlCol="0" anchor="t"/>
          <a:lstStyle/>
          <a:p>
            <a:pPr indent="0" marL="0">
              <a:lnSpc>
                <a:spcPct val="106000"/>
              </a:lnSpc>
              <a:buNone/>
            </a:pPr>
            <a:r>
              <a:rPr lang="en-US" sz="1050" dirty="0">
                <a:solidFill>
                  <a:srgbClr val="A9711A"/>
                </a:solidFill>
                <a:latin typeface="Calibri" pitchFamily="34" charset="0"/>
                <a:ea typeface="Calibri" pitchFamily="34" charset="-122"/>
                <a:cs typeface="Calibri" pitchFamily="34" charset="-120"/>
              </a:rPr>
              <a:t>Construido y comprobable ahora mismo: el golden de 110 casos (allianz golden validate → errors: [], item_count: 110), la release congelada con sus hashes y el ejecutor de experimentos sobre el recorrido documental.   ·   En curso: la campaña completa sobre los 110 casos, los evaluadores de siniestro y de enrutado, y publicar esta release como dataset en el proyecto de Langfuse en uso.   ·   Pendiente por decisión: congelar la reserva de holdout, que se abre una sola vez y todavía no toca.</a:t>
            </a:r>
            <a:endParaRPr lang="en-US" sz="1050" dirty="0"/>
          </a:p>
        </p:txBody>
      </p:sp>
      <p:sp>
        <p:nvSpPr>
          <p:cNvPr id="40" name="Shape 37"/>
          <p:cNvSpPr/>
          <p:nvPr/>
        </p:nvSpPr>
        <p:spPr>
          <a:xfrm>
            <a:off x="566928" y="5852160"/>
            <a:ext cx="11057839" cy="493776"/>
          </a:xfrm>
          <a:prstGeom prst="roundRect">
            <a:avLst>
              <a:gd name="adj" fmla="val 16667"/>
            </a:avLst>
          </a:prstGeom>
          <a:solidFill>
            <a:srgbClr val="003781"/>
          </a:solidFill>
          <a:ln/>
        </p:spPr>
      </p:sp>
      <p:sp>
        <p:nvSpPr>
          <p:cNvPr id="41" name="Text 38"/>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Prefiero presentar el protocolo terminado y las métricas en curso, antes que un número redondo cuya procedencia no pueda defender delante de vosotros.</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OPERACIÓN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Cada ejecución deja huella: producto, modelo y evaluación miran la misma traza.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observabilidad no se añadió para la demo. Es la misma instrumentación que alimenta los experimentos y la que permitiría investigar una queja real.</a:t>
            </a:r>
            <a:endParaRPr lang="en-US" sz="1350" dirty="0"/>
          </a:p>
        </p:txBody>
      </p:sp>
      <p:sp>
        <p:nvSpPr>
          <p:cNvPr id="7" name="Shape 4"/>
          <p:cNvSpPr/>
          <p:nvPr/>
        </p:nvSpPr>
        <p:spPr>
          <a:xfrm>
            <a:off x="566928" y="2286000"/>
            <a:ext cx="6583680" cy="3017520"/>
          </a:xfrm>
          <a:prstGeom prst="roundRect">
            <a:avLst>
              <a:gd name="adj" fmla="val 3030"/>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59536" y="2450592"/>
            <a:ext cx="45720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QUÉ SE TRAZA</a:t>
            </a:r>
            <a:endParaRPr lang="en-US" sz="950" dirty="0"/>
          </a:p>
        </p:txBody>
      </p:sp>
      <p:sp>
        <p:nvSpPr>
          <p:cNvPr id="9" name="Shape 6"/>
          <p:cNvSpPr/>
          <p:nvPr/>
        </p:nvSpPr>
        <p:spPr>
          <a:xfrm>
            <a:off x="859536" y="2852928"/>
            <a:ext cx="118872" cy="118872"/>
          </a:xfrm>
          <a:prstGeom prst="ellipse">
            <a:avLst/>
          </a:prstGeom>
          <a:solidFill>
            <a:srgbClr val="0079C1"/>
          </a:solidFill>
          <a:ln/>
        </p:spPr>
      </p:sp>
      <p:sp>
        <p:nvSpPr>
          <p:cNvPr id="10" name="Text 7"/>
          <p:cNvSpPr txBox="1"/>
          <p:nvPr/>
        </p:nvSpPr>
        <p:spPr>
          <a:xfrm>
            <a:off x="1115568" y="2779776"/>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Los tres workflows, nodo a nodo</a:t>
            </a:r>
            <a:endParaRPr lang="en-US" sz="1250" dirty="0"/>
          </a:p>
        </p:txBody>
      </p:sp>
      <p:sp>
        <p:nvSpPr>
          <p:cNvPr id="11" name="Text 8"/>
          <p:cNvSpPr txBox="1"/>
          <p:nvPr/>
        </p:nvSpPr>
        <p:spPr>
          <a:xfrm>
            <a:off x="1115568" y="3035808"/>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Documental, siniestros y enrutado automático, con su estado de entrada y salida.</a:t>
            </a:r>
            <a:endParaRPr lang="en-US" sz="1100" dirty="0"/>
          </a:p>
        </p:txBody>
      </p:sp>
      <p:sp>
        <p:nvSpPr>
          <p:cNvPr id="12" name="Shape 9"/>
          <p:cNvSpPr/>
          <p:nvPr/>
        </p:nvSpPr>
        <p:spPr>
          <a:xfrm>
            <a:off x="859536" y="3474720"/>
            <a:ext cx="118872" cy="118872"/>
          </a:xfrm>
          <a:prstGeom prst="ellipse">
            <a:avLst/>
          </a:prstGeom>
          <a:solidFill>
            <a:srgbClr val="0079C1"/>
          </a:solidFill>
          <a:ln/>
        </p:spPr>
      </p:sp>
      <p:sp>
        <p:nvSpPr>
          <p:cNvPr id="13" name="Text 10"/>
          <p:cNvSpPr txBox="1"/>
          <p:nvPr/>
        </p:nvSpPr>
        <p:spPr>
          <a:xfrm>
            <a:off x="1115568" y="3401568"/>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Todas las llamadas al modelo</a:t>
            </a:r>
            <a:endParaRPr lang="en-US" sz="1250" dirty="0"/>
          </a:p>
        </p:txBody>
      </p:sp>
      <p:sp>
        <p:nvSpPr>
          <p:cNvPr id="14" name="Text 11"/>
          <p:cNvSpPr txBox="1"/>
          <p:nvPr/>
        </p:nvSpPr>
        <p:spPr>
          <a:xfrm>
            <a:off x="1115568" y="3657600"/>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Generación, extracción de hechos, clasificación y embeddings, con coste y latencia por etapa.</a:t>
            </a:r>
            <a:endParaRPr lang="en-US" sz="1100" dirty="0"/>
          </a:p>
        </p:txBody>
      </p:sp>
      <p:sp>
        <p:nvSpPr>
          <p:cNvPr id="15" name="Shape 12"/>
          <p:cNvSpPr/>
          <p:nvPr/>
        </p:nvSpPr>
        <p:spPr>
          <a:xfrm>
            <a:off x="859536" y="4096512"/>
            <a:ext cx="118872" cy="118872"/>
          </a:xfrm>
          <a:prstGeom prst="ellipse">
            <a:avLst/>
          </a:prstGeom>
          <a:solidFill>
            <a:srgbClr val="0079C1"/>
          </a:solidFill>
          <a:ln/>
        </p:spPr>
      </p:sp>
      <p:sp>
        <p:nvSpPr>
          <p:cNvPr id="16" name="Text 13"/>
          <p:cNvSpPr txBox="1"/>
          <p:nvPr/>
        </p:nvSpPr>
        <p:spPr>
          <a:xfrm>
            <a:off x="1115568" y="4023360"/>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Un hilo, una sesión</a:t>
            </a:r>
            <a:endParaRPr lang="en-US" sz="1250" dirty="0"/>
          </a:p>
        </p:txBody>
      </p:sp>
      <p:sp>
        <p:nvSpPr>
          <p:cNvPr id="17" name="Text 14"/>
          <p:cNvSpPr txBox="1"/>
          <p:nvPr/>
        </p:nvSpPr>
        <p:spPr>
          <a:xfrm>
            <a:off x="1115568" y="4279392"/>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session_id agrupa la conversación completa, incluida la interrupción y su reanudación.</a:t>
            </a:r>
            <a:endParaRPr lang="en-US" sz="1100" dirty="0"/>
          </a:p>
        </p:txBody>
      </p:sp>
      <p:sp>
        <p:nvSpPr>
          <p:cNvPr id="18" name="Shape 15"/>
          <p:cNvSpPr/>
          <p:nvPr/>
        </p:nvSpPr>
        <p:spPr>
          <a:xfrm>
            <a:off x="859536" y="4718304"/>
            <a:ext cx="118872" cy="118872"/>
          </a:xfrm>
          <a:prstGeom prst="ellipse">
            <a:avLst/>
          </a:prstGeom>
          <a:solidFill>
            <a:srgbClr val="0079C1"/>
          </a:solidFill>
          <a:ln/>
        </p:spPr>
      </p:sp>
      <p:sp>
        <p:nvSpPr>
          <p:cNvPr id="19" name="Text 16"/>
          <p:cNvSpPr txBox="1"/>
          <p:nvPr/>
        </p:nvSpPr>
        <p:spPr>
          <a:xfrm>
            <a:off x="1115568" y="4645152"/>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Datasets y experimentos, junto a las trazas</a:t>
            </a:r>
            <a:endParaRPr lang="en-US" sz="1250" dirty="0"/>
          </a:p>
        </p:txBody>
      </p:sp>
      <p:sp>
        <p:nvSpPr>
          <p:cNvPr id="20" name="Text 17"/>
          <p:cNvSpPr txBox="1"/>
          <p:nvPr/>
        </p:nvSpPr>
        <p:spPr>
          <a:xfrm>
            <a:off x="1115568" y="4901184"/>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mismo despliegue aloja el dataset del golden y las ejecuciones de evaluación: no acaban en una hoja de cálculo aparte.</a:t>
            </a:r>
            <a:endParaRPr lang="en-US" sz="1100" dirty="0"/>
          </a:p>
        </p:txBody>
      </p:sp>
      <p:sp>
        <p:nvSpPr>
          <p:cNvPr id="21" name="Shape 18"/>
          <p:cNvSpPr/>
          <p:nvPr/>
        </p:nvSpPr>
        <p:spPr>
          <a:xfrm>
            <a:off x="7479792" y="2286000"/>
            <a:ext cx="4144975" cy="3017520"/>
          </a:xfrm>
          <a:prstGeom prst="roundRect">
            <a:avLst>
              <a:gd name="adj" fmla="val 3030"/>
            </a:avLst>
          </a:prstGeom>
          <a:solidFill>
            <a:srgbClr val="003781"/>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7754112" y="2450592"/>
            <a:ext cx="3474720" cy="219456"/>
          </a:xfrm>
          <a:prstGeom prst="rect">
            <a:avLst/>
          </a:prstGeom>
          <a:noFill/>
          <a:ln/>
        </p:spPr>
        <p:txBody>
          <a:bodyPr wrap="square" lIns="0" tIns="0" rIns="0" bIns="0" rtlCol="0" anchor="t"/>
          <a:lstStyle/>
          <a:p>
            <a:pPr indent="0" marL="0">
              <a:buNone/>
            </a:pPr>
            <a:r>
              <a:rPr lang="en-US" sz="950" b="1" spc="110" kern="0" dirty="0">
                <a:solidFill>
                  <a:srgbClr val="5AB6E8"/>
                </a:solidFill>
                <a:latin typeface="Arial" pitchFamily="34" charset="0"/>
                <a:ea typeface="Arial" pitchFamily="34" charset="-122"/>
                <a:cs typeface="Arial" pitchFamily="34" charset="-120"/>
              </a:rPr>
              <a:t>POR QUÉ AUTOALOJADO</a:t>
            </a:r>
            <a:endParaRPr lang="en-US" sz="950" dirty="0"/>
          </a:p>
        </p:txBody>
      </p:sp>
      <p:sp>
        <p:nvSpPr>
          <p:cNvPr id="23" name="Text 20"/>
          <p:cNvSpPr txBox="1"/>
          <p:nvPr/>
        </p:nvSpPr>
        <p:spPr>
          <a:xfrm>
            <a:off x="7754112" y="2779776"/>
            <a:ext cx="3596335" cy="2377440"/>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Langfuse corre en local, con su propia base de datos, su almacén de objetos y su motor analítico.</a:t>
            </a:r>
            <a:endParaRPr lang="en-US" sz="1200" dirty="0"/>
          </a:p>
          <a:p>
            <a:pPr indent="0" marL="0">
              <a:lnSpc>
                <a:spcPct val="108000"/>
              </a:lnSpc>
              <a:buNone/>
            </a:pPr>
            <a:endParaRPr lang="en-US" sz="1200" dirty="0"/>
          </a:p>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Ni un relato de accidente ni una traza salen de la máquina. En un dominio donde el material de entrada son declaraciones de siniestro, esa propiedad no es un detalle de despliegue: es un requisito.</a:t>
            </a:r>
            <a:endParaRPr lang="en-US" sz="1200" dirty="0"/>
          </a:p>
          <a:p>
            <a:pPr indent="0" marL="0">
              <a:lnSpc>
                <a:spcPct val="108000"/>
              </a:lnSpc>
              <a:buNone/>
            </a:pPr>
            <a:endParaRPr lang="en-US" sz="1200" dirty="0"/>
          </a:p>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Y el mismo despliegue sirve para trazas, datasets y experimentos.</a:t>
            </a:r>
            <a:endParaRPr lang="en-US" sz="1200" dirty="0"/>
          </a:p>
        </p:txBody>
      </p:sp>
      <p:sp>
        <p:nvSpPr>
          <p:cNvPr id="24" name="Shape 21"/>
          <p:cNvSpPr/>
          <p:nvPr/>
        </p:nvSpPr>
        <p:spPr>
          <a:xfrm>
            <a:off x="566928" y="5852160"/>
            <a:ext cx="11057839" cy="493776"/>
          </a:xfrm>
          <a:prstGeom prst="roundRect">
            <a:avLst>
              <a:gd name="adj" fmla="val 16667"/>
            </a:avLst>
          </a:prstGeom>
          <a:solidFill>
            <a:srgbClr val="003781"/>
          </a:solidFill>
          <a:ln/>
        </p:spPr>
      </p:sp>
      <p:sp>
        <p:nvSpPr>
          <p:cNvPr id="25" name="Text 22"/>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enlace «Ver en Langfuse» de cada respuesta abre la traza real de esa ejecución concreta: «¿por qué contestó esto?» se responde con una traza, no con una conjetura.</a:t>
            </a:r>
            <a:endParaRPr lang="en-US" sz="12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INGENIERÍA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37</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Nada entra sin pasar cinco puertas, y las cinco están verdes hoy.</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Ejecutadas sobre este repositorio antes de preparar esta presentación. Un solo comando las reproduce en local.</a:t>
            </a:r>
            <a:endParaRPr lang="en-US" sz="1350" dirty="0"/>
          </a:p>
        </p:txBody>
      </p:sp>
      <p:sp>
        <p:nvSpPr>
          <p:cNvPr id="7" name="Shape 4"/>
          <p:cNvSpPr/>
          <p:nvPr/>
        </p:nvSpPr>
        <p:spPr>
          <a:xfrm>
            <a:off x="566928"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786384" y="2523744"/>
            <a:ext cx="1664208" cy="658368"/>
          </a:xfrm>
          <a:prstGeom prst="rect">
            <a:avLst/>
          </a:prstGeom>
          <a:noFill/>
          <a:ln/>
        </p:spPr>
        <p:txBody>
          <a:bodyPr wrap="square" lIns="0" tIns="0" rIns="0" bIns="0" rtlCol="0" anchor="t"/>
          <a:lstStyle/>
          <a:p>
            <a:pPr indent="0" marL="0">
              <a:buNone/>
            </a:pPr>
            <a:r>
              <a:rPr lang="en-US" sz="4200" b="1" dirty="0">
                <a:solidFill>
                  <a:srgbClr val="003781"/>
                </a:solidFill>
                <a:latin typeface="Arial" pitchFamily="34" charset="0"/>
                <a:ea typeface="Arial" pitchFamily="34" charset="-122"/>
                <a:cs typeface="Arial" pitchFamily="34" charset="-120"/>
              </a:rPr>
              <a:t>500</a:t>
            </a:r>
            <a:endParaRPr lang="en-US" sz="4200" dirty="0"/>
          </a:p>
        </p:txBody>
      </p:sp>
      <p:sp>
        <p:nvSpPr>
          <p:cNvPr id="9" name="Text 6"/>
          <p:cNvSpPr txBox="1"/>
          <p:nvPr/>
        </p:nvSpPr>
        <p:spPr>
          <a:xfrm>
            <a:off x="786384"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pruebas de backend</a:t>
            </a:r>
            <a:endParaRPr lang="en-US" sz="1250" dirty="0"/>
          </a:p>
        </p:txBody>
      </p:sp>
      <p:sp>
        <p:nvSpPr>
          <p:cNvPr id="10" name="Text 7"/>
          <p:cNvSpPr txBox="1"/>
          <p:nvPr/>
        </p:nvSpPr>
        <p:spPr>
          <a:xfrm>
            <a:off x="786384"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pytest · 1 omitida</a:t>
            </a:r>
            <a:endParaRPr lang="en-US" sz="1050" dirty="0"/>
          </a:p>
        </p:txBody>
      </p:sp>
      <p:sp>
        <p:nvSpPr>
          <p:cNvPr id="11" name="Shape 8"/>
          <p:cNvSpPr/>
          <p:nvPr/>
        </p:nvSpPr>
        <p:spPr>
          <a:xfrm>
            <a:off x="2779776"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2" name="Text 9"/>
          <p:cNvSpPr txBox="1"/>
          <p:nvPr/>
        </p:nvSpPr>
        <p:spPr>
          <a:xfrm>
            <a:off x="2999232" y="2523744"/>
            <a:ext cx="1664208" cy="658368"/>
          </a:xfrm>
          <a:prstGeom prst="rect">
            <a:avLst/>
          </a:prstGeom>
          <a:noFill/>
          <a:ln/>
        </p:spPr>
        <p:txBody>
          <a:bodyPr wrap="square" lIns="0" tIns="0" rIns="0" bIns="0" rtlCol="0" anchor="t"/>
          <a:lstStyle/>
          <a:p>
            <a:pPr indent="0" marL="0">
              <a:buNone/>
            </a:pPr>
            <a:r>
              <a:rPr lang="en-US" sz="4200" b="1" dirty="0">
                <a:solidFill>
                  <a:srgbClr val="0079C1"/>
                </a:solidFill>
                <a:latin typeface="Arial" pitchFamily="34" charset="0"/>
                <a:ea typeface="Arial" pitchFamily="34" charset="-122"/>
                <a:cs typeface="Arial" pitchFamily="34" charset="-120"/>
              </a:rPr>
              <a:t>97</a:t>
            </a:r>
            <a:endParaRPr lang="en-US" sz="4200" dirty="0"/>
          </a:p>
        </p:txBody>
      </p:sp>
      <p:sp>
        <p:nvSpPr>
          <p:cNvPr id="13" name="Text 10"/>
          <p:cNvSpPr txBox="1"/>
          <p:nvPr/>
        </p:nvSpPr>
        <p:spPr>
          <a:xfrm>
            <a:off x="2999232"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pruebas de frontend</a:t>
            </a:r>
            <a:endParaRPr lang="en-US" sz="1250" dirty="0"/>
          </a:p>
        </p:txBody>
      </p:sp>
      <p:sp>
        <p:nvSpPr>
          <p:cNvPr id="14" name="Text 11"/>
          <p:cNvSpPr txBox="1"/>
          <p:nvPr/>
        </p:nvSpPr>
        <p:spPr>
          <a:xfrm>
            <a:off x="2999232"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vitest · 17 ficheros</a:t>
            </a:r>
            <a:endParaRPr lang="en-US" sz="1050" dirty="0"/>
          </a:p>
        </p:txBody>
      </p:sp>
      <p:sp>
        <p:nvSpPr>
          <p:cNvPr id="15" name="Shape 12"/>
          <p:cNvSpPr/>
          <p:nvPr/>
        </p:nvSpPr>
        <p:spPr>
          <a:xfrm>
            <a:off x="4992624"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5212080"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17" name="Text 14"/>
          <p:cNvSpPr txBox="1"/>
          <p:nvPr/>
        </p:nvSpPr>
        <p:spPr>
          <a:xfrm>
            <a:off x="5212080"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errores de tipado</a:t>
            </a:r>
            <a:endParaRPr lang="en-US" sz="1250" dirty="0"/>
          </a:p>
        </p:txBody>
      </p:sp>
      <p:sp>
        <p:nvSpPr>
          <p:cNvPr id="18" name="Text 15"/>
          <p:cNvSpPr txBox="1"/>
          <p:nvPr/>
        </p:nvSpPr>
        <p:spPr>
          <a:xfrm>
            <a:off x="5212080"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pyright estricto + TS estricto</a:t>
            </a:r>
            <a:endParaRPr lang="en-US" sz="1050" dirty="0"/>
          </a:p>
        </p:txBody>
      </p:sp>
      <p:sp>
        <p:nvSpPr>
          <p:cNvPr id="19" name="Shape 16"/>
          <p:cNvSpPr/>
          <p:nvPr/>
        </p:nvSpPr>
        <p:spPr>
          <a:xfrm>
            <a:off x="7205472"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Text 17"/>
          <p:cNvSpPr txBox="1"/>
          <p:nvPr/>
        </p:nvSpPr>
        <p:spPr>
          <a:xfrm>
            <a:off x="7424928"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21" name="Text 18"/>
          <p:cNvSpPr txBox="1"/>
          <p:nvPr/>
        </p:nvSpPr>
        <p:spPr>
          <a:xfrm>
            <a:off x="7424928"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deriva de contrato</a:t>
            </a:r>
            <a:endParaRPr lang="en-US" sz="1250" dirty="0"/>
          </a:p>
        </p:txBody>
      </p:sp>
      <p:sp>
        <p:nvSpPr>
          <p:cNvPr id="22" name="Text 19"/>
          <p:cNvSpPr txBox="1"/>
          <p:nvPr/>
        </p:nvSpPr>
        <p:spPr>
          <a:xfrm>
            <a:off x="7424928"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los tipos del cliente salen del OpenAPI</a:t>
            </a:r>
            <a:endParaRPr lang="en-US" sz="1050" dirty="0"/>
          </a:p>
        </p:txBody>
      </p:sp>
      <p:sp>
        <p:nvSpPr>
          <p:cNvPr id="23" name="Shape 20"/>
          <p:cNvSpPr/>
          <p:nvPr/>
        </p:nvSpPr>
        <p:spPr>
          <a:xfrm>
            <a:off x="9418320"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Text 21"/>
          <p:cNvSpPr txBox="1"/>
          <p:nvPr/>
        </p:nvSpPr>
        <p:spPr>
          <a:xfrm>
            <a:off x="9637776"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25" name="Text 22"/>
          <p:cNvSpPr txBox="1"/>
          <p:nvPr/>
        </p:nvSpPr>
        <p:spPr>
          <a:xfrm>
            <a:off x="9637776"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avisos de linter</a:t>
            </a:r>
            <a:endParaRPr lang="en-US" sz="1250" dirty="0"/>
          </a:p>
        </p:txBody>
      </p:sp>
      <p:sp>
        <p:nvSpPr>
          <p:cNvPr id="26" name="Text 23"/>
          <p:cNvSpPr txBox="1"/>
          <p:nvPr/>
        </p:nvSpPr>
        <p:spPr>
          <a:xfrm>
            <a:off x="9637776"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ruff + eslint</a:t>
            </a:r>
            <a:endParaRPr lang="en-US" sz="1050" dirty="0"/>
          </a:p>
        </p:txBody>
      </p:sp>
      <p:sp>
        <p:nvSpPr>
          <p:cNvPr id="27" name="Shape 24"/>
          <p:cNvSpPr/>
          <p:nvPr/>
        </p:nvSpPr>
        <p:spPr>
          <a:xfrm>
            <a:off x="566928"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22960"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11.848 líneas en 111 módulos de backend</a:t>
            </a:r>
            <a:endParaRPr lang="en-US" sz="1200" dirty="0"/>
          </a:p>
        </p:txBody>
      </p:sp>
      <p:sp>
        <p:nvSpPr>
          <p:cNvPr id="29" name="Text 26"/>
          <p:cNvSpPr txBox="1"/>
          <p:nvPr/>
        </p:nvSpPr>
        <p:spPr>
          <a:xfrm>
            <a:off x="822960"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Módulos pequeños y con una responsabilidad: es lo que hace que un cambio de dominio no arrastre media aplicación.</a:t>
            </a:r>
            <a:endParaRPr lang="en-US" sz="1050" dirty="0"/>
          </a:p>
        </p:txBody>
      </p:sp>
      <p:sp>
        <p:nvSpPr>
          <p:cNvPr id="30" name="Shape 27"/>
          <p:cNvSpPr/>
          <p:nvPr/>
        </p:nvSpPr>
        <p:spPr>
          <a:xfrm>
            <a:off x="4344314"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4600346"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51 módulos de frontend, tipos generados</a:t>
            </a:r>
            <a:endParaRPr lang="en-US" sz="1200" dirty="0"/>
          </a:p>
        </p:txBody>
      </p:sp>
      <p:sp>
        <p:nvSpPr>
          <p:cNvPr id="32" name="Text 29"/>
          <p:cNvSpPr txBox="1"/>
          <p:nvPr/>
        </p:nvSpPr>
        <p:spPr>
          <a:xfrm>
            <a:off x="4600346"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React 19 con TypeScript estricto. Los DTO no se escriben dos veces: se generan del contrato que publica el backend.</a:t>
            </a:r>
            <a:endParaRPr lang="en-US" sz="1050" dirty="0"/>
          </a:p>
        </p:txBody>
      </p:sp>
      <p:sp>
        <p:nvSpPr>
          <p:cNvPr id="33" name="Shape 30"/>
          <p:cNvSpPr/>
          <p:nvPr/>
        </p:nvSpPr>
        <p:spPr>
          <a:xfrm>
            <a:off x="8121701"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4" name="Text 31"/>
          <p:cNvSpPr txBox="1"/>
          <p:nvPr/>
        </p:nvSpPr>
        <p:spPr>
          <a:xfrm>
            <a:off x="8377733"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El dominio se prueba sin red ni contenedores</a:t>
            </a:r>
            <a:endParaRPr lang="en-US" sz="1200" dirty="0"/>
          </a:p>
        </p:txBody>
      </p:sp>
      <p:sp>
        <p:nvSpPr>
          <p:cNvPr id="35" name="Text 32"/>
          <p:cNvSpPr txBox="1"/>
          <p:nvPr/>
        </p:nvSpPr>
        <p:spPr>
          <a:xfrm>
            <a:off x="8377733"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Las reglas, la tabla de culpabilidad y las invariantes son funciones puras: sus pruebas corren en milisegundos.</a:t>
            </a:r>
            <a:endParaRPr lang="en-US" sz="1050" dirty="0"/>
          </a:p>
        </p:txBody>
      </p:sp>
      <p:sp>
        <p:nvSpPr>
          <p:cNvPr id="36" name="Shape 33"/>
          <p:cNvSpPr/>
          <p:nvPr/>
        </p:nvSpPr>
        <p:spPr>
          <a:xfrm>
            <a:off x="566928" y="5852160"/>
            <a:ext cx="11057839" cy="493776"/>
          </a:xfrm>
          <a:prstGeom prst="roundRect">
            <a:avLst>
              <a:gd name="adj" fmla="val 16667"/>
            </a:avLst>
          </a:prstGeom>
          <a:solidFill>
            <a:srgbClr val="003781"/>
          </a:solidFill>
          <a:ln/>
        </p:spPr>
      </p:sp>
      <p:sp>
        <p:nvSpPr>
          <p:cNvPr id="37" name="Text 3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make check reproduce las cinco puertas. Si una se cae, el trabajo no está terminado — da igual lo bien que se vea en pantalla.</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LÍMITES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Lo que este sistema no hace — dicho aquí, y no en la letra pequeña.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misma disciplina que hace que el sistema se abstenga en un siniestro se aplica a cómo se presenta el sistema.</a:t>
            </a:r>
            <a:endParaRPr lang="en-US" sz="1350" dirty="0"/>
          </a:p>
        </p:txBody>
      </p:sp>
      <p:sp>
        <p:nvSpPr>
          <p:cNvPr id="7" name="Shape 4"/>
          <p:cNvSpPr/>
          <p:nvPr/>
        </p:nvSpPr>
        <p:spPr>
          <a:xfrm>
            <a:off x="566928" y="2286000"/>
            <a:ext cx="5363870" cy="914400"/>
          </a:xfrm>
          <a:prstGeom prst="roundRect">
            <a:avLst>
              <a:gd name="adj" fmla="val 9000"/>
            </a:avLst>
          </a:prstGeom>
          <a:solidFill>
            <a:srgbClr val="F1F6FC"/>
          </a:solidFill>
          <a:ln/>
        </p:spPr>
      </p:sp>
      <p:sp>
        <p:nvSpPr>
          <p:cNvPr id="8" name="Text 5"/>
          <p:cNvSpPr txBox="1"/>
          <p:nvPr/>
        </p:nvSpPr>
        <p:spPr>
          <a:xfrm>
            <a:off x="822960" y="246888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9" name="Text 6"/>
          <p:cNvSpPr txBox="1"/>
          <p:nvPr/>
        </p:nvSpPr>
        <p:spPr>
          <a:xfrm>
            <a:off x="1115568" y="246888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es derecho vigente</a:t>
            </a:r>
            <a:endParaRPr lang="en-US" sz="1350" dirty="0"/>
          </a:p>
        </p:txBody>
      </p:sp>
      <p:sp>
        <p:nvSpPr>
          <p:cNvPr id="10" name="Text 7"/>
          <p:cNvSpPr txBox="1"/>
          <p:nvPr/>
        </p:nvSpPr>
        <p:spPr>
          <a:xfrm>
            <a:off x="1115568" y="274320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manual es la edición de noviembre de 2004. El sistema responde lo que ese documento dice, no lo que hoy sea aplicable.</a:t>
            </a:r>
            <a:endParaRPr lang="en-US" sz="1150" dirty="0"/>
          </a:p>
        </p:txBody>
      </p:sp>
      <p:sp>
        <p:nvSpPr>
          <p:cNvPr id="11" name="Shape 8"/>
          <p:cNvSpPr/>
          <p:nvPr/>
        </p:nvSpPr>
        <p:spPr>
          <a:xfrm>
            <a:off x="6259982" y="2286000"/>
            <a:ext cx="5363870" cy="914400"/>
          </a:xfrm>
          <a:prstGeom prst="roundRect">
            <a:avLst>
              <a:gd name="adj" fmla="val 9000"/>
            </a:avLst>
          </a:prstGeom>
          <a:solidFill>
            <a:srgbClr val="F1F6FC"/>
          </a:solidFill>
          <a:ln/>
        </p:spPr>
      </p:sp>
      <p:sp>
        <p:nvSpPr>
          <p:cNvPr id="12" name="Text 9"/>
          <p:cNvSpPr txBox="1"/>
          <p:nvPr/>
        </p:nvSpPr>
        <p:spPr>
          <a:xfrm>
            <a:off x="6516014" y="246888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13" name="Text 10"/>
          <p:cNvSpPr txBox="1"/>
          <p:nvPr/>
        </p:nvSpPr>
        <p:spPr>
          <a:xfrm>
            <a:off x="6808622" y="246888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cubre lesiones ni vía penal</a:t>
            </a:r>
            <a:endParaRPr lang="en-US" sz="1350" dirty="0"/>
          </a:p>
        </p:txBody>
      </p:sp>
      <p:sp>
        <p:nvSpPr>
          <p:cNvPr id="14" name="Text 11"/>
          <p:cNvSpPr txBox="1"/>
          <p:nvPr/>
        </p:nvSpPr>
        <p:spPr>
          <a:xfrm>
            <a:off x="6808622" y="274320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Convenio regula daños materiales entre aseguradoras. Ante un baremo de lesiones el sistema se abstiene, sin dar cifras.</a:t>
            </a:r>
            <a:endParaRPr lang="en-US" sz="1150" dirty="0"/>
          </a:p>
        </p:txBody>
      </p:sp>
      <p:sp>
        <p:nvSpPr>
          <p:cNvPr id="15" name="Shape 12"/>
          <p:cNvSpPr/>
          <p:nvPr/>
        </p:nvSpPr>
        <p:spPr>
          <a:xfrm>
            <a:off x="566928" y="3383280"/>
            <a:ext cx="5363870" cy="914400"/>
          </a:xfrm>
          <a:prstGeom prst="roundRect">
            <a:avLst>
              <a:gd name="adj" fmla="val 9000"/>
            </a:avLst>
          </a:prstGeom>
          <a:solidFill>
            <a:srgbClr val="F1F6FC"/>
          </a:solidFill>
          <a:ln/>
        </p:spPr>
      </p:sp>
      <p:sp>
        <p:nvSpPr>
          <p:cNvPr id="16" name="Text 13"/>
          <p:cNvSpPr txBox="1"/>
          <p:nvPr/>
        </p:nvSpPr>
        <p:spPr>
          <a:xfrm>
            <a:off x="822960" y="356616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17" name="Text 14"/>
          <p:cNvSpPr txBox="1"/>
          <p:nvPr/>
        </p:nvSpPr>
        <p:spPr>
          <a:xfrm>
            <a:off x="1115568" y="356616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infiere las casillas de la declaración</a:t>
            </a:r>
            <a:endParaRPr lang="en-US" sz="1350" dirty="0"/>
          </a:p>
        </p:txBody>
      </p:sp>
      <p:sp>
        <p:nvSpPr>
          <p:cNvPr id="18" name="Text 15"/>
          <p:cNvSpPr txBox="1"/>
          <p:nvPr/>
        </p:nvSpPr>
        <p:spPr>
          <a:xfrm>
            <a:off x="1115568" y="384048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Si el relato no declara qué marcaron los conductores en el apartado 12, la tabla de culpabilidad no entra. Deducirlo sería inventar el dato decisivo.</a:t>
            </a:r>
            <a:endParaRPr lang="en-US" sz="1150" dirty="0"/>
          </a:p>
        </p:txBody>
      </p:sp>
      <p:sp>
        <p:nvSpPr>
          <p:cNvPr id="19" name="Shape 16"/>
          <p:cNvSpPr/>
          <p:nvPr/>
        </p:nvSpPr>
        <p:spPr>
          <a:xfrm>
            <a:off x="6259982" y="3383280"/>
            <a:ext cx="5363870" cy="914400"/>
          </a:xfrm>
          <a:prstGeom prst="roundRect">
            <a:avLst>
              <a:gd name="adj" fmla="val 9000"/>
            </a:avLst>
          </a:prstGeom>
          <a:solidFill>
            <a:srgbClr val="F1F6FC"/>
          </a:solidFill>
          <a:ln/>
        </p:spPr>
      </p:sp>
      <p:sp>
        <p:nvSpPr>
          <p:cNvPr id="20" name="Text 17"/>
          <p:cNvSpPr txBox="1"/>
          <p:nvPr/>
        </p:nvSpPr>
        <p:spPr>
          <a:xfrm>
            <a:off x="6516014" y="356616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1" name="Text 18"/>
          <p:cNvSpPr txBox="1"/>
          <p:nvPr/>
        </p:nvSpPr>
        <p:spPr>
          <a:xfrm>
            <a:off x="6808622" y="356616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hay revisión de un experto humano</a:t>
            </a:r>
            <a:endParaRPr lang="en-US" sz="1350" dirty="0"/>
          </a:p>
        </p:txBody>
      </p:sp>
      <p:sp>
        <p:nvSpPr>
          <p:cNvPr id="22" name="Text 19"/>
          <p:cNvSpPr txBox="1"/>
          <p:nvPr/>
        </p:nvSpPr>
        <p:spPr>
          <a:xfrm>
            <a:off x="6808622" y="384048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golden set es una referencia sintética auditada contra el manual con revisión de IA en tres pasos. No es un baremo pericial.</a:t>
            </a:r>
            <a:endParaRPr lang="en-US" sz="1150" dirty="0"/>
          </a:p>
        </p:txBody>
      </p:sp>
      <p:sp>
        <p:nvSpPr>
          <p:cNvPr id="23" name="Shape 20"/>
          <p:cNvSpPr/>
          <p:nvPr/>
        </p:nvSpPr>
        <p:spPr>
          <a:xfrm>
            <a:off x="566928" y="4480560"/>
            <a:ext cx="5363870" cy="914400"/>
          </a:xfrm>
          <a:prstGeom prst="roundRect">
            <a:avLst>
              <a:gd name="adj" fmla="val 9000"/>
            </a:avLst>
          </a:prstGeom>
          <a:solidFill>
            <a:srgbClr val="F1F6FC"/>
          </a:solidFill>
          <a:ln/>
        </p:spPr>
      </p:sp>
      <p:sp>
        <p:nvSpPr>
          <p:cNvPr id="24" name="Text 21"/>
          <p:cNvSpPr txBox="1"/>
          <p:nvPr/>
        </p:nvSpPr>
        <p:spPr>
          <a:xfrm>
            <a:off x="822960" y="466344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5" name="Text 22"/>
          <p:cNvSpPr txBox="1"/>
          <p:nvPr/>
        </p:nvSpPr>
        <p:spPr>
          <a:xfrm>
            <a:off x="1115568" y="466344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hay todavía reserva de holdout</a:t>
            </a:r>
            <a:endParaRPr lang="en-US" sz="1350" dirty="0"/>
          </a:p>
        </p:txBody>
      </p:sp>
      <p:sp>
        <p:nvSpPr>
          <p:cNvPr id="26" name="Text 23"/>
          <p:cNvSpPr txBox="1"/>
          <p:nvPr/>
        </p:nvSpPr>
        <p:spPr>
          <a:xfrm>
            <a:off x="1115568" y="493776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Los 110 casos están en desarrollo. La reserva se congela y se abre una sola vez, después de congelar código, prompts y reglas.</a:t>
            </a:r>
            <a:endParaRPr lang="en-US" sz="1150" dirty="0"/>
          </a:p>
        </p:txBody>
      </p:sp>
      <p:sp>
        <p:nvSpPr>
          <p:cNvPr id="27" name="Shape 24"/>
          <p:cNvSpPr/>
          <p:nvPr/>
        </p:nvSpPr>
        <p:spPr>
          <a:xfrm>
            <a:off x="6259982" y="4480560"/>
            <a:ext cx="5363870" cy="914400"/>
          </a:xfrm>
          <a:prstGeom prst="roundRect">
            <a:avLst>
              <a:gd name="adj" fmla="val 9000"/>
            </a:avLst>
          </a:prstGeom>
          <a:solidFill>
            <a:srgbClr val="F1F6FC"/>
          </a:solidFill>
          <a:ln/>
        </p:spPr>
      </p:sp>
      <p:sp>
        <p:nvSpPr>
          <p:cNvPr id="28" name="Text 25"/>
          <p:cNvSpPr txBox="1"/>
          <p:nvPr/>
        </p:nvSpPr>
        <p:spPr>
          <a:xfrm>
            <a:off x="6516014" y="466344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9" name="Text 26"/>
          <p:cNvSpPr txBox="1"/>
          <p:nvPr/>
        </p:nvSpPr>
        <p:spPr>
          <a:xfrm>
            <a:off x="6808622" y="466344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Una de las catorce reglas sigue pendiente</a:t>
            </a:r>
            <a:endParaRPr lang="en-US" sz="1350" dirty="0"/>
          </a:p>
        </p:txBody>
      </p:sp>
      <p:sp>
        <p:nvSpPr>
          <p:cNvPr id="30" name="Text 27"/>
          <p:cNvSpPr txBox="1"/>
          <p:nvPr/>
        </p:nvSpPr>
        <p:spPr>
          <a:xfrm>
            <a:off x="6808622" y="493776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b.11, rotondas. Devuelve insufficient_data de forma explícita, y el motivo técnico está documentado.</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Ninguno de estos seis límites es una sorpresa de última hora: los seis están escritos en la documentación de entrega y, los que afectan al golden, en los metadatos de cada caso.</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05 · SIGUIENTE ITERACIÓN</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39</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La siguiente iteración avanza por evidencia, no por disponibilidad.</a:t>
            </a:r>
            <a:endParaRPr lang="en-US" sz="30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Cuatro movimientos, en este orden. Ninguno exige tocar el dominio: es exactamente lo que la arquitectura tenía que comprar.</a:t>
            </a:r>
            <a:endParaRPr lang="en-US" sz="1350" dirty="0"/>
          </a:p>
        </p:txBody>
      </p:sp>
      <p:sp>
        <p:nvSpPr>
          <p:cNvPr id="8" name="Shape 5"/>
          <p:cNvSpPr/>
          <p:nvPr/>
        </p:nvSpPr>
        <p:spPr>
          <a:xfrm>
            <a:off x="566928" y="2340864"/>
            <a:ext cx="11057839" cy="731520"/>
          </a:xfrm>
          <a:prstGeom prst="roundRect">
            <a:avLst>
              <a:gd name="adj" fmla="val 11250"/>
            </a:avLst>
          </a:prstGeom>
          <a:solidFill>
            <a:srgbClr val="0A3E7A"/>
          </a:solidFill>
          <a:ln/>
        </p:spPr>
      </p:sp>
      <p:sp>
        <p:nvSpPr>
          <p:cNvPr id="9" name="Shape 6"/>
          <p:cNvSpPr/>
          <p:nvPr/>
        </p:nvSpPr>
        <p:spPr>
          <a:xfrm>
            <a:off x="822960" y="2542032"/>
            <a:ext cx="384048" cy="384048"/>
          </a:xfrm>
          <a:prstGeom prst="ellipse">
            <a:avLst/>
          </a:prstGeom>
          <a:solidFill>
            <a:srgbClr val="5AB6E8"/>
          </a:solidFill>
          <a:ln/>
        </p:spPr>
      </p:sp>
      <p:sp>
        <p:nvSpPr>
          <p:cNvPr id="10" name="Text 7"/>
          <p:cNvSpPr txBox="1"/>
          <p:nvPr/>
        </p:nvSpPr>
        <p:spPr>
          <a:xfrm>
            <a:off x="822960" y="2615184"/>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389888" y="2478024"/>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Cerrar la campaña de evaluación</a:t>
            </a:r>
            <a:endParaRPr lang="en-US" sz="1500" dirty="0"/>
          </a:p>
        </p:txBody>
      </p:sp>
      <p:sp>
        <p:nvSpPr>
          <p:cNvPr id="12" name="Text 9"/>
          <p:cNvSpPr txBox="1"/>
          <p:nvPr/>
        </p:nvSpPr>
        <p:spPr>
          <a:xfrm>
            <a:off x="5596128" y="2505456"/>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Publicar métricas por recorrido sobre los 110 casos, con su commit y su configuración. Después, congelar la reserva de holdout.</a:t>
            </a:r>
            <a:endParaRPr lang="en-US" sz="1200" dirty="0"/>
          </a:p>
        </p:txBody>
      </p:sp>
      <p:sp>
        <p:nvSpPr>
          <p:cNvPr id="13" name="Shape 10"/>
          <p:cNvSpPr/>
          <p:nvPr/>
        </p:nvSpPr>
        <p:spPr>
          <a:xfrm>
            <a:off x="566928" y="3200400"/>
            <a:ext cx="11057839" cy="731520"/>
          </a:xfrm>
          <a:prstGeom prst="roundRect">
            <a:avLst>
              <a:gd name="adj" fmla="val 11250"/>
            </a:avLst>
          </a:prstGeom>
          <a:solidFill>
            <a:srgbClr val="0A3E7A"/>
          </a:solidFill>
          <a:ln/>
        </p:spPr>
      </p:sp>
      <p:sp>
        <p:nvSpPr>
          <p:cNvPr id="14" name="Shape 11"/>
          <p:cNvSpPr/>
          <p:nvPr/>
        </p:nvSpPr>
        <p:spPr>
          <a:xfrm>
            <a:off x="822960" y="3401568"/>
            <a:ext cx="384048" cy="384048"/>
          </a:xfrm>
          <a:prstGeom prst="ellipse">
            <a:avLst/>
          </a:prstGeom>
          <a:solidFill>
            <a:srgbClr val="5AB6E8"/>
          </a:solidFill>
          <a:ln/>
        </p:spPr>
      </p:sp>
      <p:sp>
        <p:nvSpPr>
          <p:cNvPr id="15" name="Text 12"/>
          <p:cNvSpPr txBox="1"/>
          <p:nvPr/>
        </p:nvSpPr>
        <p:spPr>
          <a:xfrm>
            <a:off x="822960" y="3474720"/>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1389888" y="3337560"/>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Decidir el perfil de índice con datos</a:t>
            </a:r>
            <a:endParaRPr lang="en-US" sz="1500" dirty="0"/>
          </a:p>
        </p:txBody>
      </p:sp>
      <p:sp>
        <p:nvSpPr>
          <p:cNvPr id="17" name="Text 14"/>
          <p:cNvSpPr txBox="1"/>
          <p:nvPr/>
        </p:nvSpPr>
        <p:spPr>
          <a:xfrm>
            <a:off x="5596128" y="3364992"/>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Comparar baseline y estructurado sobre el mismo golden. Si Docling gana, se promueve; si no, se queda publicado y sin activar.</a:t>
            </a:r>
            <a:endParaRPr lang="en-US" sz="1200" dirty="0"/>
          </a:p>
        </p:txBody>
      </p:sp>
      <p:sp>
        <p:nvSpPr>
          <p:cNvPr id="18" name="Shape 15"/>
          <p:cNvSpPr/>
          <p:nvPr/>
        </p:nvSpPr>
        <p:spPr>
          <a:xfrm>
            <a:off x="566928" y="4059936"/>
            <a:ext cx="11057839" cy="731520"/>
          </a:xfrm>
          <a:prstGeom prst="roundRect">
            <a:avLst>
              <a:gd name="adj" fmla="val 11250"/>
            </a:avLst>
          </a:prstGeom>
          <a:solidFill>
            <a:srgbClr val="0A3E7A"/>
          </a:solidFill>
          <a:ln/>
        </p:spPr>
      </p:sp>
      <p:sp>
        <p:nvSpPr>
          <p:cNvPr id="19" name="Shape 16"/>
          <p:cNvSpPr/>
          <p:nvPr/>
        </p:nvSpPr>
        <p:spPr>
          <a:xfrm>
            <a:off x="822960" y="4261104"/>
            <a:ext cx="384048" cy="384048"/>
          </a:xfrm>
          <a:prstGeom prst="ellipse">
            <a:avLst/>
          </a:prstGeom>
          <a:solidFill>
            <a:srgbClr val="5AB6E8"/>
          </a:solidFill>
          <a:ln/>
        </p:spPr>
      </p:sp>
      <p:sp>
        <p:nvSpPr>
          <p:cNvPr id="20" name="Text 17"/>
          <p:cNvSpPr txBox="1"/>
          <p:nvPr/>
        </p:nvSpPr>
        <p:spPr>
          <a:xfrm>
            <a:off x="822960" y="4334256"/>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1389888" y="4197096"/>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Revisión humana experta del golden</a:t>
            </a:r>
            <a:endParaRPr lang="en-US" sz="1500" dirty="0"/>
          </a:p>
        </p:txBody>
      </p:sp>
      <p:sp>
        <p:nvSpPr>
          <p:cNvPr id="22" name="Text 19"/>
          <p:cNvSpPr txBox="1"/>
          <p:nvPr/>
        </p:nvSpPr>
        <p:spPr>
          <a:xfrm>
            <a:off x="5596128" y="4224528"/>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Empezando por los cinco casos del enunciado. Es la limitación declarada más seria y la más barata de cerrar.</a:t>
            </a:r>
            <a:endParaRPr lang="en-US" sz="1200" dirty="0"/>
          </a:p>
        </p:txBody>
      </p:sp>
      <p:sp>
        <p:nvSpPr>
          <p:cNvPr id="23" name="Shape 20"/>
          <p:cNvSpPr/>
          <p:nvPr/>
        </p:nvSpPr>
        <p:spPr>
          <a:xfrm>
            <a:off x="566928" y="4919472"/>
            <a:ext cx="11057839" cy="731520"/>
          </a:xfrm>
          <a:prstGeom prst="roundRect">
            <a:avLst>
              <a:gd name="adj" fmla="val 11250"/>
            </a:avLst>
          </a:prstGeom>
          <a:solidFill>
            <a:srgbClr val="0A3E7A"/>
          </a:solidFill>
          <a:ln/>
        </p:spPr>
      </p:sp>
      <p:sp>
        <p:nvSpPr>
          <p:cNvPr id="24" name="Shape 21"/>
          <p:cNvSpPr/>
          <p:nvPr/>
        </p:nvSpPr>
        <p:spPr>
          <a:xfrm>
            <a:off x="822960" y="5120640"/>
            <a:ext cx="384048" cy="384048"/>
          </a:xfrm>
          <a:prstGeom prst="ellipse">
            <a:avLst/>
          </a:prstGeom>
          <a:solidFill>
            <a:srgbClr val="5AB6E8"/>
          </a:solidFill>
          <a:ln/>
        </p:spPr>
      </p:sp>
      <p:sp>
        <p:nvSpPr>
          <p:cNvPr id="25" name="Text 22"/>
          <p:cNvSpPr txBox="1"/>
          <p:nvPr/>
        </p:nvSpPr>
        <p:spPr>
          <a:xfrm>
            <a:off x="822960" y="5193792"/>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4</a:t>
            </a:r>
            <a:endParaRPr lang="en-US" sz="1300" dirty="0"/>
          </a:p>
        </p:txBody>
      </p:sp>
      <p:sp>
        <p:nvSpPr>
          <p:cNvPr id="26" name="Text 23"/>
          <p:cNvSpPr txBox="1"/>
          <p:nvPr/>
        </p:nvSpPr>
        <p:spPr>
          <a:xfrm>
            <a:off x="1389888" y="5056632"/>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Completar b.11 y exponer el CLI de índices</a:t>
            </a:r>
            <a:endParaRPr lang="en-US" sz="1500" dirty="0"/>
          </a:p>
        </p:txBody>
      </p:sp>
      <p:sp>
        <p:nvSpPr>
          <p:cNvPr id="27" name="Text 24"/>
          <p:cNvSpPr txBox="1"/>
          <p:nvPr/>
        </p:nvSpPr>
        <p:spPr>
          <a:xfrm>
            <a:off x="5596128" y="5084064"/>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La regla de rotondas como segunda regla mutuamente excluyente, y la gestión de índices desde el modo administrador.</a:t>
            </a:r>
            <a:endParaRPr lang="en-US" sz="1200" dirty="0"/>
          </a:p>
        </p:txBody>
      </p:sp>
      <p:sp>
        <p:nvSpPr>
          <p:cNvPr id="28" name="Shape 25"/>
          <p:cNvSpPr/>
          <p:nvPr/>
        </p:nvSpPr>
        <p:spPr>
          <a:xfrm>
            <a:off x="566928" y="5870448"/>
            <a:ext cx="11057839" cy="457200"/>
          </a:xfrm>
          <a:prstGeom prst="roundRect">
            <a:avLst>
              <a:gd name="adj" fmla="val 18000"/>
            </a:avLst>
          </a:prstGeom>
          <a:solidFill>
            <a:srgbClr val="0A3E7A"/>
          </a:solidFill>
          <a:ln/>
        </p:spPr>
      </p:sp>
      <p:sp>
        <p:nvSpPr>
          <p:cNvPr id="29" name="Text 2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El orden importa: primero medir, después promover. Invertirlo es cómo un sistema demostrable se convierte en uno que sólo parece bueno.</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326880" y="-1463040"/>
            <a:ext cx="4572000" cy="4572000"/>
          </a:xfrm>
          <a:prstGeom prst="ellipse">
            <a:avLst/>
          </a:prstGeom>
          <a:solidFill>
            <a:srgbClr val="002A5E"/>
          </a:solidFill>
          <a:ln/>
        </p:spPr>
      </p:sp>
      <p:sp>
        <p:nvSpPr>
          <p:cNvPr id="3" name="Shape 1"/>
          <p:cNvSpPr/>
          <p:nvPr/>
        </p:nvSpPr>
        <p:spPr>
          <a:xfrm>
            <a:off x="10424160" y="3566160"/>
            <a:ext cx="2743200" cy="2743200"/>
          </a:xfrm>
          <a:prstGeom prst="ellipse">
            <a:avLst/>
          </a:prstGeom>
          <a:solidFill>
            <a:srgbClr val="063E82"/>
          </a:solidFill>
          <a:ln/>
        </p:spPr>
      </p:sp>
      <p:sp>
        <p:nvSpPr>
          <p:cNvPr id="4" name="Text 2"/>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CIERRE</a:t>
            </a:r>
            <a:endParaRPr lang="en-US" sz="1050" dirty="0"/>
          </a:p>
        </p:txBody>
      </p:sp>
      <p:sp>
        <p:nvSpPr>
          <p:cNvPr id="5" name="Shape 3"/>
          <p:cNvSpPr/>
          <p:nvPr/>
        </p:nvSpPr>
        <p:spPr>
          <a:xfrm>
            <a:off x="10234879" y="256032"/>
            <a:ext cx="1389888" cy="384048"/>
          </a:xfrm>
          <a:prstGeom prst="roundRect">
            <a:avLst>
              <a:gd name="adj" fmla="val 19048"/>
            </a:avLst>
          </a:prstGeom>
          <a:solidFill>
            <a:srgbClr val="FFFFFF"/>
          </a:solidFill>
          <a:ln/>
        </p:spPr>
      </p:sp>
      <p:pic>
        <p:nvPicPr>
          <p:cNvPr id="6"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7" name="Text 4"/>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40</a:t>
            </a:r>
            <a:endParaRPr lang="en-US" sz="950" dirty="0"/>
          </a:p>
        </p:txBody>
      </p:sp>
      <p:sp>
        <p:nvSpPr>
          <p:cNvPr id="8" name="Text 5"/>
          <p:cNvSpPr txBox="1"/>
          <p:nvPr/>
        </p:nvSpPr>
        <p:spPr>
          <a:xfrm>
            <a:off x="566928" y="1371600"/>
            <a:ext cx="877824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No es un chatbot sobre un PDF.</a:t>
            </a:r>
            <a:endParaRPr lang="en-US" sz="4000" dirty="0"/>
          </a:p>
        </p:txBody>
      </p:sp>
      <p:sp>
        <p:nvSpPr>
          <p:cNvPr id="9" name="Text 6"/>
          <p:cNvSpPr txBox="1"/>
          <p:nvPr/>
        </p:nvSpPr>
        <p:spPr>
          <a:xfrm>
            <a:off x="566928" y="2286000"/>
            <a:ext cx="8229600" cy="914400"/>
          </a:xfrm>
          <a:prstGeom prst="rect">
            <a:avLst/>
          </a:prstGeom>
          <a:noFill/>
          <a:ln/>
        </p:spPr>
        <p:txBody>
          <a:bodyPr wrap="square" lIns="0" tIns="0" rIns="0" bIns="0" rtlCol="0" anchor="t"/>
          <a:lstStyle/>
          <a:p>
            <a:pPr indent="0" marL="0">
              <a:lnSpc>
                <a:spcPct val="114000"/>
              </a:lnSpc>
              <a:buNone/>
            </a:pPr>
            <a:r>
              <a:rPr lang="en-US" sz="1600" dirty="0">
                <a:solidFill>
                  <a:srgbClr val="C9DEF2"/>
                </a:solidFill>
                <a:latin typeface="Calibri" pitchFamily="34" charset="0"/>
                <a:ea typeface="Calibri" pitchFamily="34" charset="-122"/>
                <a:cs typeface="Calibri" pitchFamily="34" charset="-120"/>
              </a:rPr>
              <a:t>Es una plataforma RAG componible donde la evidencia, la orquestación y la decisión son capas independientes, observables e intercambiables — y donde abstenerse con criterio es una función del producto, no un fallo.</a:t>
            </a:r>
            <a:endParaRPr lang="en-US" sz="1600" dirty="0"/>
          </a:p>
        </p:txBody>
      </p:sp>
      <p:sp>
        <p:nvSpPr>
          <p:cNvPr id="10" name="Shape 7"/>
          <p:cNvSpPr/>
          <p:nvPr/>
        </p:nvSpPr>
        <p:spPr>
          <a:xfrm>
            <a:off x="566928" y="3529584"/>
            <a:ext cx="2585923" cy="969264"/>
          </a:xfrm>
          <a:prstGeom prst="roundRect">
            <a:avLst>
              <a:gd name="adj" fmla="val 9434"/>
            </a:avLst>
          </a:prstGeom>
          <a:solidFill>
            <a:srgbClr val="0A3E7A"/>
          </a:solidFill>
          <a:ln/>
        </p:spPr>
      </p:sp>
      <p:sp>
        <p:nvSpPr>
          <p:cNvPr id="11" name="Text 8"/>
          <p:cNvSpPr txBox="1"/>
          <p:nvPr/>
        </p:nvSpPr>
        <p:spPr>
          <a:xfrm>
            <a:off x="749808"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INGESTA</a:t>
            </a:r>
            <a:endParaRPr lang="en-US" sz="1200" dirty="0"/>
          </a:p>
        </p:txBody>
      </p:sp>
      <p:sp>
        <p:nvSpPr>
          <p:cNvPr id="12" name="Text 9"/>
          <p:cNvSpPr txBox="1"/>
          <p:nvPr/>
        </p:nvSpPr>
        <p:spPr>
          <a:xfrm>
            <a:off x="749808"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versionada y verificable</a:t>
            </a:r>
            <a:endParaRPr lang="en-US" sz="1150" dirty="0"/>
          </a:p>
        </p:txBody>
      </p:sp>
      <p:sp>
        <p:nvSpPr>
          <p:cNvPr id="13" name="Shape 10"/>
          <p:cNvSpPr/>
          <p:nvPr/>
        </p:nvSpPr>
        <p:spPr>
          <a:xfrm>
            <a:off x="3390595" y="3529584"/>
            <a:ext cx="2585923" cy="969264"/>
          </a:xfrm>
          <a:prstGeom prst="roundRect">
            <a:avLst>
              <a:gd name="adj" fmla="val 9434"/>
            </a:avLst>
          </a:prstGeom>
          <a:solidFill>
            <a:srgbClr val="0A3E7A"/>
          </a:solidFill>
          <a:ln/>
        </p:spPr>
      </p:sp>
      <p:sp>
        <p:nvSpPr>
          <p:cNvPr id="14" name="Text 11"/>
          <p:cNvSpPr txBox="1"/>
          <p:nvPr/>
        </p:nvSpPr>
        <p:spPr>
          <a:xfrm>
            <a:off x="3573475"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RECUPERACIÓN</a:t>
            </a:r>
            <a:endParaRPr lang="en-US" sz="1200" dirty="0"/>
          </a:p>
        </p:txBody>
      </p:sp>
      <p:sp>
        <p:nvSpPr>
          <p:cNvPr id="15" name="Text 12"/>
          <p:cNvSpPr txBox="1"/>
          <p:nvPr/>
        </p:nvSpPr>
        <p:spPr>
          <a:xfrm>
            <a:off x="3573475"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híbrida y reversible</a:t>
            </a:r>
            <a:endParaRPr lang="en-US" sz="1150" dirty="0"/>
          </a:p>
        </p:txBody>
      </p:sp>
      <p:sp>
        <p:nvSpPr>
          <p:cNvPr id="16" name="Shape 13"/>
          <p:cNvSpPr/>
          <p:nvPr/>
        </p:nvSpPr>
        <p:spPr>
          <a:xfrm>
            <a:off x="6214262" y="3529584"/>
            <a:ext cx="2585923" cy="969264"/>
          </a:xfrm>
          <a:prstGeom prst="roundRect">
            <a:avLst>
              <a:gd name="adj" fmla="val 9434"/>
            </a:avLst>
          </a:prstGeom>
          <a:solidFill>
            <a:srgbClr val="0A3E7A"/>
          </a:solidFill>
          <a:ln/>
        </p:spPr>
      </p:sp>
      <p:sp>
        <p:nvSpPr>
          <p:cNvPr id="17" name="Text 14"/>
          <p:cNvSpPr txBox="1"/>
          <p:nvPr/>
        </p:nvSpPr>
        <p:spPr>
          <a:xfrm>
            <a:off x="6397142"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DECISIÓN</a:t>
            </a:r>
            <a:endParaRPr lang="en-US" sz="1200" dirty="0"/>
          </a:p>
        </p:txBody>
      </p:sp>
      <p:sp>
        <p:nvSpPr>
          <p:cNvPr id="18" name="Text 15"/>
          <p:cNvSpPr txBox="1"/>
          <p:nvPr/>
        </p:nvSpPr>
        <p:spPr>
          <a:xfrm>
            <a:off x="6397142"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determinista y firmada</a:t>
            </a:r>
            <a:endParaRPr lang="en-US" sz="1150" dirty="0"/>
          </a:p>
        </p:txBody>
      </p:sp>
      <p:sp>
        <p:nvSpPr>
          <p:cNvPr id="19" name="Shape 16"/>
          <p:cNvSpPr/>
          <p:nvPr/>
        </p:nvSpPr>
        <p:spPr>
          <a:xfrm>
            <a:off x="9037930" y="3529584"/>
            <a:ext cx="2585923" cy="969264"/>
          </a:xfrm>
          <a:prstGeom prst="roundRect">
            <a:avLst>
              <a:gd name="adj" fmla="val 9434"/>
            </a:avLst>
          </a:prstGeom>
          <a:solidFill>
            <a:srgbClr val="0A3E7A"/>
          </a:solidFill>
          <a:ln/>
        </p:spPr>
      </p:sp>
      <p:sp>
        <p:nvSpPr>
          <p:cNvPr id="20" name="Text 17"/>
          <p:cNvSpPr txBox="1"/>
          <p:nvPr/>
        </p:nvSpPr>
        <p:spPr>
          <a:xfrm>
            <a:off x="9220810"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OPERACIÓN</a:t>
            </a:r>
            <a:endParaRPr lang="en-US" sz="1200" dirty="0"/>
          </a:p>
        </p:txBody>
      </p:sp>
      <p:sp>
        <p:nvSpPr>
          <p:cNvPr id="21" name="Text 18"/>
          <p:cNvSpPr txBox="1"/>
          <p:nvPr/>
        </p:nvSpPr>
        <p:spPr>
          <a:xfrm>
            <a:off x="9220810"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trazable extremo a extremo</a:t>
            </a:r>
            <a:endParaRPr lang="en-US" sz="1150" dirty="0"/>
          </a:p>
        </p:txBody>
      </p:sp>
      <p:sp>
        <p:nvSpPr>
          <p:cNvPr id="22" name="Text 19"/>
          <p:cNvSpPr txBox="1"/>
          <p:nvPr/>
        </p:nvSpPr>
        <p:spPr>
          <a:xfrm>
            <a:off x="566928" y="5029200"/>
            <a:ext cx="3657600" cy="54864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Gracias.</a:t>
            </a:r>
            <a:endParaRPr lang="en-US" sz="3200" dirty="0"/>
          </a:p>
        </p:txBody>
      </p:sp>
      <p:sp>
        <p:nvSpPr>
          <p:cNvPr id="23" name="Text 20"/>
          <p:cNvSpPr txBox="1"/>
          <p:nvPr/>
        </p:nvSpPr>
        <p:spPr>
          <a:xfrm>
            <a:off x="566928" y="5614416"/>
            <a:ext cx="4572000" cy="365760"/>
          </a:xfrm>
          <a:prstGeom prst="rect">
            <a:avLst/>
          </a:prstGeom>
          <a:noFill/>
          <a:ln/>
        </p:spPr>
        <p:txBody>
          <a:bodyPr wrap="square" lIns="0" tIns="0" rIns="0" bIns="0" rtlCol="0" anchor="t"/>
          <a:lstStyle/>
          <a:p>
            <a:pPr indent="0" marL="0">
              <a:buNone/>
            </a:pPr>
            <a:r>
              <a:rPr lang="en-US" sz="1700" dirty="0">
                <a:solidFill>
                  <a:srgbClr val="5AB6E8"/>
                </a:solidFill>
                <a:latin typeface="Calibri" pitchFamily="34" charset="0"/>
                <a:ea typeface="Calibri" pitchFamily="34" charset="-122"/>
                <a:cs typeface="Calibri" pitchFamily="34" charset="-120"/>
              </a:rPr>
              <a:t>¿Preguntas?</a:t>
            </a:r>
            <a:endParaRPr lang="en-US" sz="1700" dirty="0"/>
          </a:p>
        </p:txBody>
      </p:sp>
      <p:sp>
        <p:nvSpPr>
          <p:cNvPr id="24" name="Shape 21"/>
          <p:cNvSpPr/>
          <p:nvPr/>
        </p:nvSpPr>
        <p:spPr>
          <a:xfrm>
            <a:off x="6766560" y="5047488"/>
            <a:ext cx="4858207" cy="969264"/>
          </a:xfrm>
          <a:prstGeom prst="roundRect">
            <a:avLst>
              <a:gd name="adj" fmla="val 9434"/>
            </a:avLst>
          </a:prstGeom>
          <a:solidFill>
            <a:srgbClr val="002A5E"/>
          </a:solidFill>
          <a:ln/>
        </p:spPr>
      </p:sp>
      <p:sp>
        <p:nvSpPr>
          <p:cNvPr id="25" name="Text 22"/>
          <p:cNvSpPr txBox="1"/>
          <p:nvPr/>
        </p:nvSpPr>
        <p:spPr>
          <a:xfrm>
            <a:off x="6986016" y="5193792"/>
            <a:ext cx="4419295" cy="694944"/>
          </a:xfrm>
          <a:prstGeom prst="rect">
            <a:avLst/>
          </a:prstGeom>
          <a:noFill/>
          <a:ln/>
        </p:spPr>
        <p:txBody>
          <a:bodyPr wrap="square" lIns="0" tIns="0" rIns="0" bIns="0" rtlCol="0" anchor="t"/>
          <a:lstStyle/>
          <a:p>
            <a:pPr indent="0" marL="0">
              <a:lnSpc>
                <a:spcPct val="108000"/>
              </a:lnSpc>
              <a:buNone/>
            </a:pPr>
            <a:r>
              <a:rPr lang="en-US" sz="1100" dirty="0">
                <a:solidFill>
                  <a:srgbClr val="C9DEF2"/>
                </a:solidFill>
                <a:latin typeface="Calibri" pitchFamily="34" charset="0"/>
                <a:ea typeface="Calibri" pitchFamily="34" charset="-122"/>
                <a:cs typeface="Calibri" pitchFamily="34" charset="-120"/>
              </a:rPr>
              <a:t>A mano para las preguntas:  docs/ESTADO.md (estado verificado)  ·  el ruleset y la matriz firmados  ·  la traza en Langfuse del caso resuelto  ·  el golden set congelado</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41</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A</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Apéndice</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Material de apoyo para las preguntas: stack, API,</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glosario del dominio y comandos reproducibles.</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STACK</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Stack completo, y el puerto por el que cada pieza es sustituible.</a:t>
            </a:r>
            <a:endParaRPr lang="en-US" sz="2600" dirty="0"/>
          </a:p>
        </p:txBody>
      </p:sp>
      <p:sp>
        <p:nvSpPr>
          <p:cNvPr id="6" name="Shape 3"/>
          <p:cNvSpPr/>
          <p:nvPr/>
        </p:nvSpPr>
        <p:spPr>
          <a:xfrm>
            <a:off x="566928" y="1700784"/>
            <a:ext cx="11057839" cy="420624"/>
          </a:xfrm>
          <a:prstGeom prst="roundRect">
            <a:avLst>
              <a:gd name="adj" fmla="val 19565"/>
            </a:avLst>
          </a:prstGeom>
          <a:solidFill>
            <a:srgbClr val="F1F6FC"/>
          </a:solidFill>
          <a:ln/>
        </p:spPr>
      </p:sp>
      <p:sp>
        <p:nvSpPr>
          <p:cNvPr id="7" name="Text 4"/>
          <p:cNvSpPr txBox="1"/>
          <p:nvPr/>
        </p:nvSpPr>
        <p:spPr>
          <a:xfrm>
            <a:off x="713232" y="18288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Lenguaje y ejecución</a:t>
            </a:r>
            <a:endParaRPr lang="en-US" sz="1150" dirty="0"/>
          </a:p>
        </p:txBody>
      </p:sp>
      <p:sp>
        <p:nvSpPr>
          <p:cNvPr id="8" name="Text 5"/>
          <p:cNvSpPr txBox="1"/>
          <p:nvPr/>
        </p:nvSpPr>
        <p:spPr>
          <a:xfrm>
            <a:off x="3493008" y="18379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Python 3.14 · uv</a:t>
            </a:r>
            <a:endParaRPr lang="en-US" sz="950" dirty="0"/>
          </a:p>
        </p:txBody>
      </p:sp>
      <p:sp>
        <p:nvSpPr>
          <p:cNvPr id="9" name="Text 6"/>
          <p:cNvSpPr txBox="1"/>
          <p:nvPr/>
        </p:nvSpPr>
        <p:spPr>
          <a:xfrm>
            <a:off x="7699248" y="18379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Entorno reproducible y resolución de dependencias rápida</a:t>
            </a:r>
            <a:endParaRPr lang="en-US" sz="1050" dirty="0"/>
          </a:p>
        </p:txBody>
      </p:sp>
      <p:sp>
        <p:nvSpPr>
          <p:cNvPr id="10" name="Text 7"/>
          <p:cNvSpPr txBox="1"/>
          <p:nvPr/>
        </p:nvSpPr>
        <p:spPr>
          <a:xfrm>
            <a:off x="713232" y="22860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API</a:t>
            </a:r>
            <a:endParaRPr lang="en-US" sz="1150" dirty="0"/>
          </a:p>
        </p:txBody>
      </p:sp>
      <p:sp>
        <p:nvSpPr>
          <p:cNvPr id="11" name="Text 8"/>
          <p:cNvSpPr txBox="1"/>
          <p:nvPr/>
        </p:nvSpPr>
        <p:spPr>
          <a:xfrm>
            <a:off x="3493008" y="22951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FastAPI · Pydantic 2 · SSE</a:t>
            </a:r>
            <a:endParaRPr lang="en-US" sz="950" dirty="0"/>
          </a:p>
        </p:txBody>
      </p:sp>
      <p:sp>
        <p:nvSpPr>
          <p:cNvPr id="12" name="Text 9"/>
          <p:cNvSpPr txBox="1"/>
          <p:nvPr/>
        </p:nvSpPr>
        <p:spPr>
          <a:xfrm>
            <a:off x="7699248" y="22951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Contrato tipado y publicación del OpenAPI que consume el cliente</a:t>
            </a:r>
            <a:endParaRPr lang="en-US" sz="1050" dirty="0"/>
          </a:p>
        </p:txBody>
      </p:sp>
      <p:sp>
        <p:nvSpPr>
          <p:cNvPr id="13" name="Shape 10"/>
          <p:cNvSpPr/>
          <p:nvPr/>
        </p:nvSpPr>
        <p:spPr>
          <a:xfrm>
            <a:off x="566928" y="2615184"/>
            <a:ext cx="11057839" cy="420624"/>
          </a:xfrm>
          <a:prstGeom prst="roundRect">
            <a:avLst>
              <a:gd name="adj" fmla="val 19565"/>
            </a:avLst>
          </a:prstGeom>
          <a:solidFill>
            <a:srgbClr val="F1F6FC"/>
          </a:solidFill>
          <a:ln/>
        </p:spPr>
      </p:sp>
      <p:sp>
        <p:nvSpPr>
          <p:cNvPr id="14" name="Text 11"/>
          <p:cNvSpPr txBox="1"/>
          <p:nvPr/>
        </p:nvSpPr>
        <p:spPr>
          <a:xfrm>
            <a:off x="713232" y="27432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Orquestación</a:t>
            </a:r>
            <a:endParaRPr lang="en-US" sz="1150" dirty="0"/>
          </a:p>
        </p:txBody>
      </p:sp>
      <p:sp>
        <p:nvSpPr>
          <p:cNvPr id="15" name="Text 12"/>
          <p:cNvSpPr txBox="1"/>
          <p:nvPr/>
        </p:nvSpPr>
        <p:spPr>
          <a:xfrm>
            <a:off x="3493008" y="27523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LangGraph · MemorySaver</a:t>
            </a:r>
            <a:endParaRPr lang="en-US" sz="950" dirty="0"/>
          </a:p>
        </p:txBody>
      </p:sp>
      <p:sp>
        <p:nvSpPr>
          <p:cNvPr id="16" name="Text 13"/>
          <p:cNvSpPr txBox="1"/>
          <p:nvPr/>
        </p:nvSpPr>
        <p:spPr>
          <a:xfrm>
            <a:off x="7699248" y="27523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Grafos tipados con checkpoint e interrupción humana</a:t>
            </a:r>
            <a:endParaRPr lang="en-US" sz="1050" dirty="0"/>
          </a:p>
        </p:txBody>
      </p:sp>
      <p:sp>
        <p:nvSpPr>
          <p:cNvPr id="17" name="Text 14"/>
          <p:cNvSpPr txBox="1"/>
          <p:nvPr/>
        </p:nvSpPr>
        <p:spPr>
          <a:xfrm>
            <a:off x="713232" y="32004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Modelos</a:t>
            </a:r>
            <a:endParaRPr lang="en-US" sz="1150" dirty="0"/>
          </a:p>
        </p:txBody>
      </p:sp>
      <p:sp>
        <p:nvSpPr>
          <p:cNvPr id="18" name="Text 15"/>
          <p:cNvSpPr txBox="1"/>
          <p:nvPr/>
        </p:nvSpPr>
        <p:spPr>
          <a:xfrm>
            <a:off x="3493008" y="32095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OpenAI (generación, extracción, embeddings, enrutado)</a:t>
            </a:r>
            <a:endParaRPr lang="en-US" sz="950" dirty="0"/>
          </a:p>
        </p:txBody>
      </p:sp>
      <p:sp>
        <p:nvSpPr>
          <p:cNvPr id="19" name="Text 16"/>
          <p:cNvSpPr txBox="1"/>
          <p:nvPr/>
        </p:nvSpPr>
        <p:spPr>
          <a:xfrm>
            <a:off x="7699248" y="32095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Cuatro usos distintos tras tres puertos separados</a:t>
            </a:r>
            <a:endParaRPr lang="en-US" sz="1050" dirty="0"/>
          </a:p>
        </p:txBody>
      </p:sp>
      <p:sp>
        <p:nvSpPr>
          <p:cNvPr id="20" name="Shape 17"/>
          <p:cNvSpPr/>
          <p:nvPr/>
        </p:nvSpPr>
        <p:spPr>
          <a:xfrm>
            <a:off x="566928" y="3529584"/>
            <a:ext cx="11057839" cy="420624"/>
          </a:xfrm>
          <a:prstGeom prst="roundRect">
            <a:avLst>
              <a:gd name="adj" fmla="val 19565"/>
            </a:avLst>
          </a:prstGeom>
          <a:solidFill>
            <a:srgbClr val="F1F6FC"/>
          </a:solidFill>
          <a:ln/>
        </p:spPr>
      </p:sp>
      <p:sp>
        <p:nvSpPr>
          <p:cNvPr id="21" name="Text 18"/>
          <p:cNvSpPr txBox="1"/>
          <p:nvPr/>
        </p:nvSpPr>
        <p:spPr>
          <a:xfrm>
            <a:off x="713232" y="36576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Índice</a:t>
            </a:r>
            <a:endParaRPr lang="en-US" sz="1150" dirty="0"/>
          </a:p>
        </p:txBody>
      </p:sp>
      <p:sp>
        <p:nvSpPr>
          <p:cNvPr id="22" name="Text 19"/>
          <p:cNvSpPr txBox="1"/>
          <p:nvPr/>
        </p:nvSpPr>
        <p:spPr>
          <a:xfrm>
            <a:off x="3493008" y="36667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Qdrant · denso + BM25 español (fastembed) · RRF nativo</a:t>
            </a:r>
            <a:endParaRPr lang="en-US" sz="950" dirty="0"/>
          </a:p>
        </p:txBody>
      </p:sp>
      <p:sp>
        <p:nvSpPr>
          <p:cNvPr id="23" name="Text 20"/>
          <p:cNvSpPr txBox="1"/>
          <p:nvPr/>
        </p:nvSpPr>
        <p:spPr>
          <a:xfrm>
            <a:off x="7699248" y="36667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Fusión determinista dentro del motor</a:t>
            </a:r>
            <a:endParaRPr lang="en-US" sz="1050" dirty="0"/>
          </a:p>
        </p:txBody>
      </p:sp>
      <p:sp>
        <p:nvSpPr>
          <p:cNvPr id="24" name="Text 21"/>
          <p:cNvSpPr txBox="1"/>
          <p:nvPr/>
        </p:nvSpPr>
        <p:spPr>
          <a:xfrm>
            <a:off x="713232" y="41148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Extracción de PDF</a:t>
            </a:r>
            <a:endParaRPr lang="en-US" sz="1150" dirty="0"/>
          </a:p>
        </p:txBody>
      </p:sp>
      <p:sp>
        <p:nvSpPr>
          <p:cNvPr id="25" name="Text 22"/>
          <p:cNvSpPr txBox="1"/>
          <p:nvPr/>
        </p:nvSpPr>
        <p:spPr>
          <a:xfrm>
            <a:off x="3493008" y="41239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pypdf 6.16.2 · Docling 2.124.0</a:t>
            </a:r>
            <a:endParaRPr lang="en-US" sz="950" dirty="0"/>
          </a:p>
        </p:txBody>
      </p:sp>
      <p:sp>
        <p:nvSpPr>
          <p:cNvPr id="26" name="Text 23"/>
          <p:cNvSpPr txBox="1"/>
          <p:nvPr/>
        </p:nvSpPr>
        <p:spPr>
          <a:xfrm>
            <a:off x="7699248" y="41239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Dos perfiles publicados para el mismo documento verificado</a:t>
            </a:r>
            <a:endParaRPr lang="en-US" sz="1050" dirty="0"/>
          </a:p>
        </p:txBody>
      </p:sp>
      <p:sp>
        <p:nvSpPr>
          <p:cNvPr id="27" name="Shape 24"/>
          <p:cNvSpPr/>
          <p:nvPr/>
        </p:nvSpPr>
        <p:spPr>
          <a:xfrm>
            <a:off x="566928" y="4443984"/>
            <a:ext cx="11057839" cy="420624"/>
          </a:xfrm>
          <a:prstGeom prst="roundRect">
            <a:avLst>
              <a:gd name="adj" fmla="val 19565"/>
            </a:avLst>
          </a:prstGeom>
          <a:solidFill>
            <a:srgbClr val="F1F6FC"/>
          </a:solidFill>
          <a:ln/>
        </p:spPr>
      </p:sp>
      <p:sp>
        <p:nvSpPr>
          <p:cNvPr id="28" name="Text 25"/>
          <p:cNvSpPr txBox="1"/>
          <p:nvPr/>
        </p:nvSpPr>
        <p:spPr>
          <a:xfrm>
            <a:off x="713232" y="45720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Observabilidad y evaluación</a:t>
            </a:r>
            <a:endParaRPr lang="en-US" sz="1150" dirty="0"/>
          </a:p>
        </p:txBody>
      </p:sp>
      <p:sp>
        <p:nvSpPr>
          <p:cNvPr id="29" name="Text 26"/>
          <p:cNvSpPr txBox="1"/>
          <p:nvPr/>
        </p:nvSpPr>
        <p:spPr>
          <a:xfrm>
            <a:off x="3493008" y="45811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Langfuse autoalojado · Ragas</a:t>
            </a:r>
            <a:endParaRPr lang="en-US" sz="950" dirty="0"/>
          </a:p>
        </p:txBody>
      </p:sp>
      <p:sp>
        <p:nvSpPr>
          <p:cNvPr id="30" name="Text 27"/>
          <p:cNvSpPr txBox="1"/>
          <p:nvPr/>
        </p:nvSpPr>
        <p:spPr>
          <a:xfrm>
            <a:off x="7699248" y="45811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Trazas, datasets, releases y experimentos en local</a:t>
            </a:r>
            <a:endParaRPr lang="en-US" sz="1050" dirty="0"/>
          </a:p>
        </p:txBody>
      </p:sp>
      <p:sp>
        <p:nvSpPr>
          <p:cNvPr id="31" name="Text 28"/>
          <p:cNvSpPr txBox="1"/>
          <p:nvPr/>
        </p:nvSpPr>
        <p:spPr>
          <a:xfrm>
            <a:off x="713232" y="50292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Cliente</a:t>
            </a:r>
            <a:endParaRPr lang="en-US" sz="1150" dirty="0"/>
          </a:p>
        </p:txBody>
      </p:sp>
      <p:sp>
        <p:nvSpPr>
          <p:cNvPr id="32" name="Text 29"/>
          <p:cNvSpPr txBox="1"/>
          <p:nvPr/>
        </p:nvSpPr>
        <p:spPr>
          <a:xfrm>
            <a:off x="3493008" y="50383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React 19 · Vite · TypeScript estricto · pdfjs-dist</a:t>
            </a:r>
            <a:endParaRPr lang="en-US" sz="950" dirty="0"/>
          </a:p>
        </p:txBody>
      </p:sp>
      <p:sp>
        <p:nvSpPr>
          <p:cNvPr id="33" name="Text 30"/>
          <p:cNvSpPr txBox="1"/>
          <p:nvPr/>
        </p:nvSpPr>
        <p:spPr>
          <a:xfrm>
            <a:off x="7699248" y="50383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Tipos generados del OpenAPI; visor que rasteriza sólo la página visible</a:t>
            </a:r>
            <a:endParaRPr lang="en-US" sz="1050" dirty="0"/>
          </a:p>
        </p:txBody>
      </p:sp>
      <p:sp>
        <p:nvSpPr>
          <p:cNvPr id="34" name="Shape 31"/>
          <p:cNvSpPr/>
          <p:nvPr/>
        </p:nvSpPr>
        <p:spPr>
          <a:xfrm>
            <a:off x="566928" y="5358384"/>
            <a:ext cx="11057839" cy="420624"/>
          </a:xfrm>
          <a:prstGeom prst="roundRect">
            <a:avLst>
              <a:gd name="adj" fmla="val 19565"/>
            </a:avLst>
          </a:prstGeom>
          <a:solidFill>
            <a:srgbClr val="F1F6FC"/>
          </a:solidFill>
          <a:ln/>
        </p:spPr>
      </p:sp>
      <p:sp>
        <p:nvSpPr>
          <p:cNvPr id="35" name="Text 32"/>
          <p:cNvSpPr txBox="1"/>
          <p:nvPr/>
        </p:nvSpPr>
        <p:spPr>
          <a:xfrm>
            <a:off x="713232" y="54864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Calidad</a:t>
            </a:r>
            <a:endParaRPr lang="en-US" sz="1150" dirty="0"/>
          </a:p>
        </p:txBody>
      </p:sp>
      <p:sp>
        <p:nvSpPr>
          <p:cNvPr id="36" name="Text 33"/>
          <p:cNvSpPr txBox="1"/>
          <p:nvPr/>
        </p:nvSpPr>
        <p:spPr>
          <a:xfrm>
            <a:off x="3493008" y="54955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pytest · vitest · pyright · ruff · eslint</a:t>
            </a:r>
            <a:endParaRPr lang="en-US" sz="950" dirty="0"/>
          </a:p>
        </p:txBody>
      </p:sp>
      <p:sp>
        <p:nvSpPr>
          <p:cNvPr id="37" name="Text 34"/>
          <p:cNvSpPr txBox="1"/>
          <p:nvPr/>
        </p:nvSpPr>
        <p:spPr>
          <a:xfrm>
            <a:off x="7699248" y="54955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Cinco puertas reproducibles con un comando</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API</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Superficie de API: un sobre común tipado para los tres recorridos.</a:t>
            </a:r>
            <a:endParaRPr lang="en-US" sz="2600" dirty="0"/>
          </a:p>
        </p:txBody>
      </p:sp>
      <p:sp>
        <p:nvSpPr>
          <p:cNvPr id="6" name="Text 3"/>
          <p:cNvSpPr txBox="1"/>
          <p:nvPr/>
        </p:nvSpPr>
        <p:spPr>
          <a:xfrm>
            <a:off x="566928" y="2011680"/>
            <a:ext cx="3503066" cy="219456"/>
          </a:xfrm>
          <a:prstGeom prst="rect">
            <a:avLst/>
          </a:prstGeom>
          <a:noFill/>
          <a:ln/>
        </p:spPr>
        <p:txBody>
          <a:bodyPr wrap="square" lIns="0" tIns="0" rIns="0" bIns="0" rtlCol="0" anchor="t"/>
          <a:lstStyle/>
          <a:p>
            <a:pPr indent="0" marL="0">
              <a:buNone/>
            </a:pPr>
            <a:r>
              <a:rPr lang="en-US" sz="950" b="1" spc="120" kern="0" dirty="0">
                <a:solidFill>
                  <a:srgbClr val="003781"/>
                </a:solidFill>
                <a:latin typeface="Arial" pitchFamily="34" charset="0"/>
                <a:ea typeface="Arial" pitchFamily="34" charset="-122"/>
                <a:cs typeface="Arial" pitchFamily="34" charset="-120"/>
              </a:rPr>
              <a:t>CONVERSACIÓN</a:t>
            </a:r>
            <a:endParaRPr lang="en-US" sz="950" dirty="0"/>
          </a:p>
        </p:txBody>
      </p:sp>
      <p:sp>
        <p:nvSpPr>
          <p:cNvPr id="7" name="Shape 4"/>
          <p:cNvSpPr/>
          <p:nvPr/>
        </p:nvSpPr>
        <p:spPr>
          <a:xfrm>
            <a:off x="566928" y="2340864"/>
            <a:ext cx="3503066" cy="768096"/>
          </a:xfrm>
          <a:prstGeom prst="roundRect">
            <a:avLst>
              <a:gd name="adj" fmla="val 10714"/>
            </a:avLst>
          </a:prstGeom>
          <a:solidFill>
            <a:srgbClr val="F1F6FC"/>
          </a:solidFill>
          <a:ln/>
        </p:spPr>
      </p:sp>
      <p:sp>
        <p:nvSpPr>
          <p:cNvPr id="8" name="Text 5"/>
          <p:cNvSpPr txBox="1"/>
          <p:nvPr/>
        </p:nvSpPr>
        <p:spPr>
          <a:xfrm>
            <a:off x="786384" y="2468880"/>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/api/v1/queries/resolve</a:t>
            </a:r>
            <a:endParaRPr lang="en-US" sz="950" dirty="0"/>
          </a:p>
        </p:txBody>
      </p:sp>
      <p:sp>
        <p:nvSpPr>
          <p:cNvPr id="9" name="Text 6"/>
          <p:cNvSpPr txBox="1"/>
          <p:nvPr/>
        </p:nvSpPr>
        <p:spPr>
          <a:xfrm>
            <a:off x="786384"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Modo automático: clasifica y delega en el recorrido correcto</a:t>
            </a:r>
            <a:endParaRPr lang="en-US" sz="1050" dirty="0"/>
          </a:p>
        </p:txBody>
      </p:sp>
      <p:sp>
        <p:nvSpPr>
          <p:cNvPr id="10" name="Shape 7"/>
          <p:cNvSpPr/>
          <p:nvPr/>
        </p:nvSpPr>
        <p:spPr>
          <a:xfrm>
            <a:off x="566928" y="3200400"/>
            <a:ext cx="3503066" cy="768096"/>
          </a:xfrm>
          <a:prstGeom prst="roundRect">
            <a:avLst>
              <a:gd name="adj" fmla="val 10714"/>
            </a:avLst>
          </a:prstGeom>
          <a:solidFill>
            <a:srgbClr val="F1F6FC"/>
          </a:solidFill>
          <a:ln/>
        </p:spPr>
      </p:sp>
      <p:sp>
        <p:nvSpPr>
          <p:cNvPr id="11" name="Text 8"/>
          <p:cNvSpPr txBox="1"/>
          <p:nvPr/>
        </p:nvSpPr>
        <p:spPr>
          <a:xfrm>
            <a:off x="786384" y="3328416"/>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/api/v1/questions/answer</a:t>
            </a:r>
            <a:endParaRPr lang="en-US" sz="950" dirty="0"/>
          </a:p>
        </p:txBody>
      </p:sp>
      <p:sp>
        <p:nvSpPr>
          <p:cNvPr id="12" name="Text 9"/>
          <p:cNvSpPr txBox="1"/>
          <p:nvPr/>
        </p:nvSpPr>
        <p:spPr>
          <a:xfrm>
            <a:off x="786384"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Consulta documental con citas; admite respuesta por SSE</a:t>
            </a:r>
            <a:endParaRPr lang="en-US" sz="1050" dirty="0"/>
          </a:p>
        </p:txBody>
      </p:sp>
      <p:sp>
        <p:nvSpPr>
          <p:cNvPr id="13" name="Shape 10"/>
          <p:cNvSpPr/>
          <p:nvPr/>
        </p:nvSpPr>
        <p:spPr>
          <a:xfrm>
            <a:off x="566928" y="4059936"/>
            <a:ext cx="3503066" cy="768096"/>
          </a:xfrm>
          <a:prstGeom prst="roundRect">
            <a:avLst>
              <a:gd name="adj" fmla="val 10714"/>
            </a:avLst>
          </a:prstGeom>
          <a:solidFill>
            <a:srgbClr val="F1F6FC"/>
          </a:solidFill>
          <a:ln/>
        </p:spPr>
      </p:sp>
      <p:sp>
        <p:nvSpPr>
          <p:cNvPr id="14" name="Text 11"/>
          <p:cNvSpPr txBox="1"/>
          <p:nvPr/>
        </p:nvSpPr>
        <p:spPr>
          <a:xfrm>
            <a:off x="786384" y="4187952"/>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/api/v1/claims/analyze</a:t>
            </a:r>
            <a:endParaRPr lang="en-US" sz="950" dirty="0"/>
          </a:p>
        </p:txBody>
      </p:sp>
      <p:sp>
        <p:nvSpPr>
          <p:cNvPr id="15" name="Text 12"/>
          <p:cNvSpPr txBox="1"/>
          <p:nvPr/>
        </p:nvSpPr>
        <p:spPr>
          <a:xfrm>
            <a:off x="786384"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Análisis de siniestro; puede devolver una petición de datos</a:t>
            </a:r>
            <a:endParaRPr lang="en-US" sz="1050" dirty="0"/>
          </a:p>
        </p:txBody>
      </p:sp>
      <p:sp>
        <p:nvSpPr>
          <p:cNvPr id="16" name="Text 13"/>
          <p:cNvSpPr txBox="1"/>
          <p:nvPr/>
        </p:nvSpPr>
        <p:spPr>
          <a:xfrm>
            <a:off x="4344314" y="2011680"/>
            <a:ext cx="3503066" cy="219456"/>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EVIDENCIA Y DEMO</a:t>
            </a:r>
            <a:endParaRPr lang="en-US" sz="950" dirty="0"/>
          </a:p>
        </p:txBody>
      </p:sp>
      <p:sp>
        <p:nvSpPr>
          <p:cNvPr id="17" name="Shape 14"/>
          <p:cNvSpPr/>
          <p:nvPr/>
        </p:nvSpPr>
        <p:spPr>
          <a:xfrm>
            <a:off x="4344314" y="2340864"/>
            <a:ext cx="3503066" cy="768096"/>
          </a:xfrm>
          <a:prstGeom prst="roundRect">
            <a:avLst>
              <a:gd name="adj" fmla="val 10714"/>
            </a:avLst>
          </a:prstGeom>
          <a:solidFill>
            <a:srgbClr val="F1F6FC"/>
          </a:solidFill>
          <a:ln/>
        </p:spPr>
      </p:sp>
      <p:sp>
        <p:nvSpPr>
          <p:cNvPr id="18" name="Text 15"/>
          <p:cNvSpPr txBox="1"/>
          <p:nvPr/>
        </p:nvSpPr>
        <p:spPr>
          <a:xfrm>
            <a:off x="4563770" y="2468880"/>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/api/v1/evidence/{id}</a:t>
            </a:r>
            <a:endParaRPr lang="en-US" sz="950" dirty="0"/>
          </a:p>
        </p:txBody>
      </p:sp>
      <p:sp>
        <p:nvSpPr>
          <p:cNvPr id="19" name="Text 16"/>
          <p:cNvSpPr txBox="1"/>
          <p:nvPr/>
        </p:nvSpPr>
        <p:spPr>
          <a:xfrm>
            <a:off x="4563770"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Devuelve la evidencia por su identificador estable</a:t>
            </a:r>
            <a:endParaRPr lang="en-US" sz="1050" dirty="0"/>
          </a:p>
        </p:txBody>
      </p:sp>
      <p:sp>
        <p:nvSpPr>
          <p:cNvPr id="20" name="Shape 17"/>
          <p:cNvSpPr/>
          <p:nvPr/>
        </p:nvSpPr>
        <p:spPr>
          <a:xfrm>
            <a:off x="4344314" y="3200400"/>
            <a:ext cx="3503066" cy="768096"/>
          </a:xfrm>
          <a:prstGeom prst="roundRect">
            <a:avLst>
              <a:gd name="adj" fmla="val 10714"/>
            </a:avLst>
          </a:prstGeom>
          <a:solidFill>
            <a:srgbClr val="F1F6FC"/>
          </a:solidFill>
          <a:ln/>
        </p:spPr>
      </p:sp>
      <p:sp>
        <p:nvSpPr>
          <p:cNvPr id="21" name="Text 18"/>
          <p:cNvSpPr txBox="1"/>
          <p:nvPr/>
        </p:nvSpPr>
        <p:spPr>
          <a:xfrm>
            <a:off x="4563770" y="3328416"/>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/api/v1/demo/cases</a:t>
            </a:r>
            <a:endParaRPr lang="en-US" sz="950" dirty="0"/>
          </a:p>
        </p:txBody>
      </p:sp>
      <p:sp>
        <p:nvSpPr>
          <p:cNvPr id="22" name="Text 19"/>
          <p:cNvSpPr txBox="1"/>
          <p:nvPr/>
        </p:nvSpPr>
        <p:spPr>
          <a:xfrm>
            <a:off x="4563770"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Casos de demo, leídos del golden real sin exponer la respuesta esperada</a:t>
            </a:r>
            <a:endParaRPr lang="en-US" sz="1050" dirty="0"/>
          </a:p>
        </p:txBody>
      </p:sp>
      <p:sp>
        <p:nvSpPr>
          <p:cNvPr id="23" name="Shape 20"/>
          <p:cNvSpPr/>
          <p:nvPr/>
        </p:nvSpPr>
        <p:spPr>
          <a:xfrm>
            <a:off x="4344314" y="4059936"/>
            <a:ext cx="3503066" cy="768096"/>
          </a:xfrm>
          <a:prstGeom prst="roundRect">
            <a:avLst>
              <a:gd name="adj" fmla="val 10714"/>
            </a:avLst>
          </a:prstGeom>
          <a:solidFill>
            <a:srgbClr val="F1F6FC"/>
          </a:solidFill>
          <a:ln/>
        </p:spPr>
      </p:sp>
      <p:sp>
        <p:nvSpPr>
          <p:cNvPr id="24" name="Text 21"/>
          <p:cNvSpPr txBox="1"/>
          <p:nvPr/>
        </p:nvSpPr>
        <p:spPr>
          <a:xfrm>
            <a:off x="4563770" y="4187952"/>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/api/v1/manual/…</a:t>
            </a:r>
            <a:endParaRPr lang="en-US" sz="950" dirty="0"/>
          </a:p>
        </p:txBody>
      </p:sp>
      <p:sp>
        <p:nvSpPr>
          <p:cNvPr id="25" name="Text 22"/>
          <p:cNvSpPr txBox="1"/>
          <p:nvPr/>
        </p:nvSpPr>
        <p:spPr>
          <a:xfrm>
            <a:off x="4563770"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Inspección del manual publicado: páginas, extracciones y diagnósticos</a:t>
            </a:r>
            <a:endParaRPr lang="en-US" sz="1050" dirty="0"/>
          </a:p>
        </p:txBody>
      </p:sp>
      <p:sp>
        <p:nvSpPr>
          <p:cNvPr id="26" name="Text 23"/>
          <p:cNvSpPr txBox="1"/>
          <p:nvPr/>
        </p:nvSpPr>
        <p:spPr>
          <a:xfrm>
            <a:off x="8121701" y="2011680"/>
            <a:ext cx="3503066" cy="219456"/>
          </a:xfrm>
          <a:prstGeom prst="rect">
            <a:avLst/>
          </a:prstGeom>
          <a:noFill/>
          <a:ln/>
        </p:spPr>
        <p:txBody>
          <a:bodyPr wrap="square" lIns="0" tIns="0" rIns="0" bIns="0" rtlCol="0" anchor="t"/>
          <a:lstStyle/>
          <a:p>
            <a:pPr indent="0" marL="0">
              <a:buNone/>
            </a:pPr>
            <a:r>
              <a:rPr lang="en-US" sz="950" b="1" spc="120" kern="0" dirty="0">
                <a:solidFill>
                  <a:srgbClr val="00807E"/>
                </a:solidFill>
                <a:latin typeface="Arial" pitchFamily="34" charset="0"/>
                <a:ea typeface="Arial" pitchFamily="34" charset="-122"/>
                <a:cs typeface="Arial" pitchFamily="34" charset="-120"/>
              </a:rPr>
              <a:t>ADMINISTRACIÓN Y SALUD</a:t>
            </a:r>
            <a:endParaRPr lang="en-US" sz="950" dirty="0"/>
          </a:p>
        </p:txBody>
      </p:sp>
      <p:sp>
        <p:nvSpPr>
          <p:cNvPr id="27" name="Shape 24"/>
          <p:cNvSpPr/>
          <p:nvPr/>
        </p:nvSpPr>
        <p:spPr>
          <a:xfrm>
            <a:off x="8121701" y="2340864"/>
            <a:ext cx="3503066" cy="768096"/>
          </a:xfrm>
          <a:prstGeom prst="roundRect">
            <a:avLst>
              <a:gd name="adj" fmla="val 10714"/>
            </a:avLst>
          </a:prstGeom>
          <a:solidFill>
            <a:srgbClr val="F1F6FC"/>
          </a:solidFill>
          <a:ln/>
        </p:spPr>
      </p:sp>
      <p:sp>
        <p:nvSpPr>
          <p:cNvPr id="28" name="Text 25"/>
          <p:cNvSpPr txBox="1"/>
          <p:nvPr/>
        </p:nvSpPr>
        <p:spPr>
          <a:xfrm>
            <a:off x="8341157" y="2468880"/>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POST /api/v1/admin/ingest</a:t>
            </a:r>
            <a:endParaRPr lang="en-US" sz="950" dirty="0"/>
          </a:p>
        </p:txBody>
      </p:sp>
      <p:sp>
        <p:nvSpPr>
          <p:cNvPr id="29" name="Text 26"/>
          <p:cNvSpPr txBox="1"/>
          <p:nvPr/>
        </p:nvSpPr>
        <p:spPr>
          <a:xfrm>
            <a:off x="8341157"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Ingesta por API; sólo acepta el manual verificado por hash</a:t>
            </a:r>
            <a:endParaRPr lang="en-US" sz="1050" dirty="0"/>
          </a:p>
        </p:txBody>
      </p:sp>
      <p:sp>
        <p:nvSpPr>
          <p:cNvPr id="30" name="Shape 27"/>
          <p:cNvSpPr/>
          <p:nvPr/>
        </p:nvSpPr>
        <p:spPr>
          <a:xfrm>
            <a:off x="8121701" y="3200400"/>
            <a:ext cx="3503066" cy="768096"/>
          </a:xfrm>
          <a:prstGeom prst="roundRect">
            <a:avLst>
              <a:gd name="adj" fmla="val 10714"/>
            </a:avLst>
          </a:prstGeom>
          <a:solidFill>
            <a:srgbClr val="F1F6FC"/>
          </a:solidFill>
          <a:ln/>
        </p:spPr>
      </p:sp>
      <p:sp>
        <p:nvSpPr>
          <p:cNvPr id="31" name="Text 28"/>
          <p:cNvSpPr txBox="1"/>
          <p:nvPr/>
        </p:nvSpPr>
        <p:spPr>
          <a:xfrm>
            <a:off x="8341157" y="3328416"/>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GET /health/ready</a:t>
            </a:r>
            <a:endParaRPr lang="en-US" sz="950" dirty="0"/>
          </a:p>
        </p:txBody>
      </p:sp>
      <p:sp>
        <p:nvSpPr>
          <p:cNvPr id="32" name="Text 29"/>
          <p:cNvSpPr txBox="1"/>
          <p:nvPr/>
        </p:nvSpPr>
        <p:spPr>
          <a:xfrm>
            <a:off x="8341157"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Preparación real de dependencias, sin llamadas pagadas al modelo</a:t>
            </a:r>
            <a:endParaRPr lang="en-US" sz="1050" dirty="0"/>
          </a:p>
        </p:txBody>
      </p:sp>
      <p:sp>
        <p:nvSpPr>
          <p:cNvPr id="33" name="Shape 30"/>
          <p:cNvSpPr/>
          <p:nvPr/>
        </p:nvSpPr>
        <p:spPr>
          <a:xfrm>
            <a:off x="8121701" y="4059936"/>
            <a:ext cx="3503066" cy="768096"/>
          </a:xfrm>
          <a:prstGeom prst="roundRect">
            <a:avLst>
              <a:gd name="adj" fmla="val 10714"/>
            </a:avLst>
          </a:prstGeom>
          <a:solidFill>
            <a:srgbClr val="F1F6FC"/>
          </a:solidFill>
          <a:ln/>
        </p:spPr>
      </p:sp>
      <p:sp>
        <p:nvSpPr>
          <p:cNvPr id="34" name="Text 31"/>
          <p:cNvSpPr txBox="1"/>
          <p:nvPr/>
        </p:nvSpPr>
        <p:spPr>
          <a:xfrm>
            <a:off x="8341157" y="4187952"/>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GET /openapi.json</a:t>
            </a:r>
            <a:endParaRPr lang="en-US" sz="950" dirty="0"/>
          </a:p>
        </p:txBody>
      </p:sp>
      <p:sp>
        <p:nvSpPr>
          <p:cNvPr id="35" name="Text 32"/>
          <p:cNvSpPr txBox="1"/>
          <p:nvPr/>
        </p:nvSpPr>
        <p:spPr>
          <a:xfrm>
            <a:off x="8341157"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Contrato del que se generan los tipos del cliente</a:t>
            </a:r>
            <a:endParaRPr lang="en-US" sz="1050" dirty="0"/>
          </a:p>
        </p:txBody>
      </p:sp>
      <p:sp>
        <p:nvSpPr>
          <p:cNvPr id="36" name="Shape 33"/>
          <p:cNvSpPr/>
          <p:nvPr/>
        </p:nvSpPr>
        <p:spPr>
          <a:xfrm>
            <a:off x="566928" y="5138928"/>
            <a:ext cx="11057839" cy="548640"/>
          </a:xfrm>
          <a:prstGeom prst="roundRect">
            <a:avLst>
              <a:gd name="adj" fmla="val 1666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7" name="Text 34"/>
          <p:cNvSpPr txBox="1"/>
          <p:nvPr/>
        </p:nvSpPr>
        <p:spPr>
          <a:xfrm>
            <a:off x="841248" y="5294376"/>
            <a:ext cx="10509199" cy="256032"/>
          </a:xfrm>
          <a:prstGeom prst="rect">
            <a:avLst/>
          </a:prstGeom>
          <a:noFill/>
          <a:ln/>
        </p:spPr>
        <p:txBody>
          <a:bodyPr wrap="square" lIns="0" tIns="0" rIns="0" bIns="0" rtlCol="0" anchor="t"/>
          <a:lstStyle/>
          <a:p>
            <a:pPr algn="ctr" indent="0" marL="0">
              <a:buNone/>
            </a:pPr>
            <a:r>
              <a:rPr lang="en-US" sz="1150" dirty="0">
                <a:solidFill>
                  <a:srgbClr val="0B1F3A"/>
                </a:solidFill>
                <a:latin typeface="Calibri" pitchFamily="34" charset="0"/>
                <a:ea typeface="Calibri" pitchFamily="34" charset="-122"/>
                <a:cs typeface="Calibri" pitchFamily="34" charset="-120"/>
              </a:rPr>
              <a:t>El sobre de respuesta es común a los tres recorridos: identifica el modo seguido, las etapas ejecutadas, las citas y el estado — por eso la interfaz enseña el razonamiento sin duplicar lógica.</a:t>
            </a:r>
            <a:endParaRPr lang="en-US" sz="115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Un solo contrato publicado en OpenAPI; los tipos del cliente se generan de él, y una comprobación falla si se separan.</a:t>
            </a:r>
            <a:endParaRPr lang="en-US" sz="12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DOMINIO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Glosario mínimo del dominio, para que nadie asienta sin seguirlo.</a:t>
            </a:r>
            <a:endParaRPr lang="en-US" sz="2600" dirty="0"/>
          </a:p>
        </p:txBody>
      </p:sp>
      <p:sp>
        <p:nvSpPr>
          <p:cNvPr id="6" name="Shape 3"/>
          <p:cNvSpPr/>
          <p:nvPr/>
        </p:nvSpPr>
        <p:spPr>
          <a:xfrm>
            <a:off x="566928" y="186537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7" name="Text 4"/>
          <p:cNvSpPr txBox="1"/>
          <p:nvPr/>
        </p:nvSpPr>
        <p:spPr>
          <a:xfrm>
            <a:off x="822960" y="204825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CIDE</a:t>
            </a:r>
            <a:endParaRPr lang="en-US" sz="1400" dirty="0"/>
          </a:p>
        </p:txBody>
      </p:sp>
      <p:sp>
        <p:nvSpPr>
          <p:cNvPr id="8" name="Text 5"/>
          <p:cNvSpPr txBox="1"/>
          <p:nvPr/>
        </p:nvSpPr>
        <p:spPr>
          <a:xfrm>
            <a:off x="822960" y="234086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Convenio de Indemnización Directa Española. Reparto de responsabilidad entre aseguradoras a partir de la declaración amistosa firmada por ambos conductores.</a:t>
            </a:r>
            <a:endParaRPr lang="en-US" sz="1100" dirty="0"/>
          </a:p>
        </p:txBody>
      </p:sp>
      <p:sp>
        <p:nvSpPr>
          <p:cNvPr id="9" name="Shape 6"/>
          <p:cNvSpPr/>
          <p:nvPr/>
        </p:nvSpPr>
        <p:spPr>
          <a:xfrm>
            <a:off x="6259982" y="186537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0" name="Text 7"/>
          <p:cNvSpPr txBox="1"/>
          <p:nvPr/>
        </p:nvSpPr>
        <p:spPr>
          <a:xfrm>
            <a:off x="6516014" y="204825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ASCIDE</a:t>
            </a:r>
            <a:endParaRPr lang="en-US" sz="1400" dirty="0"/>
          </a:p>
        </p:txBody>
      </p:sp>
      <p:sp>
        <p:nvSpPr>
          <p:cNvPr id="11" name="Text 8"/>
          <p:cNvSpPr txBox="1"/>
          <p:nvPr/>
        </p:nvSpPr>
        <p:spPr>
          <a:xfrm>
            <a:off x="6516014" y="234086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Acuerdo Suplementario al CIDE. Aporta la vía informatizada y las normas subsidiarias que resuelven supuestos concretos cuando las versiones no coinciden.</a:t>
            </a:r>
            <a:endParaRPr lang="en-US" sz="1100" dirty="0"/>
          </a:p>
        </p:txBody>
      </p:sp>
      <p:sp>
        <p:nvSpPr>
          <p:cNvPr id="12" name="Shape 9"/>
          <p:cNvSpPr/>
          <p:nvPr/>
        </p:nvSpPr>
        <p:spPr>
          <a:xfrm>
            <a:off x="566928" y="305409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3" name="Text 10"/>
          <p:cNvSpPr txBox="1"/>
          <p:nvPr/>
        </p:nvSpPr>
        <p:spPr>
          <a:xfrm>
            <a:off x="822960" y="323697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CICOS</a:t>
            </a:r>
            <a:endParaRPr lang="en-US" sz="1400" dirty="0"/>
          </a:p>
        </p:txBody>
      </p:sp>
      <p:sp>
        <p:nvSpPr>
          <p:cNvPr id="14" name="Text 11"/>
          <p:cNvSpPr txBox="1"/>
          <p:nvPr/>
        </p:nvSpPr>
        <p:spPr>
          <a:xfrm>
            <a:off x="822960" y="352958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Centro Informático de Compensación de Siniestros: la infraestructura común que liquida entre entidades adheridas.</a:t>
            </a:r>
            <a:endParaRPr lang="en-US" sz="1100" dirty="0"/>
          </a:p>
        </p:txBody>
      </p:sp>
      <p:sp>
        <p:nvSpPr>
          <p:cNvPr id="15" name="Shape 12"/>
          <p:cNvSpPr/>
          <p:nvPr/>
        </p:nvSpPr>
        <p:spPr>
          <a:xfrm>
            <a:off x="6259982" y="305409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6516014" y="323697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D.A.A.</a:t>
            </a:r>
            <a:endParaRPr lang="en-US" sz="1400" dirty="0"/>
          </a:p>
        </p:txBody>
      </p:sp>
      <p:sp>
        <p:nvSpPr>
          <p:cNvPr id="17" name="Text 14"/>
          <p:cNvSpPr txBox="1"/>
          <p:nvPr/>
        </p:nvSpPr>
        <p:spPr>
          <a:xfrm>
            <a:off x="6516014" y="352958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Declaración Amistosa de Accidente, el parte europeo. Su apartado 12 son las casillas que cada conductor marca describiendo su maniobra.</a:t>
            </a:r>
            <a:endParaRPr lang="en-US" sz="1100" dirty="0"/>
          </a:p>
        </p:txBody>
      </p:sp>
      <p:sp>
        <p:nvSpPr>
          <p:cNvPr id="18" name="Shape 15"/>
          <p:cNvSpPr/>
          <p:nvPr/>
        </p:nvSpPr>
        <p:spPr>
          <a:xfrm>
            <a:off x="566928" y="424281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822960" y="442569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Casillas A0–A17 / B0–B17</a:t>
            </a:r>
            <a:endParaRPr lang="en-US" sz="1400" dirty="0"/>
          </a:p>
        </p:txBody>
      </p:sp>
      <p:sp>
        <p:nvSpPr>
          <p:cNvPr id="20" name="Text 17"/>
          <p:cNvSpPr txBox="1"/>
          <p:nvPr/>
        </p:nvSpPr>
        <p:spPr>
          <a:xfrm>
            <a:off x="822960" y="471830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Las dieciocho maniobras del apartado 12 para cada vehículo. Cruzarlas en la tabla de culpabilidad da 324 combinaciones.</a:t>
            </a:r>
            <a:endParaRPr lang="en-US" sz="1100" dirty="0"/>
          </a:p>
        </p:txBody>
      </p:sp>
      <p:sp>
        <p:nvSpPr>
          <p:cNvPr id="21" name="Shape 18"/>
          <p:cNvSpPr/>
          <p:nvPr/>
        </p:nvSpPr>
        <p:spPr>
          <a:xfrm>
            <a:off x="6259982" y="424281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6516014" y="442569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Norma subsidiaria</a:t>
            </a:r>
            <a:endParaRPr lang="en-US" sz="1400" dirty="0"/>
          </a:p>
        </p:txBody>
      </p:sp>
      <p:sp>
        <p:nvSpPr>
          <p:cNvPr id="23" name="Text 20"/>
          <p:cNvSpPr txBox="1"/>
          <p:nvPr/>
        </p:nvSpPr>
        <p:spPr>
          <a:xfrm>
            <a:off x="6516014" y="471830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Regla del ASCIDE que resuelve un supuesto típico —cambio de carril, marcha atrás, rotonda— cuando las declaraciones discrepan.</a:t>
            </a:r>
            <a:endParaRPr lang="en-US" sz="1100" dirty="0"/>
          </a:p>
        </p:txBody>
      </p:sp>
      <p:sp>
        <p:nvSpPr>
          <p:cNvPr id="24" name="Shape 21"/>
          <p:cNvSpPr/>
          <p:nvPr/>
        </p:nvSpPr>
        <p:spPr>
          <a:xfrm>
            <a:off x="566928" y="5852160"/>
            <a:ext cx="11057839" cy="493776"/>
          </a:xfrm>
          <a:prstGeom prst="roundRect">
            <a:avLst>
              <a:gd name="adj" fmla="val 16667"/>
            </a:avLst>
          </a:prstGeom>
          <a:solidFill>
            <a:srgbClr val="003781"/>
          </a:solidFill>
          <a:ln/>
        </p:spPr>
      </p:sp>
      <p:sp>
        <p:nvSpPr>
          <p:cNvPr id="25" name="Text 22"/>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manual es de noviembre de 2004 y estos convenios han evolucionado. El sistema responde lo que este documento dice, y lo declara.</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REPRODUCIBILIDAD</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Todo lo que se ha enseñado se reproduce con estos comandos.</a:t>
            </a:r>
            <a:endParaRPr lang="en-US" sz="2600" dirty="0"/>
          </a:p>
        </p:txBody>
      </p:sp>
      <p:sp>
        <p:nvSpPr>
          <p:cNvPr id="6" name="Text 3"/>
          <p:cNvSpPr txBox="1"/>
          <p:nvPr/>
        </p:nvSpPr>
        <p:spPr>
          <a:xfrm>
            <a:off x="566928" y="1828800"/>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ARRANQUE</a:t>
            </a:r>
            <a:endParaRPr lang="en-US" sz="950" dirty="0"/>
          </a:p>
        </p:txBody>
      </p:sp>
      <p:sp>
        <p:nvSpPr>
          <p:cNvPr id="7" name="Shape 4"/>
          <p:cNvSpPr/>
          <p:nvPr/>
        </p:nvSpPr>
        <p:spPr>
          <a:xfrm>
            <a:off x="566928" y="2103120"/>
            <a:ext cx="5363870" cy="603504"/>
          </a:xfrm>
          <a:prstGeom prst="roundRect">
            <a:avLst>
              <a:gd name="adj" fmla="val 13636"/>
            </a:avLst>
          </a:prstGeom>
          <a:solidFill>
            <a:srgbClr val="F1F6FC"/>
          </a:solidFill>
          <a:ln/>
        </p:spPr>
      </p:sp>
      <p:sp>
        <p:nvSpPr>
          <p:cNvPr id="8" name="Text 5"/>
          <p:cNvSpPr txBox="1"/>
          <p:nvPr/>
        </p:nvSpPr>
        <p:spPr>
          <a:xfrm>
            <a:off x="786384" y="2203704"/>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local-services-up</a:t>
            </a:r>
            <a:endParaRPr lang="en-US" sz="1000" dirty="0"/>
          </a:p>
        </p:txBody>
      </p:sp>
      <p:sp>
        <p:nvSpPr>
          <p:cNvPr id="9" name="Text 6"/>
          <p:cNvSpPr txBox="1"/>
          <p:nvPr/>
        </p:nvSpPr>
        <p:spPr>
          <a:xfrm>
            <a:off x="786384" y="2441448"/>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Qdrant, Langfuse, PostgreSQL, ClickHouse, Redis y MinIO</a:t>
            </a:r>
            <a:endParaRPr lang="en-US" sz="1050" dirty="0"/>
          </a:p>
        </p:txBody>
      </p:sp>
      <p:sp>
        <p:nvSpPr>
          <p:cNvPr id="10" name="Shape 7"/>
          <p:cNvSpPr/>
          <p:nvPr/>
        </p:nvSpPr>
        <p:spPr>
          <a:xfrm>
            <a:off x="566928" y="2779776"/>
            <a:ext cx="5363870" cy="603504"/>
          </a:xfrm>
          <a:prstGeom prst="roundRect">
            <a:avLst>
              <a:gd name="adj" fmla="val 13636"/>
            </a:avLst>
          </a:prstGeom>
          <a:solidFill>
            <a:srgbClr val="F1F6FC"/>
          </a:solidFill>
          <a:ln/>
        </p:spPr>
      </p:sp>
      <p:sp>
        <p:nvSpPr>
          <p:cNvPr id="11" name="Text 8"/>
          <p:cNvSpPr txBox="1"/>
          <p:nvPr/>
        </p:nvSpPr>
        <p:spPr>
          <a:xfrm>
            <a:off x="786384" y="28803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serve-backend  ·  make serve-frontend</a:t>
            </a:r>
            <a:endParaRPr lang="en-US" sz="1000" dirty="0"/>
          </a:p>
        </p:txBody>
      </p:sp>
      <p:sp>
        <p:nvSpPr>
          <p:cNvPr id="12" name="Text 9"/>
          <p:cNvSpPr txBox="1"/>
          <p:nvPr/>
        </p:nvSpPr>
        <p:spPr>
          <a:xfrm>
            <a:off x="786384" y="31181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API en :8000 y cliente en :5173</a:t>
            </a:r>
            <a:endParaRPr lang="en-US" sz="1050" dirty="0"/>
          </a:p>
        </p:txBody>
      </p:sp>
      <p:sp>
        <p:nvSpPr>
          <p:cNvPr id="13" name="Shape 10"/>
          <p:cNvSpPr/>
          <p:nvPr/>
        </p:nvSpPr>
        <p:spPr>
          <a:xfrm>
            <a:off x="566928" y="3456432"/>
            <a:ext cx="5363870" cy="603504"/>
          </a:xfrm>
          <a:prstGeom prst="roundRect">
            <a:avLst>
              <a:gd name="adj" fmla="val 13636"/>
            </a:avLst>
          </a:prstGeom>
          <a:solidFill>
            <a:srgbClr val="F1F6FC"/>
          </a:solidFill>
          <a:ln/>
        </p:spPr>
      </p:sp>
      <p:sp>
        <p:nvSpPr>
          <p:cNvPr id="14" name="Text 11"/>
          <p:cNvSpPr txBox="1"/>
          <p:nvPr/>
        </p:nvSpPr>
        <p:spPr>
          <a:xfrm>
            <a:off x="786384" y="35570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curl localhost:8000/health/ready</a:t>
            </a:r>
            <a:endParaRPr lang="en-US" sz="1000" dirty="0"/>
          </a:p>
        </p:txBody>
      </p:sp>
      <p:sp>
        <p:nvSpPr>
          <p:cNvPr id="15" name="Text 12"/>
          <p:cNvSpPr txBox="1"/>
          <p:nvPr/>
        </p:nvSpPr>
        <p:spPr>
          <a:xfrm>
            <a:off x="786384" y="37947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Comprobación de preparación antes de la demo</a:t>
            </a:r>
            <a:endParaRPr lang="en-US" sz="1050" dirty="0"/>
          </a:p>
        </p:txBody>
      </p:sp>
      <p:sp>
        <p:nvSpPr>
          <p:cNvPr id="16" name="Text 13"/>
          <p:cNvSpPr txBox="1"/>
          <p:nvPr/>
        </p:nvSpPr>
        <p:spPr>
          <a:xfrm>
            <a:off x="6259982" y="1828800"/>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EVIDENCIA Y REGLAS</a:t>
            </a:r>
            <a:endParaRPr lang="en-US" sz="950" dirty="0"/>
          </a:p>
        </p:txBody>
      </p:sp>
      <p:sp>
        <p:nvSpPr>
          <p:cNvPr id="17" name="Shape 14"/>
          <p:cNvSpPr/>
          <p:nvPr/>
        </p:nvSpPr>
        <p:spPr>
          <a:xfrm>
            <a:off x="6259982" y="2103120"/>
            <a:ext cx="5363870" cy="603504"/>
          </a:xfrm>
          <a:prstGeom prst="roundRect">
            <a:avLst>
              <a:gd name="adj" fmla="val 13636"/>
            </a:avLst>
          </a:prstGeom>
          <a:solidFill>
            <a:srgbClr val="F1F6FC"/>
          </a:solidFill>
          <a:ln/>
        </p:spPr>
      </p:sp>
      <p:sp>
        <p:nvSpPr>
          <p:cNvPr id="18" name="Text 15"/>
          <p:cNvSpPr txBox="1"/>
          <p:nvPr/>
        </p:nvSpPr>
        <p:spPr>
          <a:xfrm>
            <a:off x="6479438" y="2203704"/>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compare-parsers</a:t>
            </a:r>
            <a:endParaRPr lang="en-US" sz="1000" dirty="0"/>
          </a:p>
        </p:txBody>
      </p:sp>
      <p:sp>
        <p:nvSpPr>
          <p:cNvPr id="19" name="Text 16"/>
          <p:cNvSpPr txBox="1"/>
          <p:nvPr/>
        </p:nvSpPr>
        <p:spPr>
          <a:xfrm>
            <a:off x="6479438" y="2441448"/>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Compara la extracción de pypdf y de Docling sobre el mismo documento</a:t>
            </a:r>
            <a:endParaRPr lang="en-US" sz="1050" dirty="0"/>
          </a:p>
        </p:txBody>
      </p:sp>
      <p:sp>
        <p:nvSpPr>
          <p:cNvPr id="20" name="Shape 17"/>
          <p:cNvSpPr/>
          <p:nvPr/>
        </p:nvSpPr>
        <p:spPr>
          <a:xfrm>
            <a:off x="6259982" y="2779776"/>
            <a:ext cx="5363870" cy="603504"/>
          </a:xfrm>
          <a:prstGeom prst="roundRect">
            <a:avLst>
              <a:gd name="adj" fmla="val 13636"/>
            </a:avLst>
          </a:prstGeom>
          <a:solidFill>
            <a:srgbClr val="F1F6FC"/>
          </a:solidFill>
          <a:ln/>
        </p:spPr>
      </p:sp>
      <p:sp>
        <p:nvSpPr>
          <p:cNvPr id="21" name="Text 18"/>
          <p:cNvSpPr txBox="1"/>
          <p:nvPr/>
        </p:nvSpPr>
        <p:spPr>
          <a:xfrm>
            <a:off x="6479438" y="28803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index-rollback --collection …</a:t>
            </a:r>
            <a:endParaRPr lang="en-US" sz="1000" dirty="0"/>
          </a:p>
        </p:txBody>
      </p:sp>
      <p:sp>
        <p:nvSpPr>
          <p:cNvPr id="22" name="Text 19"/>
          <p:cNvSpPr txBox="1"/>
          <p:nvPr/>
        </p:nvSpPr>
        <p:spPr>
          <a:xfrm>
            <a:off x="6479438" y="31181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Devuelve el alias activo al índice anterior, verificando la firma</a:t>
            </a:r>
            <a:endParaRPr lang="en-US" sz="1050" dirty="0"/>
          </a:p>
        </p:txBody>
      </p:sp>
      <p:sp>
        <p:nvSpPr>
          <p:cNvPr id="23" name="Shape 20"/>
          <p:cNvSpPr/>
          <p:nvPr/>
        </p:nvSpPr>
        <p:spPr>
          <a:xfrm>
            <a:off x="6259982" y="3456432"/>
            <a:ext cx="5363870" cy="603504"/>
          </a:xfrm>
          <a:prstGeom prst="roundRect">
            <a:avLst>
              <a:gd name="adj" fmla="val 13636"/>
            </a:avLst>
          </a:prstGeom>
          <a:solidFill>
            <a:srgbClr val="F1F6FC"/>
          </a:solidFill>
          <a:ln/>
        </p:spPr>
      </p:sp>
      <p:sp>
        <p:nvSpPr>
          <p:cNvPr id="24" name="Text 21"/>
          <p:cNvSpPr txBox="1"/>
          <p:nvPr/>
        </p:nvSpPr>
        <p:spPr>
          <a:xfrm>
            <a:off x="6479438" y="35570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rules validate  ·  compare-transcriptions</a:t>
            </a:r>
            <a:endParaRPr lang="en-US" sz="1000" dirty="0"/>
          </a:p>
        </p:txBody>
      </p:sp>
      <p:sp>
        <p:nvSpPr>
          <p:cNvPr id="25" name="Text 22"/>
          <p:cNvSpPr txBox="1"/>
          <p:nvPr/>
        </p:nvSpPr>
        <p:spPr>
          <a:xfrm>
            <a:off x="6479438" y="37947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Valida el ruleset y concilia las dos transcripciones</a:t>
            </a:r>
            <a:endParaRPr lang="en-US" sz="1050" dirty="0"/>
          </a:p>
        </p:txBody>
      </p:sp>
      <p:sp>
        <p:nvSpPr>
          <p:cNvPr id="26" name="Text 23"/>
          <p:cNvSpPr txBox="1"/>
          <p:nvPr/>
        </p:nvSpPr>
        <p:spPr>
          <a:xfrm>
            <a:off x="566928" y="4334256"/>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CALIDAD</a:t>
            </a:r>
            <a:endParaRPr lang="en-US" sz="950" dirty="0"/>
          </a:p>
        </p:txBody>
      </p:sp>
      <p:sp>
        <p:nvSpPr>
          <p:cNvPr id="27" name="Shape 24"/>
          <p:cNvSpPr/>
          <p:nvPr/>
        </p:nvSpPr>
        <p:spPr>
          <a:xfrm>
            <a:off x="566928" y="4608576"/>
            <a:ext cx="5363870" cy="603504"/>
          </a:xfrm>
          <a:prstGeom prst="roundRect">
            <a:avLst>
              <a:gd name="adj" fmla="val 13636"/>
            </a:avLst>
          </a:prstGeom>
          <a:solidFill>
            <a:srgbClr val="F1F6FC"/>
          </a:solidFill>
          <a:ln/>
        </p:spPr>
      </p:sp>
      <p:sp>
        <p:nvSpPr>
          <p:cNvPr id="28" name="Text 25"/>
          <p:cNvSpPr txBox="1"/>
          <p:nvPr/>
        </p:nvSpPr>
        <p:spPr>
          <a:xfrm>
            <a:off x="786384" y="47091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check</a:t>
            </a:r>
            <a:endParaRPr lang="en-US" sz="1000" dirty="0"/>
          </a:p>
        </p:txBody>
      </p:sp>
      <p:sp>
        <p:nvSpPr>
          <p:cNvPr id="29" name="Text 26"/>
          <p:cNvSpPr txBox="1"/>
          <p:nvPr/>
        </p:nvSpPr>
        <p:spPr>
          <a:xfrm>
            <a:off x="786384" y="49469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Las cinco puertas: pruebas, tipado, linter y contrato</a:t>
            </a:r>
            <a:endParaRPr lang="en-US" sz="1050" dirty="0"/>
          </a:p>
        </p:txBody>
      </p:sp>
      <p:sp>
        <p:nvSpPr>
          <p:cNvPr id="30" name="Shape 27"/>
          <p:cNvSpPr/>
          <p:nvPr/>
        </p:nvSpPr>
        <p:spPr>
          <a:xfrm>
            <a:off x="566928" y="5285232"/>
            <a:ext cx="5363870" cy="603504"/>
          </a:xfrm>
          <a:prstGeom prst="roundRect">
            <a:avLst>
              <a:gd name="adj" fmla="val 13636"/>
            </a:avLst>
          </a:prstGeom>
          <a:solidFill>
            <a:srgbClr val="F1F6FC"/>
          </a:solidFill>
          <a:ln/>
        </p:spPr>
      </p:sp>
      <p:sp>
        <p:nvSpPr>
          <p:cNvPr id="31" name="Text 28"/>
          <p:cNvSpPr txBox="1"/>
          <p:nvPr/>
        </p:nvSpPr>
        <p:spPr>
          <a:xfrm>
            <a:off x="786384" y="53858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check-openapi</a:t>
            </a:r>
            <a:endParaRPr lang="en-US" sz="1000" dirty="0"/>
          </a:p>
        </p:txBody>
      </p:sp>
      <p:sp>
        <p:nvSpPr>
          <p:cNvPr id="32" name="Text 29"/>
          <p:cNvSpPr txBox="1"/>
          <p:nvPr/>
        </p:nvSpPr>
        <p:spPr>
          <a:xfrm>
            <a:off x="786384" y="56235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Verifica que el contrato y el cliente no se han separado</a:t>
            </a:r>
            <a:endParaRPr lang="en-US" sz="1050" dirty="0"/>
          </a:p>
        </p:txBody>
      </p:sp>
      <p:sp>
        <p:nvSpPr>
          <p:cNvPr id="33" name="Text 30"/>
          <p:cNvSpPr txBox="1"/>
          <p:nvPr/>
        </p:nvSpPr>
        <p:spPr>
          <a:xfrm>
            <a:off x="6259982" y="4334256"/>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EVALUACIÓN</a:t>
            </a:r>
            <a:endParaRPr lang="en-US" sz="950" dirty="0"/>
          </a:p>
        </p:txBody>
      </p:sp>
      <p:sp>
        <p:nvSpPr>
          <p:cNvPr id="34" name="Shape 31"/>
          <p:cNvSpPr/>
          <p:nvPr/>
        </p:nvSpPr>
        <p:spPr>
          <a:xfrm>
            <a:off x="6259982" y="4608576"/>
            <a:ext cx="5363870" cy="603504"/>
          </a:xfrm>
          <a:prstGeom prst="roundRect">
            <a:avLst>
              <a:gd name="adj" fmla="val 13636"/>
            </a:avLst>
          </a:prstGeom>
          <a:solidFill>
            <a:srgbClr val="F1F6FC"/>
          </a:solidFill>
          <a:ln/>
        </p:spPr>
      </p:sp>
      <p:sp>
        <p:nvSpPr>
          <p:cNvPr id="35" name="Text 32"/>
          <p:cNvSpPr txBox="1"/>
          <p:nvPr/>
        </p:nvSpPr>
        <p:spPr>
          <a:xfrm>
            <a:off x="6479438" y="47091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golden validate</a:t>
            </a:r>
            <a:endParaRPr lang="en-US" sz="1000" dirty="0"/>
          </a:p>
        </p:txBody>
      </p:sp>
      <p:sp>
        <p:nvSpPr>
          <p:cNvPr id="36" name="Text 33"/>
          <p:cNvSpPr txBox="1"/>
          <p:nvPr/>
        </p:nvSpPr>
        <p:spPr>
          <a:xfrm>
            <a:off x="6479438" y="49469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errors: [], item_count: 110</a:t>
            </a:r>
            <a:endParaRPr lang="en-US" sz="1050" dirty="0"/>
          </a:p>
        </p:txBody>
      </p:sp>
      <p:sp>
        <p:nvSpPr>
          <p:cNvPr id="37" name="Shape 34"/>
          <p:cNvSpPr/>
          <p:nvPr/>
        </p:nvSpPr>
        <p:spPr>
          <a:xfrm>
            <a:off x="6259982" y="5285232"/>
            <a:ext cx="5363870" cy="603504"/>
          </a:xfrm>
          <a:prstGeom prst="roundRect">
            <a:avLst>
              <a:gd name="adj" fmla="val 13636"/>
            </a:avLst>
          </a:prstGeom>
          <a:solidFill>
            <a:srgbClr val="F1F6FC"/>
          </a:solidFill>
          <a:ln/>
        </p:spPr>
      </p:sp>
      <p:sp>
        <p:nvSpPr>
          <p:cNvPr id="38" name="Text 35"/>
          <p:cNvSpPr txBox="1"/>
          <p:nvPr/>
        </p:nvSpPr>
        <p:spPr>
          <a:xfrm>
            <a:off x="6479438" y="53858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golden freeze  ·  publish</a:t>
            </a:r>
            <a:endParaRPr lang="en-US" sz="1000" dirty="0"/>
          </a:p>
        </p:txBody>
      </p:sp>
      <p:sp>
        <p:nvSpPr>
          <p:cNvPr id="39" name="Text 36"/>
          <p:cNvSpPr txBox="1"/>
          <p:nvPr/>
        </p:nvSpPr>
        <p:spPr>
          <a:xfrm>
            <a:off x="6479438" y="56235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Congela la release con sus hashes y la publica como dataset en Langfuse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Prueba técnica GenAI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CICOS Claims Intelligence</dc:title>
  <dc:subject>RAG con evidencia verificable y decisión auditable sobre el manual CIDE/ASCIDE/CICOS</dc:subject>
  <dc:creator>Antonio Oliva Carceles</dc:creator>
  <cp:lastModifiedBy>Antonio Oliva Carceles</cp:lastModifiedBy>
  <cp:revision>1</cp:revision>
  <dcterms:created xsi:type="dcterms:W3CDTF">2026-09-03T04:07:17Z</dcterms:created>
  <dcterms:modified xsi:type="dcterms:W3CDTF">2026-09-03T04:07:17Z</dcterms:modified>
</cp:coreProperties>
</file>