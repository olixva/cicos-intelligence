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CUENTA REAL (sumando los tiempos de las notas, lámina a lámina): 27:50 de láminas + 12 de
demo + 7 de preguntas = 47:20. Los 12 minutos que promete el bloque 03 salen saltando las
láminas 17 y 19, que la demo ya enseña en vivo; sin saltarlas son 13:15 y hay que recortar
en otro sitio. No es un descuadre: es la ruta prevista.
RUTA CORTA, si hay que bajar de 45 a 35 minutos (en este orden):
1) Saltar las láminas 17 y 19 — la interfaz y la cita abrible — porque la demo 1 y la 2
   las enseñan en vivo. Están ahí como red de seguridad si la demo falla. (-1:35)
2) Comprimir la 22 (grafo documental) a media frase: los tres nodos y el límite de 8. (-0:25)
3) Fundir 09 (supuestos) y 10 (riesgos) en un solo pase, leyendo sólo los titulares. (-1:00)
4) Recortar la demo 1 a la mitad: se puede ir directo a la 2. (-1:30)
Nunca recortar: la 05 (los cinco veredictos), la demo 3 y la 38 (lo que el sistema no hace).
SI EL HUECO SON 30 MINUTOS (el enunciado dice 30-45), seguir bajando:
5) Fundir 20 (parsers) y 21 (recuperación) en una sola frase cada una. (-1:20)
6) Saltar 22 (grafo documental): la 23, la de siniestros, es la que importa. (-0:45)
7) Saltar 36 (observabilidad): la demo 4 la enseña. (-0:45)
8) Dejar la demo en dos paradas, la 2 y la 3. (-4:00)
Con eso quedan 20 de láminas, 6 de demo y 4 de preguntas. Sigue contando la misma historia.
El apéndice (42-45) no se pasa: está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
PUENTE si en la sala se usa el vocabulario del sector (integridad de dato, de modelo y de
decisión): son las mismas tres capas con otro nombre — evidencia es integridad del dato
(trazabilidad y control de calidad de la fuente), el versionado de prompts y la separación
de los cuatro usos del modelo es integridad del modelo, y las reglas firmadas más las
trazas son integridad de la decisión. Conviene tener la traducción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ALGUIEN MIRA EL GIT LOG: 127 commits entre el 31 de agosto y el 3 de septiembre, con la
carga concentrada en las jornadas centrales (5 · 41 · 61 · 20). Los cinco bloques de esta
lámina son las cinco fases del plan, no días naturales exactos: conviene decirlo así antes de
que lo pregunten.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cuatro puertos de modelo separados son deliberados: generar, extraer hechos,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SALTABLE si la demo va bien: la demo 2 enseña esto mismo en vivo. Esta lámina es la red
de seguridad para contarlo sin sistema delante.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SALTABLE si la demo va bien: la demo 1 abre esta misma cita en vivo.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NO se pasa en la presentación: está para tenerla a mano en el turno de preguntas
y para repasarla cinco minutos antes de entrar.
La columna de la derecha dice a qué lámina saltar si conviene enseñarla al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y un cuarto de ellos con el sistema delante.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12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12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6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7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cuarto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 75 (orden de prioridad ASCIDE, pág.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claim_fact_extractor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Cuatro puertos: generar, extraer,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517380" y="2103120"/>
            <a:ext cx="3162251" cy="3730752"/>
          </a:xfrm>
          <a:prstGeom prst="roundRect">
            <a:avLst>
              <a:gd name="adj" fmla="val 2313"/>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572244" y="2157984"/>
            <a:ext cx="3052523" cy="3621024"/>
          </a:xfrm>
          <a:prstGeom prst="rect">
            <a:avLst/>
          </a:prstGeom>
        </p:spPr>
      </p:pic>
      <p:sp>
        <p:nvSpPr>
          <p:cNvPr id="9" name="Shape 5"/>
          <p:cNvSpPr/>
          <p:nvPr/>
        </p:nvSpPr>
        <p:spPr>
          <a:xfrm>
            <a:off x="566928" y="2157984"/>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40864"/>
            <a:ext cx="347472" cy="347472"/>
          </a:xfrm>
          <a:prstGeom prst="ellipse">
            <a:avLst/>
          </a:prstGeom>
          <a:solidFill>
            <a:srgbClr val="003781"/>
          </a:solidFill>
          <a:ln/>
        </p:spPr>
      </p:sp>
      <p:sp>
        <p:nvSpPr>
          <p:cNvPr id="11" name="Text 7"/>
          <p:cNvSpPr txBox="1"/>
          <p:nvPr/>
        </p:nvSpPr>
        <p:spPr>
          <a:xfrm>
            <a:off x="822960" y="2395728"/>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12" name="Text 8"/>
          <p:cNvSpPr txBox="1"/>
          <p:nvPr/>
        </p:nvSpPr>
        <p:spPr>
          <a:xfrm>
            <a:off x="1316736" y="2377440"/>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Los hechos, con su procedencia</a:t>
            </a:r>
            <a:endParaRPr lang="en-US" sz="1350" dirty="0"/>
          </a:p>
        </p:txBody>
      </p:sp>
      <p:sp>
        <p:nvSpPr>
          <p:cNvPr id="13" name="Text 9"/>
          <p:cNvSpPr txBox="1"/>
          <p:nvPr/>
        </p:nvSpPr>
        <p:spPr>
          <a:xfrm>
            <a:off x="1316736" y="2688336"/>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150" dirty="0"/>
          </a:p>
        </p:txBody>
      </p:sp>
      <p:sp>
        <p:nvSpPr>
          <p:cNvPr id="14" name="Shape 10"/>
          <p:cNvSpPr/>
          <p:nvPr/>
        </p:nvSpPr>
        <p:spPr>
          <a:xfrm>
            <a:off x="566928" y="3401568"/>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584448"/>
            <a:ext cx="347472" cy="347472"/>
          </a:xfrm>
          <a:prstGeom prst="ellipse">
            <a:avLst/>
          </a:prstGeom>
          <a:solidFill>
            <a:srgbClr val="003781"/>
          </a:solidFill>
          <a:ln/>
        </p:spPr>
      </p:sp>
      <p:sp>
        <p:nvSpPr>
          <p:cNvPr id="16" name="Text 12"/>
          <p:cNvSpPr txBox="1"/>
          <p:nvPr/>
        </p:nvSpPr>
        <p:spPr>
          <a:xfrm>
            <a:off x="822960" y="3639312"/>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7" name="Text 13"/>
          <p:cNvSpPr txBox="1"/>
          <p:nvPr/>
        </p:nvSpPr>
        <p:spPr>
          <a:xfrm>
            <a:off x="1316736" y="3621024"/>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Las catorce reglas, también las que no casan</a:t>
            </a:r>
            <a:endParaRPr lang="en-US" sz="1350" dirty="0"/>
          </a:p>
        </p:txBody>
      </p:sp>
      <p:sp>
        <p:nvSpPr>
          <p:cNvPr id="18" name="Text 14"/>
          <p:cNvSpPr txBox="1"/>
          <p:nvPr/>
        </p:nvSpPr>
        <p:spPr>
          <a:xfrm>
            <a:off x="1316736" y="3931920"/>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150" dirty="0"/>
          </a:p>
        </p:txBody>
      </p:sp>
      <p:sp>
        <p:nvSpPr>
          <p:cNvPr id="19" name="Shape 15"/>
          <p:cNvSpPr/>
          <p:nvPr/>
        </p:nvSpPr>
        <p:spPr>
          <a:xfrm>
            <a:off x="566928" y="4645152"/>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4828032"/>
            <a:ext cx="347472" cy="347472"/>
          </a:xfrm>
          <a:prstGeom prst="ellipse">
            <a:avLst/>
          </a:prstGeom>
          <a:solidFill>
            <a:srgbClr val="003781"/>
          </a:solidFill>
          <a:ln/>
        </p:spPr>
      </p:sp>
      <p:sp>
        <p:nvSpPr>
          <p:cNvPr id="21" name="Text 17"/>
          <p:cNvSpPr txBox="1"/>
          <p:nvPr/>
        </p:nvSpPr>
        <p:spPr>
          <a:xfrm>
            <a:off x="822960" y="4882896"/>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22" name="Text 18"/>
          <p:cNvSpPr txBox="1"/>
          <p:nvPr/>
        </p:nvSpPr>
        <p:spPr>
          <a:xfrm>
            <a:off x="1316736" y="4864608"/>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 decisión y la norma que la sostiene</a:t>
            </a:r>
            <a:endParaRPr lang="en-US" sz="1350" dirty="0"/>
          </a:p>
        </p:txBody>
      </p:sp>
      <p:sp>
        <p:nvSpPr>
          <p:cNvPr id="23" name="Text 19"/>
          <p:cNvSpPr txBox="1"/>
          <p:nvPr/>
        </p:nvSpPr>
        <p:spPr>
          <a:xfrm>
            <a:off x="1316736" y="5175504"/>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ASCIDE · el Convenio es aplicable · resuelto, con el texto literal de la b.10. El modelo no ha redactado nada de esa conclusión.</a:t>
            </a:r>
            <a:endParaRPr lang="en-US" sz="1150" dirty="0"/>
          </a:p>
        </p:txBody>
      </p:sp>
      <p:sp>
        <p:nvSpPr>
          <p:cNvPr id="24" name="Shape 20"/>
          <p:cNvSpPr/>
          <p:nvPr/>
        </p:nvSpPr>
        <p:spPr>
          <a:xfrm>
            <a:off x="566928" y="5852160"/>
            <a:ext cx="11057839" cy="493776"/>
          </a:xfrm>
          <a:prstGeom prst="roundRect">
            <a:avLst>
              <a:gd name="adj" fmla="val 16667"/>
            </a:avLst>
          </a:prstGeom>
          <a:solidFill>
            <a:srgbClr val="003781"/>
          </a:solidFill>
          <a:ln/>
        </p:spPr>
      </p:sp>
      <p:sp>
        <p:nvSpPr>
          <p:cNvPr id="25" name="Text 2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Es la misma tarjeta que vería quien tramita el expediente: si discrepa de la conclusión, puede señalar el paso exacto — el hecho extraído, la regla aplicada o la redacción final.</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los datasets de evaluación y sus ejecuciones: la medida no acaba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PREGUNTAS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Las preguntas incómodas, con la respuesta corta y dónde está la larga.</a:t>
            </a:r>
            <a:endParaRPr lang="en-US" sz="2600" dirty="0"/>
          </a:p>
        </p:txBody>
      </p:sp>
      <p:sp>
        <p:nvSpPr>
          <p:cNvPr id="6" name="Shape 3"/>
          <p:cNvSpPr/>
          <p:nvPr/>
        </p:nvSpPr>
        <p:spPr>
          <a:xfrm>
            <a:off x="566928" y="1755648"/>
            <a:ext cx="11057839" cy="530352"/>
          </a:xfrm>
          <a:prstGeom prst="roundRect">
            <a:avLst>
              <a:gd name="adj" fmla="val 15517"/>
            </a:avLst>
          </a:prstGeom>
          <a:solidFill>
            <a:srgbClr val="F1F6FC"/>
          </a:solidFill>
          <a:ln/>
        </p:spPr>
      </p:sp>
      <p:sp>
        <p:nvSpPr>
          <p:cNvPr id="7" name="Text 4"/>
          <p:cNvSpPr txBox="1"/>
          <p:nvPr/>
        </p:nvSpPr>
        <p:spPr>
          <a:xfrm>
            <a:off x="694944" y="184708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lo está inventando el modelo?»</a:t>
            </a:r>
            <a:endParaRPr lang="en-US" sz="1150" dirty="0"/>
          </a:p>
        </p:txBody>
      </p:sp>
      <p:sp>
        <p:nvSpPr>
          <p:cNvPr id="8" name="Text 5"/>
          <p:cNvSpPr txBox="1"/>
          <p:nvPr/>
        </p:nvSpPr>
        <p:spPr>
          <a:xfrm>
            <a:off x="4370832" y="183794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No: la decisión la emite un evaluador determinista sobre reglas firmadas, y una invariante del dominio impide publicar un culpable sin las reglas que lo sostienen.</a:t>
            </a:r>
            <a:endParaRPr lang="en-US" sz="1050" dirty="0"/>
          </a:p>
        </p:txBody>
      </p:sp>
      <p:sp>
        <p:nvSpPr>
          <p:cNvPr id="9" name="Text 6"/>
          <p:cNvSpPr txBox="1"/>
          <p:nvPr/>
        </p:nvSpPr>
        <p:spPr>
          <a:xfrm>
            <a:off x="10168128" y="191109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17 y 24</a:t>
            </a:r>
            <a:endParaRPr lang="en-US" sz="1000" dirty="0"/>
          </a:p>
        </p:txBody>
      </p:sp>
      <p:sp>
        <p:nvSpPr>
          <p:cNvPr id="10" name="Text 7"/>
          <p:cNvSpPr txBox="1"/>
          <p:nvPr/>
        </p:nvSpPr>
        <p:spPr>
          <a:xfrm>
            <a:off x="694944" y="242316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resuelve los cinco accidentes?»</a:t>
            </a:r>
            <a:endParaRPr lang="en-US" sz="1150" dirty="0"/>
          </a:p>
        </p:txBody>
      </p:sp>
      <p:sp>
        <p:nvSpPr>
          <p:cNvPr id="11" name="Text 8"/>
          <p:cNvSpPr txBox="1"/>
          <p:nvPr/>
        </p:nvSpPr>
        <p:spPr>
          <a:xfrm>
            <a:off x="4370832" y="241401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el manual no da para más con los datos de cada relato. En cuanto el parte aporta las casillas del apartado 12, la tabla entra y resuelve.</a:t>
            </a:r>
            <a:endParaRPr lang="en-US" sz="1050" dirty="0"/>
          </a:p>
        </p:txBody>
      </p:sp>
      <p:sp>
        <p:nvSpPr>
          <p:cNvPr id="12" name="Text 9"/>
          <p:cNvSpPr txBox="1"/>
          <p:nvPr/>
        </p:nvSpPr>
        <p:spPr>
          <a:xfrm>
            <a:off x="10168128" y="248716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05 y demo 3</a:t>
            </a:r>
            <a:endParaRPr lang="en-US" sz="1000" dirty="0"/>
          </a:p>
        </p:txBody>
      </p:sp>
      <p:sp>
        <p:nvSpPr>
          <p:cNvPr id="13" name="Shape 10"/>
          <p:cNvSpPr/>
          <p:nvPr/>
        </p:nvSpPr>
        <p:spPr>
          <a:xfrm>
            <a:off x="566928" y="2907792"/>
            <a:ext cx="11057839" cy="530352"/>
          </a:xfrm>
          <a:prstGeom prst="roundRect">
            <a:avLst>
              <a:gd name="adj" fmla="val 15517"/>
            </a:avLst>
          </a:prstGeom>
          <a:solidFill>
            <a:srgbClr val="F1F6FC"/>
          </a:solidFill>
          <a:ln/>
        </p:spPr>
      </p:sp>
      <p:sp>
        <p:nvSpPr>
          <p:cNvPr id="14" name="Text 11"/>
          <p:cNvSpPr txBox="1"/>
          <p:nvPr/>
        </p:nvSpPr>
        <p:spPr>
          <a:xfrm>
            <a:off x="694944" y="2999232"/>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«¿Qué métricas tenéis?»</a:t>
            </a:r>
            <a:endParaRPr lang="en-US" sz="1150" dirty="0"/>
          </a:p>
        </p:txBody>
      </p:sp>
      <p:sp>
        <p:nvSpPr>
          <p:cNvPr id="15" name="Text 12"/>
          <p:cNvSpPr txBox="1"/>
          <p:nvPr/>
        </p:nvSpPr>
        <p:spPr>
          <a:xfrm>
            <a:off x="4370832" y="2990088"/>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El protocolo está terminado y la campaña completa está en curso. Prefiero enseñar la caja de estado real antes que un número que no pueda defender.</a:t>
            </a:r>
            <a:endParaRPr lang="en-US" sz="1050" dirty="0"/>
          </a:p>
        </p:txBody>
      </p:sp>
      <p:sp>
        <p:nvSpPr>
          <p:cNvPr id="16" name="Text 13"/>
          <p:cNvSpPr txBox="1"/>
          <p:nvPr/>
        </p:nvSpPr>
        <p:spPr>
          <a:xfrm>
            <a:off x="10168128" y="3063240"/>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35</a:t>
            </a:r>
            <a:endParaRPr lang="en-US" sz="1000" dirty="0"/>
          </a:p>
        </p:txBody>
      </p:sp>
      <p:sp>
        <p:nvSpPr>
          <p:cNvPr id="17" name="Text 14"/>
          <p:cNvSpPr txBox="1"/>
          <p:nvPr/>
        </p:nvSpPr>
        <p:spPr>
          <a:xfrm>
            <a:off x="694944" y="3575304"/>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usáis Docling, si es mejor?»</a:t>
            </a:r>
            <a:endParaRPr lang="en-US" sz="1150" dirty="0"/>
          </a:p>
        </p:txBody>
      </p:sp>
      <p:sp>
        <p:nvSpPr>
          <p:cNvPr id="18" name="Text 15"/>
          <p:cNvSpPr txBox="1"/>
          <p:nvPr/>
        </p:nvSpPr>
        <p:spPr>
          <a:xfrm>
            <a:off x="4370832" y="3566160"/>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disponible no es lo mismo que mejor. Está publicado y esperando la comparación de evaluación que lo justifique; el comando para compararlos existe.</a:t>
            </a:r>
            <a:endParaRPr lang="en-US" sz="1050" dirty="0"/>
          </a:p>
        </p:txBody>
      </p:sp>
      <p:sp>
        <p:nvSpPr>
          <p:cNvPr id="19" name="Text 16"/>
          <p:cNvSpPr txBox="1"/>
          <p:nvPr/>
        </p:nvSpPr>
        <p:spPr>
          <a:xfrm>
            <a:off x="10168128" y="3639312"/>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20</a:t>
            </a:r>
            <a:endParaRPr lang="en-US" sz="1000" dirty="0"/>
          </a:p>
        </p:txBody>
      </p:sp>
      <p:sp>
        <p:nvSpPr>
          <p:cNvPr id="20" name="Shape 17"/>
          <p:cNvSpPr/>
          <p:nvPr/>
        </p:nvSpPr>
        <p:spPr>
          <a:xfrm>
            <a:off x="566928" y="4059936"/>
            <a:ext cx="11057839" cy="530352"/>
          </a:xfrm>
          <a:prstGeom prst="roundRect">
            <a:avLst>
              <a:gd name="adj" fmla="val 15517"/>
            </a:avLst>
          </a:prstGeom>
          <a:solidFill>
            <a:srgbClr val="F1F6FC"/>
          </a:solidFill>
          <a:ln/>
        </p:spPr>
      </p:sp>
      <p:sp>
        <p:nvSpPr>
          <p:cNvPr id="21" name="Text 18"/>
          <p:cNvSpPr txBox="1"/>
          <p:nvPr/>
        </p:nvSpPr>
        <p:spPr>
          <a:xfrm>
            <a:off x="694944" y="4151376"/>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«¿Y si cambiáis de proveedor de modelo?»</a:t>
            </a:r>
            <a:endParaRPr lang="en-US" sz="1150" dirty="0"/>
          </a:p>
        </p:txBody>
      </p:sp>
      <p:sp>
        <p:nvSpPr>
          <p:cNvPr id="22" name="Text 19"/>
          <p:cNvSpPr txBox="1"/>
          <p:nvPr/>
        </p:nvSpPr>
        <p:spPr>
          <a:xfrm>
            <a:off x="4370832" y="4142232"/>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Son cuatro puertos distintos: generar, extraer, clasificar e incrustar. El único que no se puede cambiar sin reindexar es el embedding, y la firma del índice lo impide.</a:t>
            </a:r>
            <a:endParaRPr lang="en-US" sz="1050" dirty="0"/>
          </a:p>
        </p:txBody>
      </p:sp>
      <p:sp>
        <p:nvSpPr>
          <p:cNvPr id="23" name="Text 20"/>
          <p:cNvSpPr txBox="1"/>
          <p:nvPr/>
        </p:nvSpPr>
        <p:spPr>
          <a:xfrm>
            <a:off x="10168128" y="4215384"/>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14 y 15</a:t>
            </a:r>
            <a:endParaRPr lang="en-US" sz="1000" dirty="0"/>
          </a:p>
        </p:txBody>
      </p:sp>
      <p:sp>
        <p:nvSpPr>
          <p:cNvPr id="24" name="Text 21"/>
          <p:cNvSpPr txBox="1"/>
          <p:nvPr/>
        </p:nvSpPr>
        <p:spPr>
          <a:xfrm>
            <a:off x="694944" y="472744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es sobreingeniería para cinco días?»</a:t>
            </a:r>
            <a:endParaRPr lang="en-US" sz="1150" dirty="0"/>
          </a:p>
        </p:txBody>
      </p:sp>
      <p:sp>
        <p:nvSpPr>
          <p:cNvPr id="25" name="Text 22"/>
          <p:cNvSpPr txBox="1"/>
          <p:nvPr/>
        </p:nvSpPr>
        <p:spPr>
          <a:xfrm>
            <a:off x="4370832" y="471830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Costó tiempo el día 1 y lo devolvió el día 4, cuando hubo que meter la tabla de 324 celdas en el flujo sin romper nada de lo anterior.</a:t>
            </a:r>
            <a:endParaRPr lang="en-US" sz="1050" dirty="0"/>
          </a:p>
        </p:txBody>
      </p:sp>
      <p:sp>
        <p:nvSpPr>
          <p:cNvPr id="26" name="Text 23"/>
          <p:cNvSpPr txBox="1"/>
          <p:nvPr/>
        </p:nvSpPr>
        <p:spPr>
          <a:xfrm>
            <a:off x="10168128" y="479145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11 y 13</a:t>
            </a:r>
            <a:endParaRPr lang="en-US" sz="1000" dirty="0"/>
          </a:p>
        </p:txBody>
      </p:sp>
      <p:sp>
        <p:nvSpPr>
          <p:cNvPr id="27" name="Shape 24"/>
          <p:cNvSpPr/>
          <p:nvPr/>
        </p:nvSpPr>
        <p:spPr>
          <a:xfrm>
            <a:off x="566928" y="5212080"/>
            <a:ext cx="11057839" cy="530352"/>
          </a:xfrm>
          <a:prstGeom prst="roundRect">
            <a:avLst>
              <a:gd name="adj" fmla="val 15517"/>
            </a:avLst>
          </a:prstGeom>
          <a:solidFill>
            <a:srgbClr val="F1F6FC"/>
          </a:solidFill>
          <a:ln/>
        </p:spPr>
      </p:sp>
      <p:sp>
        <p:nvSpPr>
          <p:cNvPr id="28" name="Text 25"/>
          <p:cNvSpPr txBox="1"/>
          <p:nvPr/>
        </p:nvSpPr>
        <p:spPr>
          <a:xfrm>
            <a:off x="694944" y="530352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«¿Quién ha validado el golden set?»</a:t>
            </a:r>
            <a:endParaRPr lang="en-US" sz="1150" dirty="0"/>
          </a:p>
        </p:txBody>
      </p:sp>
      <p:sp>
        <p:nvSpPr>
          <p:cNvPr id="29" name="Text 26"/>
          <p:cNvSpPr txBox="1"/>
          <p:nvPr/>
        </p:nvSpPr>
        <p:spPr>
          <a:xfrm>
            <a:off x="4370832" y="529437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IA en tres pasos, documentados caso a caso. No un experto humano del dominio: es la limitación declarada más seria y la primera del roadmap.</a:t>
            </a:r>
            <a:endParaRPr lang="en-US" sz="1050" dirty="0"/>
          </a:p>
        </p:txBody>
      </p:sp>
      <p:sp>
        <p:nvSpPr>
          <p:cNvPr id="30" name="Text 27"/>
          <p:cNvSpPr txBox="1"/>
          <p:nvPr/>
        </p:nvSpPr>
        <p:spPr>
          <a:xfrm>
            <a:off x="10168128" y="536752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34 y 38</a:t>
            </a:r>
            <a:endParaRPr lang="en-US" sz="10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regla para el turno de preguntas: si no lo puedo enseñar o citar, lo digo como pendiente. Nadie penaliza un límite declarado; todo el mundo penaliza uno descubierto.</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cuatro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2026-09-03T04:22:51Z</dcterms:created>
  <dcterms:modified xsi:type="dcterms:W3CDTF">2026-09-03T04:22:51Z</dcterms:modified>
</cp:coreProperties>
</file>