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8745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Allianz CICOS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6060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D7E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Claims Intelligence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3832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7E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Asistente RAG local sobre el manual CIDE / ASCIDE / CICOS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técnica GenAI  ·  2 de septiembre de 2026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412480" y="2194560"/>
            <a:ext cx="3108960" cy="384048"/>
          </a:xfrm>
          <a:prstGeom prst="roundRect">
            <a:avLst>
              <a:gd name="adj" fmla="val 19048"/>
            </a:avLst>
          </a:prstGeom>
          <a:solidFill>
            <a:srgbClr val="3E5C88"/>
          </a:solidFill>
          <a:ln/>
        </p:spPr>
      </p:sp>
      <p:sp>
        <p:nvSpPr>
          <p:cNvPr id="7" name="Shape 5"/>
          <p:cNvSpPr/>
          <p:nvPr/>
        </p:nvSpPr>
        <p:spPr>
          <a:xfrm>
            <a:off x="8412480" y="2788920"/>
            <a:ext cx="3566160" cy="384048"/>
          </a:xfrm>
          <a:prstGeom prst="roundRect">
            <a:avLst>
              <a:gd name="adj" fmla="val 19048"/>
            </a:avLst>
          </a:prstGeom>
          <a:solidFill>
            <a:srgbClr val="4E6FA3"/>
          </a:solidFill>
          <a:ln/>
        </p:spPr>
      </p:sp>
      <p:sp>
        <p:nvSpPr>
          <p:cNvPr id="8" name="Shape 6"/>
          <p:cNvSpPr/>
          <p:nvPr/>
        </p:nvSpPr>
        <p:spPr>
          <a:xfrm>
            <a:off x="8412480" y="3383280"/>
            <a:ext cx="2377440" cy="384048"/>
          </a:xfrm>
          <a:prstGeom prst="roundRect">
            <a:avLst>
              <a:gd name="adj" fmla="val 19048"/>
            </a:avLst>
          </a:prstGeom>
          <a:solidFill>
            <a:srgbClr val="D7E2F4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E5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capacidades, un solo sistema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42900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1F2E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4884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3E5C8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88036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Consultar el manual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520440"/>
            <a:ext cx="2788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sobre reglas, requisitos y procedimientos del manual CIDE/ASCIDE/CICOS, con citas verificables al PDF original.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783080"/>
            <a:ext cx="342900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1F2E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14884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1C2B5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288036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Analizar un siniestro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520440"/>
            <a:ext cx="2788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Relatos de accidentes: extracción de hechos, aplicabilidad del Convenio, reglas deterministas y una conclusión con alcance explícito.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783080"/>
            <a:ext cx="342900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1F2E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66760" y="214884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E0A63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6676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288036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Modo Automático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3520440"/>
            <a:ext cx="2788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clasificador LLM decide qué recorrido necesita cada entrada, sin ocultar los dos modos explícitos.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enunciado exige explícitamente las dos capacidades; separarlas en recorridos y añadir enrutamiento automático son decisiones de diseño.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E5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Hexagonal, con LangGraph en los adaptadores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6949440" cy="1188720"/>
          </a:xfrm>
          <a:prstGeom prst="roundRect">
            <a:avLst>
              <a:gd name="adj" fmla="val 6154"/>
            </a:avLst>
          </a:prstGeom>
          <a:solidFill>
            <a:srgbClr val="121A3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78308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domain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063240" y="178308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E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y reglas puras. No importa FastAPI, LangGraph ni SDKs de proveedores.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3200400"/>
            <a:ext cx="6949440" cy="1188720"/>
          </a:xfrm>
          <a:prstGeom prst="roundRect">
            <a:avLst>
              <a:gd name="adj" fmla="val 6154"/>
            </a:avLst>
          </a:prstGeom>
          <a:solidFill>
            <a:srgbClr val="1C2B5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063240" y="320040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E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Puertos de entrada/salida, casos de uso, servicios. Define lo que infraestructura implementa.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617720"/>
            <a:ext cx="6949440" cy="1188720"/>
          </a:xfrm>
          <a:prstGeom prst="roundRect">
            <a:avLst>
              <a:gd name="adj" fmla="val 6154"/>
            </a:avLst>
          </a:prstGeom>
          <a:solidFill>
            <a:srgbClr val="3E5C8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461772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infrastructure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063240" y="461772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E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FastAPI, LangGraph, OpenAI, Qdrant, Langfuse, CLI. Un adaptador por puerto, mismo nombre funcional.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1783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grafos LangGraph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955280" y="2286000"/>
            <a:ext cx="36118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9DEE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138160" y="228600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question_workflow — retrieve → generate → validate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955280" y="3291840"/>
            <a:ext cx="36118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9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38160" y="32918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claim_workflow — extract_facts → retrieve_criteria → apply_rules → explain → validate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955280" y="4297680"/>
            <a:ext cx="36118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9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2976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query_workflow (Automático) — classify → invoca el caso de uso elegido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2636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y application nunca importan LangGraph; el estado técnico del grafo se traduce en el adaptador.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E5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INGESTA Y EVIDENCIAS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parsers publicados para el mismo documento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120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F2E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434840" y="201168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434840" y="20116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0574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A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pypdf-6.16.2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514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· texto plano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97180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de tamaño fijo con solapamiento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 fragmentos indexados en Qdrant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ACTIVO en la demo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0" y="1783080"/>
            <a:ext cx="52120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F2E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921240" y="201168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0A63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921240" y="20116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0574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A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docling-2.124.0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514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Estructurado · pdfium + RapidOCR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297180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Regiones/bounding boxes verificadas — 111 páginas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por secciones, 109 fragmentos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en Qdrant, NO promovido a demo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IDs de evidencia identifican el documento original (sha256:hash:page:n), nunca un chunk dependiente del parser.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Promover Docling a demo activa exige una comparación de evaluación baseline-vs-structured — no se cambia por disponibilidad.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E5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REGLAS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reglas firmadas, no todas verificables aún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regla declara descripción, evidencia del manual y revisor humano. Una regla sin condición verificable se reporta como insuficiente — nunca se inventa un resultado.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960120" cy="1234440"/>
          </a:xfrm>
          <a:prstGeom prst="roundRect">
            <a:avLst>
              <a:gd name="adj" fmla="val 7619"/>
            </a:avLst>
          </a:prstGeom>
          <a:solidFill>
            <a:srgbClr val="3E8E5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286000"/>
            <a:ext cx="960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737360" y="2286000"/>
            <a:ext cx="97840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DEE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65960" y="2395728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Puerta de aplicabilidad y excepciones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965960" y="274320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vehículos, colisión directa, tercero identificado, cadena, alcohol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965960" y="3136392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Machine-checkable desde el inicio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3685032"/>
            <a:ext cx="960120" cy="1234440"/>
          </a:xfrm>
          <a:prstGeom prst="roundRect">
            <a:avLst>
              <a:gd name="adj" fmla="val 7619"/>
            </a:avLst>
          </a:prstGeom>
          <a:solidFill>
            <a:srgbClr val="E0A63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685032"/>
            <a:ext cx="960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737360" y="3685032"/>
            <a:ext cx="97840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DE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965960" y="379476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ascide-b10-lane-change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965960" y="4142232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 de carril reconocido + disparidad de versiones ⇒ culpable quien cambia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965960" y="4535424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E0A6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Completada en este corte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5084064"/>
            <a:ext cx="960120" cy="1234440"/>
          </a:xfrm>
          <a:prstGeom prst="roundRect">
            <a:avLst>
              <a:gd name="adj" fmla="val 7619"/>
            </a:avLst>
          </a:prstGeom>
          <a:solidFill>
            <a:srgbClr val="B0463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5084064"/>
            <a:ext cx="960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1737360" y="5084064"/>
            <a:ext cx="97840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DEE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965960" y="5193792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Ámbito de aplicación, b5, b6, b9, b11, semáforo ámbar, matriz 18×18, apertura de puertas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965960" y="5541264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Documentadas, sin condición verificable todavía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965960" y="5934456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04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— mismo patrón a replicar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A6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EN VIVO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9601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accident-04-lane-change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002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7E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"While changing lanes on the highway, Car A sideswipes Car B…"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974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A6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Aplicable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429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3E5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CONVENIO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26974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A6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ASCIDE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3429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3E5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VÍA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26974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A6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Resuelto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3429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3E5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778240" y="26974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A6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Coche A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778240" y="3429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3E5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" y="4114800"/>
            <a:ext cx="10515600" cy="1737360"/>
          </a:xfrm>
          <a:prstGeom prst="roundRect">
            <a:avLst>
              <a:gd name="adj" fmla="val 5263"/>
            </a:avLst>
          </a:prstGeom>
          <a:solidFill>
            <a:srgbClr val="1C2B5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43000" y="4315968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A6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 subsidiaria b.10 (pág. 75, ASCIDE)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46634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i="1" dirty="0">
                <a:solidFill>
                  <a:srgbClr val="D7E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"Cuando ambos implicados reconozcan el cambio de carril por parte de uno de los dos y exista discrepancia sobre la responsabilidad, se considera culpable el que cambia de carril, aunque alegue que estaba parado, con independencia de la ubicación de los daños."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080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Único de los cinco casos originales del enunciado que se resuelve de forma determinista con los datos del relato.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E5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SINIESTRO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Abstenerse con criterio, no inventar una conclusión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3931920"/>
        </p:xfrm>
        <a:graphic>
          <a:graphicData uri="http://schemas.openxmlformats.org/drawingml/2006/table">
            <a:tbl>
              <a:tblPr/>
              <a:tblGrid>
                <a:gridCol w="1371600"/>
                <a:gridCol w="2468880"/>
                <a:gridCol w="1554480"/>
                <a:gridCol w="1554480"/>
                <a:gridCol w="3931920"/>
              </a:tblGrid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Caso</a:t>
                      </a:r>
                      <a:endParaRPr lang="en-US" sz="11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Escenario</a:t>
                      </a:r>
                      <a:endParaRPr lang="en-US" sz="11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Aplicabilidad</a:t>
                      </a:r>
                      <a:endParaRPr lang="en-US" sz="11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Decisión</a:t>
                      </a:r>
                      <a:endParaRPr lang="en-US" sz="11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Por qué</a:t>
                      </a:r>
                      <a:endParaRPr lang="en-US" sz="11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3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827"/>
                          </a:solidFill>
                        </a:rPr>
                        <a:t>accident-01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</a:rPr>
                        <a:t>Alcance trasero en semáforo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</a:rPr>
                        <a:t>Aplicable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</a:rPr>
                        <a:t>Undetermined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</a:rPr>
                        <a:t>Faltan casillas DAA (A0–A17) para la matriz 18×18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827"/>
                          </a:solidFill>
                        </a:rPr>
                        <a:t>accident-02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</a:rPr>
                        <a:t>Colisión múltiple (5 vehículos)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</a:rPr>
                        <a:t>Not applicable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</a:rPr>
                        <a:t>Not assessed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</a:rPr>
                        <a:t>Convenio exige exactamente dos vehículos; colisión en cadena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827"/>
                          </a:solidFill>
                        </a:rPr>
                        <a:t>accident-03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</a:rPr>
                        <a:t>Aparcado + fuga sin identificar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</a:rPr>
                        <a:t>Undetermined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</a:rPr>
                        <a:t>Conditional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</a:rPr>
                        <a:t>Segundo vehículo no identificado (sin matrícula)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827"/>
                          </a:solidFill>
                        </a:rPr>
                        <a:t>accident-05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</a:rPr>
                        <a:t>Alcoholemia + lesiones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</a:rPr>
                        <a:t>Aplicable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</a:rPr>
                        <a:t>Undetermined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</a:rPr>
                        <a:t>Alcohol no excluye el Convenio; faltan datos de maniobra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de los cinco casos originales caen fuera del Convenio o quedan condicionados/indeterminados — confirmado de forma independiente contra el manual, página a página, no asumido.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E5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 set: revisión de tres pasos, honestidad declarada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4290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F2E">
                <a:alpha val="1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7E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743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ciega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1089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independiente del manual, sin ver ninguna etiqueta propuesta.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34290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F2E">
                <a:alpha val="1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17720" y="1965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7E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743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adversarial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31089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Otra pasada independiente ataca la primera: citas, huecos, sobreconfianza.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0" y="1783080"/>
            <a:ext cx="34290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F2E">
                <a:alpha val="1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21040" y="1965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7E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743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Adjudicación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31089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resuelven las discrepancias con evidencia; se documenta cada llamada.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160520"/>
            <a:ext cx="10881360" cy="1600200"/>
          </a:xfrm>
          <a:prstGeom prst="roundRect">
            <a:avLst>
              <a:gd name="adj" fmla="val 5714"/>
            </a:avLst>
          </a:prstGeom>
          <a:solidFill>
            <a:srgbClr val="121A3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5840" y="44348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6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448056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7E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admitidos: los 5 del enunciado más 5 en castellano (siniestros, consultas documentales y una pregunta fuera de alcance)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223760" y="4434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6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Publicado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223760" y="489204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v2-es-2026-09-02 congelada en el dataset Langfuse allianz-rag-golden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Limitación declarada: revisión por IA (Claude), no por un experto humano del dominio — explícito en metadata.review de cada caso. Sin holdout todavía.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E5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VERIFICADO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las comprobaciones en verde, en este corte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514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F2E">
                <a:alpha val="1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205740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E8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422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803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backend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461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pytest, 1 skipped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280" y="1828800"/>
            <a:ext cx="2514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F2E">
                <a:alpha val="1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383280" y="205740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E8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28803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pyright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32461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tipado estricto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1828800"/>
            <a:ext cx="2514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F2E">
                <a:alpha val="1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126480" y="205740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E8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8803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frontend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32461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+ build limpio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869680" y="1828800"/>
            <a:ext cx="2514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F2E">
                <a:alpha val="1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869680" y="205740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E8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OK</a:t>
            </a:r>
            <a:endParaRPr lang="en-US" sz="3600" dirty="0"/>
          </a:p>
        </p:txBody>
      </p:sp>
      <p:sp>
        <p:nvSpPr>
          <p:cNvPr id="18" name="Text 16"/>
          <p:cNvSpPr txBox="1"/>
          <p:nvPr/>
        </p:nvSpPr>
        <p:spPr>
          <a:xfrm>
            <a:off x="8869680" y="28803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869680" y="32461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drift backend/frontend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4206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Observabilidad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617720"/>
            <a:ext cx="5212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Langfuse local traza los tres workflows y las llamadas OpenAI, con session_id por hilo.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Credenciales corregidas en .env (antes sólo funcionaban vía Makefile).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healthcheck no hace llamadas pagadas al LLM.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4206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309360" y="4617720"/>
            <a:ext cx="5212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Vite + TypeScript estricto, tipos generados desde OpenAPI.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Visor PDF con resaltado sólo cuando hay coordenadas verificadas.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persistente, modo administrador de ingesta.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E5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1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falta, ordenado por impacto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28016" cy="960120"/>
          </a:xfrm>
          <a:prstGeom prst="roundRect">
            <a:avLst/>
          </a:prstGeom>
          <a:solidFill>
            <a:srgbClr val="B0463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76479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Completar 7 reglas de maniobra restantes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16712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patrón usado en b.10: condición verificable + revisión humana del cambio.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880360"/>
            <a:ext cx="128016" cy="960120"/>
          </a:xfrm>
          <a:prstGeom prst="roundRect">
            <a:avLst/>
          </a:prstGeom>
          <a:solidFill>
            <a:srgbClr val="E0A63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86207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humana del golden set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26440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5 casos tienen revisión de tres pasos por IA; falta un experto del dominio.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977640"/>
            <a:ext cx="128016" cy="960120"/>
          </a:xfrm>
          <a:prstGeom prst="roundRect">
            <a:avLst/>
          </a:prstGeom>
          <a:solidFill>
            <a:srgbClr val="E0A63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39593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el golden set y congelar reserva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436168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Generación Ragas sobre evidencia verificada, más allá de los 5 casos de entrevista.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5074920"/>
            <a:ext cx="128016" cy="960120"/>
          </a:xfrm>
          <a:prstGeom prst="roundRect">
            <a:avLst/>
          </a:prstGeom>
          <a:solidFill>
            <a:srgbClr val="3E5C8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0120" y="505663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baseline vs. structured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545896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con evaluación si se promueve el índice Docling a demo activa.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Límites declarados, no ocultos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7744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D7E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manual es de noviembre de 2004: no es normativa vigente.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D7E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autenticación multiusuario, sin operación con siniestros reales, sin alta disponibilidad.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D7E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de 14 reglas del ruleset siguen sin condición verificable.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D7E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golden set no tiene revisión de un experto humano del dominio todavía.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7607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0A6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 — preguntas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2026-09-02T19:17:18Z</dcterms:created>
  <dcterms:modified xsi:type="dcterms:W3CDTF">2026-09-02T19:17:18Z</dcterms:modified>
</cp:coreProperties>
</file>